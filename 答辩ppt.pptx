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7"/>
  </p:notesMasterIdLst>
  <p:sldIdLst>
    <p:sldId id="256" r:id="rId3"/>
    <p:sldId id="265" r:id="rId4"/>
    <p:sldId id="257" r:id="rId5"/>
    <p:sldId id="268" r:id="rId6"/>
    <p:sldId id="286" r:id="rId8"/>
    <p:sldId id="269" r:id="rId9"/>
    <p:sldId id="280" r:id="rId10"/>
    <p:sldId id="270" r:id="rId11"/>
    <p:sldId id="285" r:id="rId12"/>
    <p:sldId id="302" r:id="rId13"/>
    <p:sldId id="310" r:id="rId14"/>
    <p:sldId id="311" r:id="rId15"/>
    <p:sldId id="312" r:id="rId16"/>
    <p:sldId id="284" r:id="rId17"/>
    <p:sldId id="313" r:id="rId18"/>
    <p:sldId id="314" r:id="rId19"/>
    <p:sldId id="315" r:id="rId20"/>
    <p:sldId id="316" r:id="rId21"/>
    <p:sldId id="317" r:id="rId22"/>
    <p:sldId id="271" r:id="rId23"/>
    <p:sldId id="283" r:id="rId24"/>
    <p:sldId id="324" r:id="rId25"/>
    <p:sldId id="287" r:id="rId26"/>
    <p:sldId id="272" r:id="rId27"/>
    <p:sldId id="279" r:id="rId28"/>
  </p:sldIdLst>
  <p:sldSz cx="12192000" cy="6858000"/>
  <p:notesSz cx="6858000" cy="9144000"/>
  <p:embeddedFontLst>
    <p:embeddedFont>
      <p:font typeface="汉仪大宋简" panose="02010600000101010101" pitchFamily="49" charset="-122"/>
      <p:regular r:id="rId32"/>
    </p:embeddedFont>
    <p:embeddedFont>
      <p:font typeface="Calibri" panose="020F0502020204030204" pitchFamily="34" charset="0"/>
      <p:regular r:id="rId33"/>
      <p:bold r:id="rId34"/>
      <p:italic r:id="rId35"/>
      <p:boldItalic r:id="rId36"/>
    </p:embeddedFont>
    <p:embeddedFont>
      <p:font typeface="文泉驿等宽微米黑" panose="020B0606030804020204" pitchFamily="34" charset="-122"/>
      <p:regular r:id="rId37"/>
    </p:embeddedFont>
    <p:embeddedFont>
      <p:font typeface="等线" panose="02010600030101010101" charset="-122"/>
      <p:regular r:id="rId38"/>
    </p:embeddedFont>
    <p:embeddedFont>
      <p:font typeface="等线 Light" panose="02010600030101010101" charset="-122"/>
      <p:regular r:id="rId39"/>
    </p:embeddedFont>
    <p:embeddedFont>
      <p:font typeface="胡晓波男神体" panose="02010600030101010101" pitchFamily="2" charset="-122"/>
      <p:regular r:id="rId40"/>
    </p:embeddedFont>
  </p:embeddedFontLst>
  <p:custDataLst>
    <p:tags r:id="rId41"/>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E1E20"/>
    <a:srgbClr val="FCFBF7"/>
    <a:srgbClr val="E6E6E6"/>
    <a:srgbClr val="BFBFBF"/>
    <a:srgbClr val="8597AF"/>
    <a:srgbClr val="E5E4E1"/>
    <a:srgbClr val="898D8E"/>
    <a:srgbClr val="E3E3E3"/>
    <a:srgbClr val="D8CAB0"/>
    <a:srgbClr val="C9B59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457" autoAdjust="0"/>
    <p:restoredTop sz="94660"/>
  </p:normalViewPr>
  <p:slideViewPr>
    <p:cSldViewPr snapToGrid="0" showGuides="1">
      <p:cViewPr>
        <p:scale>
          <a:sx n="75" d="100"/>
          <a:sy n="75" d="100"/>
        </p:scale>
        <p:origin x="1320" y="792"/>
      </p:cViewPr>
      <p:guideLst>
        <p:guide orient="horz" pos="2160"/>
        <p:guide pos="3845"/>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notesMaster" Target="notesMasters/notesMaster1.xml"/><Relationship Id="rId6" Type="http://schemas.openxmlformats.org/officeDocument/2006/relationships/slide" Target="slides/slide4.xml"/><Relationship Id="rId5" Type="http://schemas.openxmlformats.org/officeDocument/2006/relationships/slide" Target="slides/slide3.xml"/><Relationship Id="rId41" Type="http://schemas.openxmlformats.org/officeDocument/2006/relationships/tags" Target="tags/tag1.xml"/><Relationship Id="rId40" Type="http://schemas.openxmlformats.org/officeDocument/2006/relationships/font" Target="fonts/font9.fntdata"/><Relationship Id="rId4" Type="http://schemas.openxmlformats.org/officeDocument/2006/relationships/slide" Target="slides/slide2.xml"/><Relationship Id="rId39" Type="http://schemas.openxmlformats.org/officeDocument/2006/relationships/font" Target="fonts/font8.fntdata"/><Relationship Id="rId38" Type="http://schemas.openxmlformats.org/officeDocument/2006/relationships/font" Target="fonts/font7.fntdata"/><Relationship Id="rId37" Type="http://schemas.openxmlformats.org/officeDocument/2006/relationships/font" Target="fonts/font6.fntdata"/><Relationship Id="rId36" Type="http://schemas.openxmlformats.org/officeDocument/2006/relationships/font" Target="fonts/font5.fntdata"/><Relationship Id="rId35" Type="http://schemas.openxmlformats.org/officeDocument/2006/relationships/font" Target="fonts/font4.fntdata"/><Relationship Id="rId34" Type="http://schemas.openxmlformats.org/officeDocument/2006/relationships/font" Target="fonts/font3.fntdata"/><Relationship Id="rId33" Type="http://schemas.openxmlformats.org/officeDocument/2006/relationships/font" Target="fonts/font2.fntdata"/><Relationship Id="rId32" Type="http://schemas.openxmlformats.org/officeDocument/2006/relationships/font" Target="fonts/font1.fntdata"/><Relationship Id="rId31" Type="http://schemas.openxmlformats.org/officeDocument/2006/relationships/tableStyles" Target="tableStyles.xml"/><Relationship Id="rId30" Type="http://schemas.openxmlformats.org/officeDocument/2006/relationships/viewProps" Target="viewProps.xml"/><Relationship Id="rId3" Type="http://schemas.openxmlformats.org/officeDocument/2006/relationships/slide" Target="slides/slide1.xml"/><Relationship Id="rId29" Type="http://schemas.openxmlformats.org/officeDocument/2006/relationships/presProps" Target="presProps.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819558-2788-4991-AE1C-6457CA27C63E}"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6FF934E-80DA-4118-983C-C895A9BD6242}"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6FF934E-80DA-4118-983C-C895A9BD6242}"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6FF934E-80DA-4118-983C-C895A9BD6242}"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6FF934E-80DA-4118-983C-C895A9BD6242}"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6FF934E-80DA-4118-983C-C895A9BD6242}"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6FF934E-80DA-4118-983C-C895A9BD6242}"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6FF934E-80DA-4118-983C-C895A9BD6242}"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6FF934E-80DA-4118-983C-C895A9BD6242}"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6FF934E-80DA-4118-983C-C895A9BD6242}"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6FF934E-80DA-4118-983C-C895A9BD6242}"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6FF934E-80DA-4118-983C-C895A9BD6242}"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6FF934E-80DA-4118-983C-C895A9BD6242}"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6FF934E-80DA-4118-983C-C895A9BD6242}"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6FF934E-80DA-4118-983C-C895A9BD6242}"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6FF934E-80DA-4118-983C-C895A9BD6242}"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6FF934E-80DA-4118-983C-C895A9BD6242}"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6FF934E-80DA-4118-983C-C895A9BD6242}"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6FF934E-80DA-4118-983C-C895A9BD6242}"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6FF934E-80DA-4118-983C-C895A9BD6242}"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6FF934E-80DA-4118-983C-C895A9BD6242}"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6FF934E-80DA-4118-983C-C895A9BD6242}"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35196331-21B7-438D-B105-31B90E54959A}"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A052A5B-96E8-44EC-B2C6-79374FE86623}"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p:push dir="u"/>
      </p:transition>
    </mc:Choice>
    <mc:Fallback>
      <p:transition>
        <p:push dir="u"/>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35196331-21B7-438D-B105-31B90E54959A}"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A052A5B-96E8-44EC-B2C6-79374FE86623}"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p:push dir="u"/>
      </p:transition>
    </mc:Choice>
    <mc:Fallback>
      <p:transition>
        <p:push dir="u"/>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35196331-21B7-438D-B105-31B90E54959A}"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A052A5B-96E8-44EC-B2C6-79374FE86623}"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p:push dir="u"/>
      </p:transition>
    </mc:Choice>
    <mc:Fallback>
      <p:transition>
        <p:push dir="u"/>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35196331-21B7-438D-B105-31B90E54959A}"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A052A5B-96E8-44EC-B2C6-79374FE86623}"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p:push dir="u"/>
      </p:transition>
    </mc:Choice>
    <mc:Fallback>
      <p:transition>
        <p:push dir="u"/>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35196331-21B7-438D-B105-31B90E54959A}"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BA052A5B-96E8-44EC-B2C6-79374FE86623}"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p:push dir="u"/>
      </p:transition>
    </mc:Choice>
    <mc:Fallback>
      <p:transition>
        <p:push dir="u"/>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35196331-21B7-438D-B105-31B90E54959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BA052A5B-96E8-44EC-B2C6-79374FE86623}"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p:push dir="u"/>
      </p:transition>
    </mc:Choice>
    <mc:Fallback>
      <p:transition>
        <p:push dir="u"/>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35196331-21B7-438D-B105-31B90E54959A}"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BA052A5B-96E8-44EC-B2C6-79374FE86623}"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p:push dir="u"/>
      </p:transition>
    </mc:Choice>
    <mc:Fallback>
      <p:transition>
        <p:push dir="u"/>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35196331-21B7-438D-B105-31B90E54959A}"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A052A5B-96E8-44EC-B2C6-79374FE86623}"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p:push dir="u"/>
      </p:transition>
    </mc:Choice>
    <mc:Fallback>
      <p:transition>
        <p:push dir="u"/>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35196331-21B7-438D-B105-31B90E54959A}"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A052A5B-96E8-44EC-B2C6-79374FE86623}"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p:push dir="u"/>
      </p:transition>
    </mc:Choice>
    <mc:Fallback>
      <p:transition>
        <p:push dir="u"/>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35196331-21B7-438D-B105-31B90E54959A}"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A052A5B-96E8-44EC-B2C6-79374FE86623}"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p:push dir="u"/>
      </p:transition>
    </mc:Choice>
    <mc:Fallback>
      <p:transition>
        <p:push dir="u"/>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35196331-21B7-438D-B105-31B90E54959A}"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A052A5B-96E8-44EC-B2C6-79374FE86623}"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p:push dir="u"/>
      </p:transition>
    </mc:Choice>
    <mc:Fallback>
      <p:transition>
        <p:push dir="u"/>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5196331-21B7-438D-B105-31B90E54959A}"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A052A5B-96E8-44EC-B2C6-79374FE86623}"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p14="http://schemas.microsoft.com/office/powerpoint/2010/main" Requires="p14">
      <p:transition p14:dur="500">
        <p:push dir="u"/>
      </p:transition>
    </mc:Choice>
    <mc:Fallback>
      <p:transition>
        <p:push dir="u"/>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1.xml"/><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1.xml"/><Relationship Id="rId2" Type="http://schemas.openxmlformats.org/officeDocument/2006/relationships/image" Target="../media/image5.png"/><Relationship Id="rId1" Type="http://schemas.openxmlformats.org/officeDocument/2006/relationships/image" Target="../media/image2.png"/></Relationships>
</file>

<file path=ppt/slides/_rels/slide10.xml.rels><?xml version="1.0" encoding="UTF-8" standalone="yes"?>
<Relationships xmlns="http://schemas.openxmlformats.org/package/2006/relationships"><Relationship Id="rId6" Type="http://schemas.openxmlformats.org/officeDocument/2006/relationships/notesSlide" Target="../notesSlides/notesSlide7.xml"/><Relationship Id="rId5" Type="http://schemas.openxmlformats.org/officeDocument/2006/relationships/slideLayout" Target="../slideLayouts/slideLayout1.xml"/><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2.png"/></Relationships>
</file>

<file path=ppt/slides/_rels/slide11.xml.rels><?xml version="1.0" encoding="UTF-8" standalone="yes"?>
<Relationships xmlns="http://schemas.openxmlformats.org/package/2006/relationships"><Relationship Id="rId6" Type="http://schemas.openxmlformats.org/officeDocument/2006/relationships/notesSlide" Target="../notesSlides/notesSlide8.xml"/><Relationship Id="rId5" Type="http://schemas.openxmlformats.org/officeDocument/2006/relationships/slideLayout" Target="../slideLayouts/slideLayout1.xml"/><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2.png"/></Relationships>
</file>

<file path=ppt/slides/_rels/slide12.xml.rels><?xml version="1.0" encoding="UTF-8" standalone="yes"?>
<Relationships xmlns="http://schemas.openxmlformats.org/package/2006/relationships"><Relationship Id="rId6" Type="http://schemas.openxmlformats.org/officeDocument/2006/relationships/notesSlide" Target="../notesSlides/notesSlide9.xml"/><Relationship Id="rId5" Type="http://schemas.openxmlformats.org/officeDocument/2006/relationships/slideLayout" Target="../slideLayouts/slideLayout1.xml"/><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2.png"/></Relationships>
</file>

<file path=ppt/slides/_rels/slide13.xml.rels><?xml version="1.0" encoding="UTF-8" standalone="yes"?>
<Relationships xmlns="http://schemas.openxmlformats.org/package/2006/relationships"><Relationship Id="rId6" Type="http://schemas.openxmlformats.org/officeDocument/2006/relationships/notesSlide" Target="../notesSlides/notesSlide10.xml"/><Relationship Id="rId5" Type="http://schemas.openxmlformats.org/officeDocument/2006/relationships/slideLayout" Target="../slideLayouts/slideLayout1.xml"/><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2.png"/></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1.xml"/><Relationship Id="rId2" Type="http://schemas.openxmlformats.org/officeDocument/2006/relationships/image" Target="../media/image9.png"/><Relationship Id="rId1" Type="http://schemas.openxmlformats.org/officeDocument/2006/relationships/image" Target="../media/image2.png"/></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1.xml"/><Relationship Id="rId2" Type="http://schemas.openxmlformats.org/officeDocument/2006/relationships/image" Target="../media/image10.png"/><Relationship Id="rId1" Type="http://schemas.openxmlformats.org/officeDocument/2006/relationships/image" Target="../media/image2.png"/></Relationships>
</file>

<file path=ppt/slides/_rels/slide16.xml.rels><?xml version="1.0" encoding="UTF-8" standalone="yes"?>
<Relationships xmlns="http://schemas.openxmlformats.org/package/2006/relationships"><Relationship Id="rId5" Type="http://schemas.openxmlformats.org/officeDocument/2006/relationships/notesSlide" Target="../notesSlides/notesSlide13.xml"/><Relationship Id="rId4" Type="http://schemas.openxmlformats.org/officeDocument/2006/relationships/slideLayout" Target="../slideLayouts/slideLayout1.xml"/><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2.png"/></Relationships>
</file>

<file path=ppt/slides/_rels/slide17.xml.rels><?xml version="1.0" encoding="UTF-8" standalone="yes"?>
<Relationships xmlns="http://schemas.openxmlformats.org/package/2006/relationships"><Relationship Id="rId5" Type="http://schemas.openxmlformats.org/officeDocument/2006/relationships/notesSlide" Target="../notesSlides/notesSlide14.xml"/><Relationship Id="rId4" Type="http://schemas.openxmlformats.org/officeDocument/2006/relationships/slideLayout" Target="../slideLayouts/slideLayout1.xml"/><Relationship Id="rId3" Type="http://schemas.openxmlformats.org/officeDocument/2006/relationships/image" Target="../media/image13.png"/><Relationship Id="rId2" Type="http://schemas.openxmlformats.org/officeDocument/2006/relationships/image" Target="../media/image11.png"/><Relationship Id="rId1" Type="http://schemas.openxmlformats.org/officeDocument/2006/relationships/image" Target="../media/image2.png"/></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1.xml"/><Relationship Id="rId2" Type="http://schemas.openxmlformats.org/officeDocument/2006/relationships/image" Target="../media/image14.png"/><Relationship Id="rId1" Type="http://schemas.openxmlformats.org/officeDocument/2006/relationships/image" Target="../media/image2.png"/></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1.xml"/><Relationship Id="rId2" Type="http://schemas.openxmlformats.org/officeDocument/2006/relationships/image" Target="../media/image15.png"/><Relationship Id="rId1"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1.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1.xml"/><Relationship Id="rId2" Type="http://schemas.openxmlformats.org/officeDocument/2006/relationships/image" Target="../media/image16.png"/><Relationship Id="rId1"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 name="组合 28"/>
          <p:cNvGrpSpPr/>
          <p:nvPr/>
        </p:nvGrpSpPr>
        <p:grpSpPr>
          <a:xfrm>
            <a:off x="0" y="0"/>
            <a:ext cx="12192000" cy="6858000"/>
            <a:chOff x="0" y="0"/>
            <a:chExt cx="12192000" cy="6858000"/>
          </a:xfrm>
        </p:grpSpPr>
        <p:pic>
          <p:nvPicPr>
            <p:cNvPr id="9" name="图片 8" descr="图片包含 形状&#10;&#10;描述已自动生成"/>
            <p:cNvPicPr>
              <a:picLocks noChangeAspect="1"/>
            </p:cNvPicPr>
            <p:nvPr/>
          </p:nvPicPr>
          <p:blipFill>
            <a:blip r:embed="rId1">
              <a:extLst>
                <a:ext uri="{28A0092B-C50C-407E-A947-70E740481C1C}">
                  <a14:useLocalDpi xmlns:a14="http://schemas.microsoft.com/office/drawing/2010/main" val="0"/>
                </a:ext>
              </a:extLst>
            </a:blip>
            <a:srcRect l="1641" t="2291" b="2559"/>
            <a:stretch>
              <a:fillRect/>
            </a:stretch>
          </p:blipFill>
          <p:spPr>
            <a:xfrm>
              <a:off x="0" y="0"/>
              <a:ext cx="9893301" cy="6858000"/>
            </a:xfrm>
            <a:custGeom>
              <a:avLst/>
              <a:gdLst>
                <a:gd name="connsiteX0" fmla="*/ 0 w 9893301"/>
                <a:gd name="connsiteY0" fmla="*/ 0 h 6858000"/>
                <a:gd name="connsiteX1" fmla="*/ 9893301 w 9893301"/>
                <a:gd name="connsiteY1" fmla="*/ 0 h 6858000"/>
                <a:gd name="connsiteX2" fmla="*/ 9893301 w 9893301"/>
                <a:gd name="connsiteY2" fmla="*/ 6858000 h 6858000"/>
                <a:gd name="connsiteX3" fmla="*/ 0 w 989330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9893301" h="6858000">
                  <a:moveTo>
                    <a:pt x="0" y="0"/>
                  </a:moveTo>
                  <a:lnTo>
                    <a:pt x="9893301" y="0"/>
                  </a:lnTo>
                  <a:lnTo>
                    <a:pt x="9893301" y="6858000"/>
                  </a:lnTo>
                  <a:lnTo>
                    <a:pt x="0" y="6858000"/>
                  </a:lnTo>
                  <a:close/>
                </a:path>
              </a:pathLst>
            </a:custGeom>
          </p:spPr>
        </p:pic>
        <p:pic>
          <p:nvPicPr>
            <p:cNvPr id="16" name="图片 15" descr="图片包含 形状&#10;&#10;描述已自动生成"/>
            <p:cNvPicPr>
              <a:picLocks noChangeAspect="1"/>
            </p:cNvPicPr>
            <p:nvPr/>
          </p:nvPicPr>
          <p:blipFill>
            <a:blip r:embed="rId1">
              <a:extLst>
                <a:ext uri="{28A0092B-C50C-407E-A947-70E740481C1C}">
                  <a14:useLocalDpi xmlns:a14="http://schemas.microsoft.com/office/drawing/2010/main" val="0"/>
                </a:ext>
              </a:extLst>
            </a:blip>
            <a:srcRect l="40278" t="2291" r="1768" b="2559"/>
            <a:stretch>
              <a:fillRect/>
            </a:stretch>
          </p:blipFill>
          <p:spPr>
            <a:xfrm>
              <a:off x="6362700" y="0"/>
              <a:ext cx="5829300" cy="6858000"/>
            </a:xfrm>
            <a:custGeom>
              <a:avLst/>
              <a:gdLst>
                <a:gd name="connsiteX0" fmla="*/ 0 w 5829300"/>
                <a:gd name="connsiteY0" fmla="*/ 0 h 6858000"/>
                <a:gd name="connsiteX1" fmla="*/ 5829300 w 5829300"/>
                <a:gd name="connsiteY1" fmla="*/ 0 h 6858000"/>
                <a:gd name="connsiteX2" fmla="*/ 5829300 w 5829300"/>
                <a:gd name="connsiteY2" fmla="*/ 6858000 h 6858000"/>
                <a:gd name="connsiteX3" fmla="*/ 0 w 58293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829300" h="6858000">
                  <a:moveTo>
                    <a:pt x="0" y="0"/>
                  </a:moveTo>
                  <a:lnTo>
                    <a:pt x="5829300" y="0"/>
                  </a:lnTo>
                  <a:lnTo>
                    <a:pt x="5829300" y="6858000"/>
                  </a:lnTo>
                  <a:lnTo>
                    <a:pt x="0" y="6858000"/>
                  </a:lnTo>
                  <a:close/>
                </a:path>
              </a:pathLst>
            </a:custGeom>
          </p:spPr>
        </p:pic>
      </p:grpSp>
      <p:sp>
        <p:nvSpPr>
          <p:cNvPr id="19" name="文本框 18"/>
          <p:cNvSpPr txBox="1"/>
          <p:nvPr/>
        </p:nvSpPr>
        <p:spPr>
          <a:xfrm>
            <a:off x="1955800" y="2916535"/>
            <a:ext cx="8280400" cy="922020"/>
          </a:xfrm>
          <a:prstGeom prst="rect">
            <a:avLst/>
          </a:prstGeom>
          <a:noFill/>
        </p:spPr>
        <p:txBody>
          <a:bodyPr wrap="square" rtlCol="0">
            <a:spAutoFit/>
          </a:bodyPr>
          <a:lstStyle/>
          <a:p>
            <a:pPr algn="ctr"/>
            <a:r>
              <a:rPr lang="zh-CN" altLang="en-US" sz="5400" dirty="0">
                <a:latin typeface="汉仪大宋简" panose="02010600000101010101" pitchFamily="49" charset="-122"/>
                <a:ea typeface="汉仪大宋简" panose="02010600000101010101" pitchFamily="49" charset="-122"/>
              </a:rPr>
              <a:t>外卖送餐员动态路径规划</a:t>
            </a:r>
            <a:endParaRPr lang="zh-CN" altLang="en-US" sz="5400" dirty="0">
              <a:latin typeface="汉仪大宋简" panose="02010600000101010101" pitchFamily="49" charset="-122"/>
              <a:ea typeface="汉仪大宋简" panose="02010600000101010101" pitchFamily="49" charset="-122"/>
            </a:endParaRPr>
          </a:p>
        </p:txBody>
      </p:sp>
      <p:sp>
        <p:nvSpPr>
          <p:cNvPr id="21" name="文本框 20"/>
          <p:cNvSpPr txBox="1"/>
          <p:nvPr/>
        </p:nvSpPr>
        <p:spPr>
          <a:xfrm>
            <a:off x="3056939" y="3970687"/>
            <a:ext cx="6096000" cy="368300"/>
          </a:xfrm>
          <a:prstGeom prst="rect">
            <a:avLst/>
          </a:prstGeom>
          <a:noFill/>
        </p:spPr>
        <p:txBody>
          <a:bodyPr wrap="square">
            <a:spAutoFit/>
          </a:bodyPr>
          <a:lstStyle/>
          <a:p>
            <a:pPr algn="dist"/>
            <a:r>
              <a:rPr lang="zh-CN" altLang="en-US" dirty="0">
                <a:latin typeface="Kozuka Gothic Pr6N R" panose="020B0400000000000000" pitchFamily="34" charset="-128"/>
                <a:ea typeface="Kozuka Gothic Pr6N R" panose="020B0400000000000000" pitchFamily="34" charset="-128"/>
              </a:rPr>
              <a:t>Dynamic path planning for food delivery workers</a:t>
            </a:r>
            <a:endParaRPr lang="zh-CN" altLang="en-US" dirty="0">
              <a:latin typeface="Kozuka Gothic Pr6N R" panose="020B0400000000000000" pitchFamily="34" charset="-128"/>
              <a:ea typeface="Kozuka Gothic Pr6N R" panose="020B0400000000000000" pitchFamily="34" charset="-128"/>
            </a:endParaRPr>
          </a:p>
        </p:txBody>
      </p:sp>
      <p:sp>
        <p:nvSpPr>
          <p:cNvPr id="22" name="Freeform 5"/>
          <p:cNvSpPr/>
          <p:nvPr/>
        </p:nvSpPr>
        <p:spPr>
          <a:xfrm>
            <a:off x="5302113" y="1567006"/>
            <a:ext cx="1587774" cy="923330"/>
          </a:xfrm>
          <a:custGeom>
            <a:avLst/>
            <a:gdLst/>
            <a:ahLst/>
            <a:cxnLst>
              <a:cxn ang="0">
                <a:pos x="wd2" y="hd2"/>
              </a:cxn>
              <a:cxn ang="5400000">
                <a:pos x="wd2" y="hd2"/>
              </a:cxn>
              <a:cxn ang="10800000">
                <a:pos x="wd2" y="hd2"/>
              </a:cxn>
              <a:cxn ang="16200000">
                <a:pos x="wd2" y="hd2"/>
              </a:cxn>
            </a:cxnLst>
            <a:rect l="0" t="0" r="r" b="b"/>
            <a:pathLst>
              <a:path w="21600" h="21600" extrusionOk="0">
                <a:moveTo>
                  <a:pt x="20978" y="16267"/>
                </a:moveTo>
                <a:cubicBezTo>
                  <a:pt x="20978" y="15467"/>
                  <a:pt x="20823" y="14933"/>
                  <a:pt x="20357" y="14933"/>
                </a:cubicBezTo>
                <a:cubicBezTo>
                  <a:pt x="20357" y="7200"/>
                  <a:pt x="20357" y="7200"/>
                  <a:pt x="20357" y="7200"/>
                </a:cubicBezTo>
                <a:cubicBezTo>
                  <a:pt x="21600" y="6400"/>
                  <a:pt x="21600" y="6400"/>
                  <a:pt x="21600" y="6400"/>
                </a:cubicBezTo>
                <a:cubicBezTo>
                  <a:pt x="10878" y="0"/>
                  <a:pt x="10878" y="0"/>
                  <a:pt x="10878" y="0"/>
                </a:cubicBezTo>
                <a:cubicBezTo>
                  <a:pt x="0" y="6400"/>
                  <a:pt x="0" y="6400"/>
                  <a:pt x="0" y="6400"/>
                </a:cubicBezTo>
                <a:cubicBezTo>
                  <a:pt x="10878" y="12800"/>
                  <a:pt x="10878" y="12800"/>
                  <a:pt x="10878" y="12800"/>
                </a:cubicBezTo>
                <a:cubicBezTo>
                  <a:pt x="19735" y="7467"/>
                  <a:pt x="19735" y="7467"/>
                  <a:pt x="19735" y="7467"/>
                </a:cubicBezTo>
                <a:cubicBezTo>
                  <a:pt x="19735" y="14933"/>
                  <a:pt x="19735" y="14933"/>
                  <a:pt x="19735" y="14933"/>
                </a:cubicBezTo>
                <a:cubicBezTo>
                  <a:pt x="19424" y="14933"/>
                  <a:pt x="19114" y="15467"/>
                  <a:pt x="19114" y="16267"/>
                </a:cubicBezTo>
                <a:cubicBezTo>
                  <a:pt x="19114" y="16800"/>
                  <a:pt x="19424" y="17067"/>
                  <a:pt x="19580" y="17067"/>
                </a:cubicBezTo>
                <a:cubicBezTo>
                  <a:pt x="19114" y="21600"/>
                  <a:pt x="19114" y="21600"/>
                  <a:pt x="19114" y="21600"/>
                </a:cubicBezTo>
                <a:cubicBezTo>
                  <a:pt x="20978" y="21600"/>
                  <a:pt x="20978" y="21600"/>
                  <a:pt x="20978" y="21600"/>
                </a:cubicBezTo>
                <a:cubicBezTo>
                  <a:pt x="20512" y="17067"/>
                  <a:pt x="20512" y="17067"/>
                  <a:pt x="20512" y="17067"/>
                </a:cubicBezTo>
                <a:cubicBezTo>
                  <a:pt x="20823" y="17067"/>
                  <a:pt x="20978" y="16800"/>
                  <a:pt x="20978" y="16267"/>
                </a:cubicBezTo>
                <a:close/>
                <a:moveTo>
                  <a:pt x="4351" y="11200"/>
                </a:moveTo>
                <a:cubicBezTo>
                  <a:pt x="4351" y="18400"/>
                  <a:pt x="4351" y="18400"/>
                  <a:pt x="4351" y="18400"/>
                </a:cubicBezTo>
                <a:cubicBezTo>
                  <a:pt x="4351" y="20267"/>
                  <a:pt x="7304" y="21600"/>
                  <a:pt x="10878" y="21600"/>
                </a:cubicBezTo>
                <a:cubicBezTo>
                  <a:pt x="14296" y="21600"/>
                  <a:pt x="17249" y="20267"/>
                  <a:pt x="17249" y="18400"/>
                </a:cubicBezTo>
                <a:cubicBezTo>
                  <a:pt x="17249" y="11200"/>
                  <a:pt x="17249" y="11200"/>
                  <a:pt x="17249" y="11200"/>
                </a:cubicBezTo>
                <a:cubicBezTo>
                  <a:pt x="10878" y="14933"/>
                  <a:pt x="10878" y="14933"/>
                  <a:pt x="10878" y="14933"/>
                </a:cubicBezTo>
                <a:lnTo>
                  <a:pt x="4351" y="11200"/>
                </a:lnTo>
                <a:close/>
              </a:path>
            </a:pathLst>
          </a:custGeom>
          <a:solidFill>
            <a:srgbClr val="1E1E20"/>
          </a:solidFill>
          <a:ln w="12700" cap="flat">
            <a:noFill/>
            <a:miter lim="400000"/>
          </a:ln>
          <a:effectLst/>
        </p:spPr>
        <p:txBody>
          <a:bodyPr wrap="square" lIns="91439" tIns="91439" rIns="91439" bIns="91439" numCol="1" anchor="t">
            <a:noAutofit/>
          </a:bodyPr>
          <a:lstStyle/>
          <a:p/>
        </p:txBody>
      </p:sp>
      <p:sp>
        <p:nvSpPr>
          <p:cNvPr id="25" name="文本框 24"/>
          <p:cNvSpPr txBox="1"/>
          <p:nvPr/>
        </p:nvSpPr>
        <p:spPr>
          <a:xfrm>
            <a:off x="3498410" y="4739500"/>
            <a:ext cx="5220579" cy="368300"/>
          </a:xfrm>
          <a:prstGeom prst="rect">
            <a:avLst/>
          </a:prstGeom>
          <a:noFill/>
        </p:spPr>
        <p:txBody>
          <a:bodyPr wrap="square" rtlCol="0">
            <a:spAutoFit/>
          </a:bodyPr>
          <a:lstStyle/>
          <a:p>
            <a:pPr algn="ctr"/>
            <a:r>
              <a:rPr lang="zh-CN" altLang="en-US" dirty="0">
                <a:latin typeface="汉仪大宋简" panose="02010600000101010101" pitchFamily="49" charset="-122"/>
                <a:ea typeface="汉仪大宋简" panose="02010600000101010101" pitchFamily="49" charset="-122"/>
              </a:rPr>
              <a:t>学生姓名：宋星润</a:t>
            </a:r>
            <a:r>
              <a:rPr lang="en-US" altLang="zh-CN" dirty="0">
                <a:latin typeface="汉仪大宋简" panose="02010600000101010101" pitchFamily="49" charset="-122"/>
                <a:ea typeface="汉仪大宋简" panose="02010600000101010101" pitchFamily="49" charset="-122"/>
              </a:rPr>
              <a:t>       </a:t>
            </a:r>
            <a:r>
              <a:rPr lang="zh-CN" altLang="en-US" dirty="0">
                <a:latin typeface="汉仪大宋简" panose="02010600000101010101" pitchFamily="49" charset="-122"/>
                <a:ea typeface="汉仪大宋简" panose="02010600000101010101" pitchFamily="49" charset="-122"/>
              </a:rPr>
              <a:t>指导老师：</a:t>
            </a:r>
            <a:r>
              <a:rPr lang="en-US" altLang="zh-CN" dirty="0">
                <a:latin typeface="汉仪大宋简" panose="02010600000101010101" pitchFamily="49" charset="-122"/>
                <a:ea typeface="汉仪大宋简" panose="02010600000101010101" pitchFamily="49" charset="-122"/>
              </a:rPr>
              <a:t>赵梓权</a:t>
            </a:r>
            <a:endParaRPr lang="en-US" altLang="zh-CN" dirty="0">
              <a:latin typeface="汉仪大宋简" panose="02010600000101010101" pitchFamily="49" charset="-122"/>
              <a:ea typeface="汉仪大宋简" panose="0201060000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p14:dur="500">
        <p:push dir="u"/>
      </p:transition>
    </mc:Choice>
    <mc:Fallback>
      <p:transition>
        <p:push dir="u"/>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0" y="0"/>
            <a:ext cx="12192000" cy="6858000"/>
            <a:chOff x="0" y="0"/>
            <a:chExt cx="12192000" cy="6858000"/>
          </a:xfrm>
        </p:grpSpPr>
        <p:pic>
          <p:nvPicPr>
            <p:cNvPr id="9" name="图片 8" descr="图片包含 形状&#10;&#10;描述已自动生成"/>
            <p:cNvPicPr>
              <a:picLocks noChangeAspect="1"/>
            </p:cNvPicPr>
            <p:nvPr/>
          </p:nvPicPr>
          <p:blipFill>
            <a:blip r:embed="rId1">
              <a:extLst>
                <a:ext uri="{28A0092B-C50C-407E-A947-70E740481C1C}">
                  <a14:useLocalDpi xmlns:a14="http://schemas.microsoft.com/office/drawing/2010/main" val="0"/>
                </a:ext>
              </a:extLst>
            </a:blip>
            <a:srcRect l="1641" t="2291" b="2559"/>
            <a:stretch>
              <a:fillRect/>
            </a:stretch>
          </p:blipFill>
          <p:spPr>
            <a:xfrm>
              <a:off x="0" y="0"/>
              <a:ext cx="9893301" cy="6858000"/>
            </a:xfrm>
            <a:custGeom>
              <a:avLst/>
              <a:gdLst>
                <a:gd name="connsiteX0" fmla="*/ 0 w 9893301"/>
                <a:gd name="connsiteY0" fmla="*/ 0 h 6858000"/>
                <a:gd name="connsiteX1" fmla="*/ 9893301 w 9893301"/>
                <a:gd name="connsiteY1" fmla="*/ 0 h 6858000"/>
                <a:gd name="connsiteX2" fmla="*/ 9893301 w 9893301"/>
                <a:gd name="connsiteY2" fmla="*/ 6858000 h 6858000"/>
                <a:gd name="connsiteX3" fmla="*/ 0 w 989330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9893301" h="6858000">
                  <a:moveTo>
                    <a:pt x="0" y="0"/>
                  </a:moveTo>
                  <a:lnTo>
                    <a:pt x="9893301" y="0"/>
                  </a:lnTo>
                  <a:lnTo>
                    <a:pt x="9893301" y="6858000"/>
                  </a:lnTo>
                  <a:lnTo>
                    <a:pt x="0" y="6858000"/>
                  </a:lnTo>
                  <a:close/>
                </a:path>
              </a:pathLst>
            </a:custGeom>
          </p:spPr>
        </p:pic>
        <p:pic>
          <p:nvPicPr>
            <p:cNvPr id="16" name="图片 15" descr="图片包含 形状&#10;&#10;描述已自动生成"/>
            <p:cNvPicPr>
              <a:picLocks noChangeAspect="1"/>
            </p:cNvPicPr>
            <p:nvPr/>
          </p:nvPicPr>
          <p:blipFill>
            <a:blip r:embed="rId1">
              <a:extLst>
                <a:ext uri="{28A0092B-C50C-407E-A947-70E740481C1C}">
                  <a14:useLocalDpi xmlns:a14="http://schemas.microsoft.com/office/drawing/2010/main" val="0"/>
                </a:ext>
              </a:extLst>
            </a:blip>
            <a:srcRect l="40278" t="2291" r="1768" b="2559"/>
            <a:stretch>
              <a:fillRect/>
            </a:stretch>
          </p:blipFill>
          <p:spPr>
            <a:xfrm>
              <a:off x="6362700" y="0"/>
              <a:ext cx="5829300" cy="6858000"/>
            </a:xfrm>
            <a:custGeom>
              <a:avLst/>
              <a:gdLst>
                <a:gd name="connsiteX0" fmla="*/ 0 w 5829300"/>
                <a:gd name="connsiteY0" fmla="*/ 0 h 6858000"/>
                <a:gd name="connsiteX1" fmla="*/ 5829300 w 5829300"/>
                <a:gd name="connsiteY1" fmla="*/ 0 h 6858000"/>
                <a:gd name="connsiteX2" fmla="*/ 5829300 w 5829300"/>
                <a:gd name="connsiteY2" fmla="*/ 6858000 h 6858000"/>
                <a:gd name="connsiteX3" fmla="*/ 0 w 58293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829300" h="6858000">
                  <a:moveTo>
                    <a:pt x="0" y="0"/>
                  </a:moveTo>
                  <a:lnTo>
                    <a:pt x="5829300" y="0"/>
                  </a:lnTo>
                  <a:lnTo>
                    <a:pt x="5829300" y="6858000"/>
                  </a:lnTo>
                  <a:lnTo>
                    <a:pt x="0" y="6858000"/>
                  </a:lnTo>
                  <a:close/>
                </a:path>
              </a:pathLst>
            </a:custGeom>
          </p:spPr>
        </p:pic>
      </p:grpSp>
      <p:sp>
        <p:nvSpPr>
          <p:cNvPr id="10" name="文本框 9"/>
          <p:cNvSpPr txBox="1"/>
          <p:nvPr/>
        </p:nvSpPr>
        <p:spPr>
          <a:xfrm>
            <a:off x="5285269" y="1210191"/>
            <a:ext cx="1621462" cy="830997"/>
          </a:xfrm>
          <a:prstGeom prst="rect">
            <a:avLst/>
          </a:prstGeom>
          <a:noFill/>
        </p:spPr>
        <p:txBody>
          <a:bodyPr wrap="square" rtlCol="0">
            <a:spAutoFit/>
          </a:bodyPr>
          <a:lstStyle>
            <a:defPPr>
              <a:defRPr lang="zh-CN"/>
            </a:defPPr>
            <a:lvl1pPr algn="ctr">
              <a:defRPr sz="5400">
                <a:latin typeface="汉仪大宋简" panose="02010600000101010101" pitchFamily="49" charset="-122"/>
                <a:ea typeface="汉仪大宋简" panose="02010600000101010101" pitchFamily="49" charset="-122"/>
              </a:defRPr>
            </a:lvl1pPr>
          </a:lstStyle>
          <a:p>
            <a:pPr algn="dist"/>
            <a:r>
              <a:rPr lang="zh-CN" altLang="en-US" sz="4800" dirty="0"/>
              <a:t>前言</a:t>
            </a:r>
            <a:endParaRPr lang="zh-CN" altLang="en-US" sz="4800" dirty="0"/>
          </a:p>
        </p:txBody>
      </p:sp>
      <p:sp>
        <p:nvSpPr>
          <p:cNvPr id="11" name="矩形 10"/>
          <p:cNvSpPr/>
          <p:nvPr/>
        </p:nvSpPr>
        <p:spPr>
          <a:xfrm>
            <a:off x="1608858" y="2137539"/>
            <a:ext cx="8991120" cy="3046095"/>
          </a:xfrm>
          <a:prstGeom prst="rect">
            <a:avLst/>
          </a:prstGeom>
        </p:spPr>
        <p:txBody>
          <a:bodyPr wrap="square">
            <a:spAutoFit/>
          </a:bodyPr>
          <a:lstStyle/>
          <a:p>
            <a:pPr>
              <a:lnSpc>
                <a:spcPct val="200000"/>
              </a:lnSpc>
            </a:pPr>
            <a:r>
              <a:rPr lang="zh-CN" altLang="en-US" sz="1600" dirty="0">
                <a:solidFill>
                  <a:srgbClr val="36484F"/>
                </a:solidFill>
                <a:latin typeface="Noto Sans S Chinese DemiLight" panose="020B0400000000000000" pitchFamily="34" charset="-122"/>
                <a:ea typeface="Noto Sans S Chinese DemiLight" panose="020B0400000000000000" pitchFamily="34" charset="-122"/>
              </a:rPr>
              <a:t>随着科技与社会的发展，人们的生活水平有了显著的提升，同时也带来了交通需求的日益增长, 交通拥堵已经成为</a:t>
            </a:r>
            <a:r>
              <a:rPr lang="zh-CN" altLang="en-US" sz="1600" dirty="0">
                <a:solidFill>
                  <a:srgbClr val="36484F"/>
                </a:solidFill>
                <a:latin typeface="Noto Sans S Chinese DemiLight" panose="020B0400000000000000" pitchFamily="34" charset="-122"/>
                <a:ea typeface="Noto Sans S Chinese DemiLight" panose="020B0400000000000000" pitchFamily="34" charset="-122"/>
              </a:rPr>
              <a:t>几乎所有城市交通的普遍现象, 这影响了人们出行的安全与效率，也使一些需要交通的行业面临许多困难。现在有许多路径规划的算法可以解决这些问题，本课题</a:t>
            </a:r>
            <a:r>
              <a:rPr lang="zh-CN" altLang="en-US" sz="1600" dirty="0">
                <a:solidFill>
                  <a:srgbClr val="36484F"/>
                </a:solidFill>
                <a:latin typeface="Noto Sans S Chinese DemiLight" panose="020B0400000000000000" pitchFamily="34" charset="-122"/>
                <a:ea typeface="Noto Sans S Chinese DemiLight" panose="020B0400000000000000" pitchFamily="34" charset="-122"/>
              </a:rPr>
              <a:t>的目的是为了应对交通问题，而提出更多的解决方法。外卖员动态路径规划是在一定的时间内得到一条近似最优的行进路线, 这对路径规划所用的算法的精确性和运行效率提出了很高的要求。因此本论文使用蒙特卡洛算法来进行路径规划，以得到一种运行更加快速的路径规划方法让外卖送餐员送餐更加便捷。</a:t>
            </a:r>
            <a:endParaRPr lang="zh-CN" altLang="en-US" sz="1600" dirty="0">
              <a:solidFill>
                <a:srgbClr val="36484F"/>
              </a:solidFill>
              <a:latin typeface="Noto Sans S Chinese DemiLight" panose="020B0400000000000000" pitchFamily="34" charset="-122"/>
              <a:ea typeface="Noto Sans S Chinese DemiLight" panose="020B0400000000000000"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500">
        <p:push dir="u"/>
      </p:transition>
    </mc:Choice>
    <mc:Fallback>
      <p:transition>
        <p:push dir="u"/>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p:cNvGrpSpPr/>
          <p:nvPr/>
        </p:nvGrpSpPr>
        <p:grpSpPr>
          <a:xfrm>
            <a:off x="0" y="-13335"/>
            <a:ext cx="12192000" cy="6858000"/>
            <a:chOff x="0" y="0"/>
            <a:chExt cx="12192000" cy="6858000"/>
          </a:xfrm>
        </p:grpSpPr>
        <p:pic>
          <p:nvPicPr>
            <p:cNvPr id="9" name="图片 8" descr="图片包含 形状&#10;&#10;描述已自动生成"/>
            <p:cNvPicPr>
              <a:picLocks noChangeAspect="1"/>
            </p:cNvPicPr>
            <p:nvPr/>
          </p:nvPicPr>
          <p:blipFill>
            <a:blip r:embed="rId1">
              <a:extLst>
                <a:ext uri="{28A0092B-C50C-407E-A947-70E740481C1C}">
                  <a14:useLocalDpi xmlns:a14="http://schemas.microsoft.com/office/drawing/2010/main" val="0"/>
                </a:ext>
              </a:extLst>
            </a:blip>
            <a:srcRect l="1641" t="2291" b="2559"/>
            <a:stretch>
              <a:fillRect/>
            </a:stretch>
          </p:blipFill>
          <p:spPr>
            <a:xfrm>
              <a:off x="0" y="0"/>
              <a:ext cx="9893301" cy="6858000"/>
            </a:xfrm>
            <a:custGeom>
              <a:avLst/>
              <a:gdLst>
                <a:gd name="connsiteX0" fmla="*/ 0 w 9893301"/>
                <a:gd name="connsiteY0" fmla="*/ 0 h 6858000"/>
                <a:gd name="connsiteX1" fmla="*/ 9893301 w 9893301"/>
                <a:gd name="connsiteY1" fmla="*/ 0 h 6858000"/>
                <a:gd name="connsiteX2" fmla="*/ 9893301 w 9893301"/>
                <a:gd name="connsiteY2" fmla="*/ 6858000 h 6858000"/>
                <a:gd name="connsiteX3" fmla="*/ 0 w 989330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9893301" h="6858000">
                  <a:moveTo>
                    <a:pt x="0" y="0"/>
                  </a:moveTo>
                  <a:lnTo>
                    <a:pt x="9893301" y="0"/>
                  </a:lnTo>
                  <a:lnTo>
                    <a:pt x="9893301" y="6858000"/>
                  </a:lnTo>
                  <a:lnTo>
                    <a:pt x="0" y="6858000"/>
                  </a:lnTo>
                  <a:close/>
                </a:path>
              </a:pathLst>
            </a:custGeom>
          </p:spPr>
        </p:pic>
        <p:pic>
          <p:nvPicPr>
            <p:cNvPr id="16" name="图片 15" descr="图片包含 形状&#10;&#10;描述已自动生成"/>
            <p:cNvPicPr>
              <a:picLocks noChangeAspect="1"/>
            </p:cNvPicPr>
            <p:nvPr/>
          </p:nvPicPr>
          <p:blipFill>
            <a:blip r:embed="rId1">
              <a:extLst>
                <a:ext uri="{28A0092B-C50C-407E-A947-70E740481C1C}">
                  <a14:useLocalDpi xmlns:a14="http://schemas.microsoft.com/office/drawing/2010/main" val="0"/>
                </a:ext>
              </a:extLst>
            </a:blip>
            <a:srcRect l="40278" t="2291" r="1768" b="2559"/>
            <a:stretch>
              <a:fillRect/>
            </a:stretch>
          </p:blipFill>
          <p:spPr>
            <a:xfrm>
              <a:off x="6362700" y="0"/>
              <a:ext cx="5829300" cy="6858000"/>
            </a:xfrm>
            <a:custGeom>
              <a:avLst/>
              <a:gdLst>
                <a:gd name="connsiteX0" fmla="*/ 0 w 5829300"/>
                <a:gd name="connsiteY0" fmla="*/ 0 h 6858000"/>
                <a:gd name="connsiteX1" fmla="*/ 5829300 w 5829300"/>
                <a:gd name="connsiteY1" fmla="*/ 0 h 6858000"/>
                <a:gd name="connsiteX2" fmla="*/ 5829300 w 5829300"/>
                <a:gd name="connsiteY2" fmla="*/ 6858000 h 6858000"/>
                <a:gd name="connsiteX3" fmla="*/ 0 w 58293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829300" h="6858000">
                  <a:moveTo>
                    <a:pt x="0" y="0"/>
                  </a:moveTo>
                  <a:lnTo>
                    <a:pt x="5829300" y="0"/>
                  </a:lnTo>
                  <a:lnTo>
                    <a:pt x="5829300" y="6858000"/>
                  </a:lnTo>
                  <a:lnTo>
                    <a:pt x="0" y="6858000"/>
                  </a:lnTo>
                  <a:close/>
                </a:path>
              </a:pathLst>
            </a:custGeom>
          </p:spPr>
        </p:pic>
      </p:grpSp>
      <p:sp>
        <p:nvSpPr>
          <p:cNvPr id="13" name="文本框 12"/>
          <p:cNvSpPr txBox="1"/>
          <p:nvPr/>
        </p:nvSpPr>
        <p:spPr>
          <a:xfrm>
            <a:off x="5285269" y="1210191"/>
            <a:ext cx="1621462" cy="830997"/>
          </a:xfrm>
          <a:prstGeom prst="rect">
            <a:avLst/>
          </a:prstGeom>
          <a:noFill/>
        </p:spPr>
        <p:txBody>
          <a:bodyPr wrap="square" rtlCol="0">
            <a:spAutoFit/>
          </a:bodyPr>
          <a:lstStyle>
            <a:defPPr>
              <a:defRPr lang="zh-CN"/>
            </a:defPPr>
            <a:lvl1pPr algn="ctr">
              <a:defRPr sz="5400">
                <a:latin typeface="汉仪大宋简" panose="02010600000101010101" pitchFamily="49" charset="-122"/>
                <a:ea typeface="汉仪大宋简" panose="02010600000101010101" pitchFamily="49" charset="-122"/>
              </a:defRPr>
            </a:lvl1pPr>
          </a:lstStyle>
          <a:p>
            <a:pPr algn="dist"/>
            <a:r>
              <a:rPr lang="zh-CN" altLang="en-US" sz="4800" dirty="0"/>
              <a:t>目录</a:t>
            </a:r>
            <a:endParaRPr lang="zh-CN" altLang="en-US" sz="4800" dirty="0"/>
          </a:p>
        </p:txBody>
      </p:sp>
      <p:grpSp>
        <p:nvGrpSpPr>
          <p:cNvPr id="6" name="组合 5"/>
          <p:cNvGrpSpPr/>
          <p:nvPr/>
        </p:nvGrpSpPr>
        <p:grpSpPr>
          <a:xfrm>
            <a:off x="2018675" y="3046095"/>
            <a:ext cx="3739189" cy="736109"/>
            <a:chOff x="2018675" y="3046095"/>
            <a:chExt cx="3739189" cy="736109"/>
          </a:xfrm>
        </p:grpSpPr>
        <p:sp>
          <p:nvSpPr>
            <p:cNvPr id="4" name="椭圆 3"/>
            <p:cNvSpPr/>
            <p:nvPr/>
          </p:nvSpPr>
          <p:spPr>
            <a:xfrm>
              <a:off x="2018675" y="3103136"/>
              <a:ext cx="624994" cy="624994"/>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p:cNvSpPr txBox="1"/>
            <p:nvPr/>
          </p:nvSpPr>
          <p:spPr>
            <a:xfrm>
              <a:off x="2838931" y="3046095"/>
              <a:ext cx="2918933" cy="507831"/>
            </a:xfrm>
            <a:prstGeom prst="rect">
              <a:avLst/>
            </a:prstGeom>
            <a:noFill/>
          </p:spPr>
          <p:txBody>
            <a:bodyPr wrap="square" rtlCol="0">
              <a:spAutoFit/>
            </a:bodyPr>
            <a:lstStyle>
              <a:defPPr>
                <a:defRPr lang="zh-CN"/>
              </a:defPPr>
              <a:lvl1pPr algn="ctr">
                <a:defRPr sz="5400">
                  <a:latin typeface="汉仪大宋简" panose="02010600000101010101" pitchFamily="49" charset="-122"/>
                  <a:ea typeface="汉仪大宋简" panose="02010600000101010101" pitchFamily="49" charset="-122"/>
                </a:defRPr>
              </a:lvl1pPr>
            </a:lstStyle>
            <a:p>
              <a:pPr algn="l"/>
              <a:r>
                <a:rPr lang="zh-CN" altLang="en-US" sz="2600" dirty="0"/>
                <a:t>选题目的和意义</a:t>
              </a:r>
              <a:endParaRPr lang="zh-CN" altLang="en-US" sz="2600" dirty="0"/>
            </a:p>
          </p:txBody>
        </p:sp>
        <p:sp>
          <p:nvSpPr>
            <p:cNvPr id="17" name="文本框 16"/>
            <p:cNvSpPr txBox="1"/>
            <p:nvPr/>
          </p:nvSpPr>
          <p:spPr>
            <a:xfrm>
              <a:off x="2872533" y="3474427"/>
              <a:ext cx="2468612" cy="307777"/>
            </a:xfrm>
            <a:prstGeom prst="rect">
              <a:avLst/>
            </a:prstGeom>
            <a:noFill/>
          </p:spPr>
          <p:txBody>
            <a:bodyPr wrap="square">
              <a:spAutoFit/>
            </a:bodyPr>
            <a:lstStyle>
              <a:defPPr>
                <a:defRPr lang="zh-CN"/>
              </a:defPPr>
              <a:lvl1pPr algn="dist">
                <a:defRPr>
                  <a:latin typeface="Kozuka Gothic Pr6N R" panose="020B0400000000000000" pitchFamily="34" charset="-128"/>
                  <a:ea typeface="Kozuka Gothic Pr6N R" panose="020B0400000000000000" pitchFamily="34" charset="-128"/>
                </a:defRPr>
              </a:lvl1pPr>
            </a:lstStyle>
            <a:p>
              <a:pPr algn="l"/>
              <a:r>
                <a:rPr lang="zh-CN" altLang="en-US" sz="1400" dirty="0"/>
                <a:t>Purpose and significance</a:t>
              </a:r>
              <a:endParaRPr lang="zh-CN" altLang="en-US" sz="1400" dirty="0"/>
            </a:p>
          </p:txBody>
        </p:sp>
        <p:sp>
          <p:nvSpPr>
            <p:cNvPr id="23" name="文本框 22"/>
            <p:cNvSpPr txBox="1"/>
            <p:nvPr/>
          </p:nvSpPr>
          <p:spPr>
            <a:xfrm>
              <a:off x="2039036" y="3177592"/>
              <a:ext cx="576818" cy="461665"/>
            </a:xfrm>
            <a:prstGeom prst="rect">
              <a:avLst/>
            </a:prstGeom>
            <a:noFill/>
          </p:spPr>
          <p:txBody>
            <a:bodyPr wrap="square" rtlCol="0">
              <a:spAutoFit/>
            </a:bodyPr>
            <a:lstStyle>
              <a:defPPr>
                <a:defRPr lang="zh-CN"/>
              </a:defPPr>
              <a:lvl1pPr algn="ctr">
                <a:defRPr sz="5400">
                  <a:latin typeface="汉仪大宋简" panose="02010600000101010101" pitchFamily="49" charset="-122"/>
                  <a:ea typeface="汉仪大宋简" panose="02010600000101010101" pitchFamily="49" charset="-122"/>
                </a:defRPr>
              </a:lvl1pPr>
            </a:lstStyle>
            <a:p>
              <a:r>
                <a:rPr lang="en-US" altLang="zh-CN" sz="2400" b="1" dirty="0">
                  <a:solidFill>
                    <a:srgbClr val="FCFBF7"/>
                  </a:solidFill>
                  <a:latin typeface="Calibri" panose="020F0502020204030204" pitchFamily="34" charset="0"/>
                  <a:cs typeface="Calibri" panose="020F0502020204030204" pitchFamily="34" charset="0"/>
                </a:rPr>
                <a:t>01</a:t>
              </a:r>
              <a:endParaRPr lang="zh-CN" altLang="en-US" sz="2400" b="1" dirty="0">
                <a:solidFill>
                  <a:srgbClr val="FCFBF7"/>
                </a:solidFill>
                <a:latin typeface="Calibri" panose="020F0502020204030204" pitchFamily="34" charset="0"/>
                <a:cs typeface="Calibri" panose="020F0502020204030204" pitchFamily="34" charset="0"/>
              </a:endParaRPr>
            </a:p>
          </p:txBody>
        </p:sp>
      </p:grpSp>
      <p:grpSp>
        <p:nvGrpSpPr>
          <p:cNvPr id="24" name="组合 23"/>
          <p:cNvGrpSpPr/>
          <p:nvPr/>
        </p:nvGrpSpPr>
        <p:grpSpPr>
          <a:xfrm>
            <a:off x="6642248" y="3046095"/>
            <a:ext cx="3739189" cy="736109"/>
            <a:chOff x="2018675" y="3046095"/>
            <a:chExt cx="3739189" cy="736109"/>
          </a:xfrm>
        </p:grpSpPr>
        <p:sp>
          <p:nvSpPr>
            <p:cNvPr id="26" name="椭圆 25"/>
            <p:cNvSpPr/>
            <p:nvPr/>
          </p:nvSpPr>
          <p:spPr>
            <a:xfrm>
              <a:off x="2018675" y="3103136"/>
              <a:ext cx="624994" cy="624994"/>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文本框 26"/>
            <p:cNvSpPr txBox="1"/>
            <p:nvPr/>
          </p:nvSpPr>
          <p:spPr>
            <a:xfrm>
              <a:off x="2838931" y="3046095"/>
              <a:ext cx="2918933" cy="492443"/>
            </a:xfrm>
            <a:prstGeom prst="rect">
              <a:avLst/>
            </a:prstGeom>
            <a:noFill/>
          </p:spPr>
          <p:txBody>
            <a:bodyPr wrap="square" rtlCol="0">
              <a:spAutoFit/>
            </a:bodyPr>
            <a:lstStyle>
              <a:defPPr>
                <a:defRPr lang="zh-CN"/>
              </a:defPPr>
              <a:lvl1pPr algn="ctr">
                <a:defRPr sz="5400">
                  <a:latin typeface="汉仪大宋简" panose="02010600000101010101" pitchFamily="49" charset="-122"/>
                  <a:ea typeface="汉仪大宋简" panose="02010600000101010101" pitchFamily="49" charset="-122"/>
                </a:defRPr>
              </a:lvl1pPr>
            </a:lstStyle>
            <a:p>
              <a:pPr algn="l"/>
              <a:r>
                <a:rPr lang="zh-CN" altLang="en-US" sz="2600" dirty="0"/>
                <a:t>研究的主要内容</a:t>
              </a:r>
              <a:endParaRPr lang="zh-CN" altLang="en-US" sz="2600" dirty="0"/>
            </a:p>
          </p:txBody>
        </p:sp>
        <p:sp>
          <p:nvSpPr>
            <p:cNvPr id="28" name="文本框 27"/>
            <p:cNvSpPr txBox="1"/>
            <p:nvPr/>
          </p:nvSpPr>
          <p:spPr>
            <a:xfrm>
              <a:off x="2872532" y="3474427"/>
              <a:ext cx="2885331" cy="307777"/>
            </a:xfrm>
            <a:prstGeom prst="rect">
              <a:avLst/>
            </a:prstGeom>
            <a:noFill/>
          </p:spPr>
          <p:txBody>
            <a:bodyPr wrap="square">
              <a:spAutoFit/>
            </a:bodyPr>
            <a:lstStyle>
              <a:defPPr>
                <a:defRPr lang="zh-CN"/>
              </a:defPPr>
              <a:lvl1pPr>
                <a:defRPr sz="1400">
                  <a:latin typeface="Kozuka Gothic Pr6N R" panose="020B0400000000000000" pitchFamily="34" charset="-128"/>
                  <a:ea typeface="Kozuka Gothic Pr6N R" panose="020B0400000000000000" pitchFamily="34" charset="-128"/>
                </a:defRPr>
              </a:lvl1pPr>
            </a:lstStyle>
            <a:p>
              <a:r>
                <a:rPr lang="en-US" altLang="zh-CN" dirty="0"/>
                <a:t>The main contents of the study</a:t>
              </a:r>
              <a:endParaRPr lang="zh-CN" altLang="en-US" dirty="0"/>
            </a:p>
          </p:txBody>
        </p:sp>
        <p:sp>
          <p:nvSpPr>
            <p:cNvPr id="29" name="文本框 28"/>
            <p:cNvSpPr txBox="1"/>
            <p:nvPr/>
          </p:nvSpPr>
          <p:spPr>
            <a:xfrm>
              <a:off x="2039036" y="3177592"/>
              <a:ext cx="576818" cy="461665"/>
            </a:xfrm>
            <a:prstGeom prst="rect">
              <a:avLst/>
            </a:prstGeom>
            <a:noFill/>
          </p:spPr>
          <p:txBody>
            <a:bodyPr wrap="square" rtlCol="0">
              <a:spAutoFit/>
            </a:bodyPr>
            <a:lstStyle>
              <a:defPPr>
                <a:defRPr lang="zh-CN"/>
              </a:defPPr>
              <a:lvl1pPr algn="ctr">
                <a:defRPr sz="5400">
                  <a:latin typeface="汉仪大宋简" panose="02010600000101010101" pitchFamily="49" charset="-122"/>
                  <a:ea typeface="汉仪大宋简" panose="02010600000101010101" pitchFamily="49" charset="-122"/>
                </a:defRPr>
              </a:lvl1pPr>
            </a:lstStyle>
            <a:p>
              <a:r>
                <a:rPr lang="en-US" altLang="zh-CN" sz="2400" b="1" dirty="0">
                  <a:solidFill>
                    <a:schemeClr val="bg1"/>
                  </a:solidFill>
                  <a:latin typeface="Calibri" panose="020F0502020204030204" pitchFamily="34" charset="0"/>
                  <a:cs typeface="Calibri" panose="020F0502020204030204" pitchFamily="34" charset="0"/>
                </a:rPr>
                <a:t>02</a:t>
              </a:r>
              <a:endParaRPr lang="zh-CN" altLang="en-US" sz="2400" b="1" dirty="0">
                <a:solidFill>
                  <a:schemeClr val="bg1"/>
                </a:solidFill>
                <a:latin typeface="Calibri" panose="020F0502020204030204" pitchFamily="34" charset="0"/>
                <a:cs typeface="Calibri" panose="020F0502020204030204" pitchFamily="34" charset="0"/>
              </a:endParaRPr>
            </a:p>
          </p:txBody>
        </p:sp>
      </p:grpSp>
      <p:grpSp>
        <p:nvGrpSpPr>
          <p:cNvPr id="30" name="组合 29"/>
          <p:cNvGrpSpPr/>
          <p:nvPr/>
        </p:nvGrpSpPr>
        <p:grpSpPr>
          <a:xfrm>
            <a:off x="2018675" y="4303395"/>
            <a:ext cx="3810626" cy="736109"/>
            <a:chOff x="2018675" y="3046095"/>
            <a:chExt cx="3810626" cy="736109"/>
          </a:xfrm>
        </p:grpSpPr>
        <p:sp>
          <p:nvSpPr>
            <p:cNvPr id="31" name="椭圆 30"/>
            <p:cNvSpPr/>
            <p:nvPr/>
          </p:nvSpPr>
          <p:spPr>
            <a:xfrm>
              <a:off x="2018675" y="3103136"/>
              <a:ext cx="624994" cy="624994"/>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文本框 31"/>
            <p:cNvSpPr txBox="1"/>
            <p:nvPr/>
          </p:nvSpPr>
          <p:spPr>
            <a:xfrm>
              <a:off x="2838931" y="3046095"/>
              <a:ext cx="2918933" cy="507831"/>
            </a:xfrm>
            <a:prstGeom prst="rect">
              <a:avLst/>
            </a:prstGeom>
            <a:noFill/>
          </p:spPr>
          <p:txBody>
            <a:bodyPr wrap="square" rtlCol="0">
              <a:spAutoFit/>
            </a:bodyPr>
            <a:lstStyle>
              <a:defPPr>
                <a:defRPr lang="zh-CN"/>
              </a:defPPr>
              <a:lvl1pPr algn="ctr">
                <a:defRPr sz="5400">
                  <a:latin typeface="汉仪大宋简" panose="02010600000101010101" pitchFamily="49" charset="-122"/>
                  <a:ea typeface="汉仪大宋简" panose="02010600000101010101" pitchFamily="49" charset="-122"/>
                </a:defRPr>
              </a:lvl1pPr>
            </a:lstStyle>
            <a:p>
              <a:pPr algn="l"/>
              <a:r>
                <a:rPr lang="zh-CN" altLang="en-US" sz="2600" dirty="0"/>
                <a:t>研究方法与过程</a:t>
              </a:r>
              <a:endParaRPr lang="zh-CN" altLang="en-US" sz="2600" dirty="0"/>
            </a:p>
          </p:txBody>
        </p:sp>
        <p:sp>
          <p:nvSpPr>
            <p:cNvPr id="33" name="文本框 32"/>
            <p:cNvSpPr txBox="1"/>
            <p:nvPr/>
          </p:nvSpPr>
          <p:spPr>
            <a:xfrm>
              <a:off x="2872533" y="3474427"/>
              <a:ext cx="2956768" cy="307777"/>
            </a:xfrm>
            <a:prstGeom prst="rect">
              <a:avLst/>
            </a:prstGeom>
            <a:noFill/>
          </p:spPr>
          <p:txBody>
            <a:bodyPr wrap="square">
              <a:spAutoFit/>
            </a:bodyPr>
            <a:lstStyle>
              <a:defPPr>
                <a:defRPr lang="zh-CN"/>
              </a:defPPr>
              <a:lvl1pPr algn="dist">
                <a:defRPr>
                  <a:latin typeface="Kozuka Gothic Pr6N R" panose="020B0400000000000000" pitchFamily="34" charset="-128"/>
                  <a:ea typeface="Kozuka Gothic Pr6N R" panose="020B0400000000000000" pitchFamily="34" charset="-128"/>
                </a:defRPr>
              </a:lvl1pPr>
            </a:lstStyle>
            <a:p>
              <a:pPr algn="l"/>
              <a:r>
                <a:rPr lang="en-US" altLang="zh-CN" sz="1400" dirty="0"/>
                <a:t>Research methods and process</a:t>
              </a:r>
              <a:endParaRPr lang="zh-CN" altLang="en-US" sz="1400" dirty="0"/>
            </a:p>
          </p:txBody>
        </p:sp>
        <p:sp>
          <p:nvSpPr>
            <p:cNvPr id="34" name="文本框 33"/>
            <p:cNvSpPr txBox="1"/>
            <p:nvPr/>
          </p:nvSpPr>
          <p:spPr>
            <a:xfrm>
              <a:off x="2039036" y="3177592"/>
              <a:ext cx="576818" cy="461665"/>
            </a:xfrm>
            <a:prstGeom prst="rect">
              <a:avLst/>
            </a:prstGeom>
            <a:noFill/>
          </p:spPr>
          <p:txBody>
            <a:bodyPr wrap="square" rtlCol="0">
              <a:spAutoFit/>
            </a:bodyPr>
            <a:lstStyle>
              <a:defPPr>
                <a:defRPr lang="zh-CN"/>
              </a:defPPr>
              <a:lvl1pPr algn="ctr">
                <a:defRPr sz="5400">
                  <a:latin typeface="汉仪大宋简" panose="02010600000101010101" pitchFamily="49" charset="-122"/>
                  <a:ea typeface="汉仪大宋简" panose="02010600000101010101" pitchFamily="49" charset="-122"/>
                </a:defRPr>
              </a:lvl1pPr>
            </a:lstStyle>
            <a:p>
              <a:r>
                <a:rPr lang="en-US" altLang="zh-CN" sz="2400" b="1" dirty="0">
                  <a:solidFill>
                    <a:schemeClr val="bg1"/>
                  </a:solidFill>
                  <a:latin typeface="Calibri" panose="020F0502020204030204" pitchFamily="34" charset="0"/>
                  <a:cs typeface="Calibri" panose="020F0502020204030204" pitchFamily="34" charset="0"/>
                </a:rPr>
                <a:t>03</a:t>
              </a:r>
              <a:endParaRPr lang="zh-CN" altLang="en-US" sz="2400" b="1" dirty="0">
                <a:solidFill>
                  <a:schemeClr val="bg1"/>
                </a:solidFill>
                <a:latin typeface="Calibri" panose="020F0502020204030204" pitchFamily="34" charset="0"/>
                <a:cs typeface="Calibri" panose="020F0502020204030204" pitchFamily="34" charset="0"/>
              </a:endParaRPr>
            </a:p>
          </p:txBody>
        </p:sp>
      </p:grpSp>
      <p:grpSp>
        <p:nvGrpSpPr>
          <p:cNvPr id="35" name="组合 34"/>
          <p:cNvGrpSpPr/>
          <p:nvPr/>
        </p:nvGrpSpPr>
        <p:grpSpPr>
          <a:xfrm>
            <a:off x="6642248" y="4303395"/>
            <a:ext cx="3855888" cy="736109"/>
            <a:chOff x="2018675" y="3046095"/>
            <a:chExt cx="3855888" cy="736109"/>
          </a:xfrm>
        </p:grpSpPr>
        <p:sp>
          <p:nvSpPr>
            <p:cNvPr id="36" name="椭圆 35"/>
            <p:cNvSpPr/>
            <p:nvPr/>
          </p:nvSpPr>
          <p:spPr>
            <a:xfrm>
              <a:off x="2018675" y="3103136"/>
              <a:ext cx="624994" cy="624994"/>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文本框 36"/>
            <p:cNvSpPr txBox="1"/>
            <p:nvPr/>
          </p:nvSpPr>
          <p:spPr>
            <a:xfrm>
              <a:off x="2838931" y="3046095"/>
              <a:ext cx="2918933" cy="507831"/>
            </a:xfrm>
            <a:prstGeom prst="rect">
              <a:avLst/>
            </a:prstGeom>
            <a:noFill/>
          </p:spPr>
          <p:txBody>
            <a:bodyPr wrap="square" rtlCol="0">
              <a:spAutoFit/>
            </a:bodyPr>
            <a:lstStyle>
              <a:defPPr>
                <a:defRPr lang="zh-CN"/>
              </a:defPPr>
              <a:lvl1pPr algn="ctr">
                <a:defRPr sz="5400">
                  <a:latin typeface="汉仪大宋简" panose="02010600000101010101" pitchFamily="49" charset="-122"/>
                  <a:ea typeface="汉仪大宋简" panose="02010600000101010101" pitchFamily="49" charset="-122"/>
                </a:defRPr>
              </a:lvl1pPr>
            </a:lstStyle>
            <a:p>
              <a:pPr algn="l"/>
              <a:r>
                <a:rPr lang="zh-CN" altLang="en-US" sz="2600" dirty="0"/>
                <a:t>研究结论与安排</a:t>
              </a:r>
              <a:endParaRPr lang="zh-CN" altLang="en-US" sz="2600" dirty="0"/>
            </a:p>
          </p:txBody>
        </p:sp>
        <p:sp>
          <p:nvSpPr>
            <p:cNvPr id="38" name="文本框 37"/>
            <p:cNvSpPr txBox="1"/>
            <p:nvPr/>
          </p:nvSpPr>
          <p:spPr>
            <a:xfrm>
              <a:off x="2872532" y="3474427"/>
              <a:ext cx="3002031" cy="307777"/>
            </a:xfrm>
            <a:prstGeom prst="rect">
              <a:avLst/>
            </a:prstGeom>
            <a:noFill/>
          </p:spPr>
          <p:txBody>
            <a:bodyPr wrap="square">
              <a:spAutoFit/>
            </a:bodyPr>
            <a:lstStyle>
              <a:defPPr>
                <a:defRPr lang="zh-CN"/>
              </a:defPPr>
              <a:lvl1pPr algn="dist">
                <a:defRPr>
                  <a:latin typeface="Kozuka Gothic Pr6N R" panose="020B0400000000000000" pitchFamily="34" charset="-128"/>
                  <a:ea typeface="Kozuka Gothic Pr6N R" panose="020B0400000000000000" pitchFamily="34" charset="-128"/>
                </a:defRPr>
              </a:lvl1pPr>
            </a:lstStyle>
            <a:p>
              <a:pPr algn="l"/>
              <a:r>
                <a:rPr lang="en-US" altLang="zh-CN" sz="1400" dirty="0"/>
                <a:t>conclusion and arrangement</a:t>
              </a:r>
              <a:endParaRPr lang="zh-CN" altLang="en-US" sz="1400" dirty="0"/>
            </a:p>
          </p:txBody>
        </p:sp>
        <p:sp>
          <p:nvSpPr>
            <p:cNvPr id="39" name="文本框 38"/>
            <p:cNvSpPr txBox="1"/>
            <p:nvPr/>
          </p:nvSpPr>
          <p:spPr>
            <a:xfrm>
              <a:off x="2039036" y="3177592"/>
              <a:ext cx="576818" cy="461665"/>
            </a:xfrm>
            <a:prstGeom prst="rect">
              <a:avLst/>
            </a:prstGeom>
            <a:noFill/>
          </p:spPr>
          <p:txBody>
            <a:bodyPr wrap="square" rtlCol="0">
              <a:spAutoFit/>
            </a:bodyPr>
            <a:lstStyle>
              <a:defPPr>
                <a:defRPr lang="zh-CN"/>
              </a:defPPr>
              <a:lvl1pPr algn="ctr">
                <a:defRPr sz="5400">
                  <a:latin typeface="汉仪大宋简" panose="02010600000101010101" pitchFamily="49" charset="-122"/>
                  <a:ea typeface="汉仪大宋简" panose="02010600000101010101" pitchFamily="49" charset="-122"/>
                </a:defRPr>
              </a:lvl1pPr>
            </a:lstStyle>
            <a:p>
              <a:r>
                <a:rPr lang="en-US" altLang="zh-CN" sz="2400" b="1" dirty="0">
                  <a:solidFill>
                    <a:schemeClr val="bg1"/>
                  </a:solidFill>
                  <a:latin typeface="Calibri" panose="020F0502020204030204" pitchFamily="34" charset="0"/>
                  <a:cs typeface="Calibri" panose="020F0502020204030204" pitchFamily="34" charset="0"/>
                </a:rPr>
                <a:t>04</a:t>
              </a:r>
              <a:endParaRPr lang="zh-CN" altLang="en-US" sz="2400" b="1" dirty="0">
                <a:solidFill>
                  <a:schemeClr val="bg1"/>
                </a:solidFill>
                <a:latin typeface="Calibri" panose="020F0502020204030204" pitchFamily="34" charset="0"/>
                <a:cs typeface="Calibri" panose="020F050202020403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p14:dur="500">
        <p:push dir="u"/>
      </p:transition>
    </mc:Choice>
    <mc:Fallback>
      <p:transition>
        <p:push dir="u"/>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0" y="0"/>
            <a:ext cx="12192000" cy="6858000"/>
            <a:chOff x="0" y="0"/>
            <a:chExt cx="12192000" cy="6858000"/>
          </a:xfrm>
        </p:grpSpPr>
        <p:pic>
          <p:nvPicPr>
            <p:cNvPr id="9" name="图片 8" descr="图片包含 形状&#10;&#10;描述已自动生成"/>
            <p:cNvPicPr>
              <a:picLocks noChangeAspect="1"/>
            </p:cNvPicPr>
            <p:nvPr/>
          </p:nvPicPr>
          <p:blipFill>
            <a:blip r:embed="rId1">
              <a:extLst>
                <a:ext uri="{28A0092B-C50C-407E-A947-70E740481C1C}">
                  <a14:useLocalDpi xmlns:a14="http://schemas.microsoft.com/office/drawing/2010/main" val="0"/>
                </a:ext>
              </a:extLst>
            </a:blip>
            <a:srcRect l="1641" t="2291" b="2559"/>
            <a:stretch>
              <a:fillRect/>
            </a:stretch>
          </p:blipFill>
          <p:spPr>
            <a:xfrm>
              <a:off x="0" y="0"/>
              <a:ext cx="9893301" cy="6858000"/>
            </a:xfrm>
            <a:custGeom>
              <a:avLst/>
              <a:gdLst>
                <a:gd name="connsiteX0" fmla="*/ 0 w 9893301"/>
                <a:gd name="connsiteY0" fmla="*/ 0 h 6858000"/>
                <a:gd name="connsiteX1" fmla="*/ 9893301 w 9893301"/>
                <a:gd name="connsiteY1" fmla="*/ 0 h 6858000"/>
                <a:gd name="connsiteX2" fmla="*/ 9893301 w 9893301"/>
                <a:gd name="connsiteY2" fmla="*/ 6858000 h 6858000"/>
                <a:gd name="connsiteX3" fmla="*/ 0 w 989330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9893301" h="6858000">
                  <a:moveTo>
                    <a:pt x="0" y="0"/>
                  </a:moveTo>
                  <a:lnTo>
                    <a:pt x="9893301" y="0"/>
                  </a:lnTo>
                  <a:lnTo>
                    <a:pt x="9893301" y="6858000"/>
                  </a:lnTo>
                  <a:lnTo>
                    <a:pt x="0" y="6858000"/>
                  </a:lnTo>
                  <a:close/>
                </a:path>
              </a:pathLst>
            </a:custGeom>
          </p:spPr>
        </p:pic>
        <p:pic>
          <p:nvPicPr>
            <p:cNvPr id="16" name="图片 15" descr="图片包含 形状&#10;&#10;描述已自动生成"/>
            <p:cNvPicPr>
              <a:picLocks noChangeAspect="1"/>
            </p:cNvPicPr>
            <p:nvPr/>
          </p:nvPicPr>
          <p:blipFill>
            <a:blip r:embed="rId1">
              <a:extLst>
                <a:ext uri="{28A0092B-C50C-407E-A947-70E740481C1C}">
                  <a14:useLocalDpi xmlns:a14="http://schemas.microsoft.com/office/drawing/2010/main" val="0"/>
                </a:ext>
              </a:extLst>
            </a:blip>
            <a:srcRect l="40278" t="2291" r="1768" b="2559"/>
            <a:stretch>
              <a:fillRect/>
            </a:stretch>
          </p:blipFill>
          <p:spPr>
            <a:xfrm>
              <a:off x="6362700" y="0"/>
              <a:ext cx="5829300" cy="6858000"/>
            </a:xfrm>
            <a:custGeom>
              <a:avLst/>
              <a:gdLst>
                <a:gd name="connsiteX0" fmla="*/ 0 w 5829300"/>
                <a:gd name="connsiteY0" fmla="*/ 0 h 6858000"/>
                <a:gd name="connsiteX1" fmla="*/ 5829300 w 5829300"/>
                <a:gd name="connsiteY1" fmla="*/ 0 h 6858000"/>
                <a:gd name="connsiteX2" fmla="*/ 5829300 w 5829300"/>
                <a:gd name="connsiteY2" fmla="*/ 6858000 h 6858000"/>
                <a:gd name="connsiteX3" fmla="*/ 0 w 58293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829300" h="6858000">
                  <a:moveTo>
                    <a:pt x="0" y="0"/>
                  </a:moveTo>
                  <a:lnTo>
                    <a:pt x="5829300" y="0"/>
                  </a:lnTo>
                  <a:lnTo>
                    <a:pt x="5829300" y="6858000"/>
                  </a:lnTo>
                  <a:lnTo>
                    <a:pt x="0" y="6858000"/>
                  </a:lnTo>
                  <a:close/>
                </a:path>
              </a:pathLst>
            </a:custGeom>
          </p:spPr>
        </p:pic>
      </p:grpSp>
      <p:sp>
        <p:nvSpPr>
          <p:cNvPr id="19" name="文本框 18"/>
          <p:cNvSpPr txBox="1"/>
          <p:nvPr/>
        </p:nvSpPr>
        <p:spPr>
          <a:xfrm>
            <a:off x="1946861" y="3297535"/>
            <a:ext cx="8280400" cy="923330"/>
          </a:xfrm>
          <a:prstGeom prst="rect">
            <a:avLst/>
          </a:prstGeom>
          <a:noFill/>
        </p:spPr>
        <p:txBody>
          <a:bodyPr wrap="square" rtlCol="0">
            <a:spAutoFit/>
          </a:bodyPr>
          <a:lstStyle/>
          <a:p>
            <a:pPr algn="ctr"/>
            <a:r>
              <a:rPr lang="zh-CN" altLang="en-US" sz="5400" dirty="0">
                <a:latin typeface="汉仪大宋简" panose="02010600000101010101" pitchFamily="49" charset="-122"/>
                <a:ea typeface="汉仪大宋简" panose="02010600000101010101" pitchFamily="49" charset="-122"/>
              </a:rPr>
              <a:t>选题目的和意义</a:t>
            </a:r>
            <a:endParaRPr lang="zh-CN" altLang="en-US" sz="5400" dirty="0">
              <a:latin typeface="汉仪大宋简" panose="02010600000101010101" pitchFamily="49" charset="-122"/>
              <a:ea typeface="汉仪大宋简" panose="02010600000101010101" pitchFamily="49" charset="-122"/>
            </a:endParaRPr>
          </a:p>
        </p:txBody>
      </p:sp>
      <p:sp>
        <p:nvSpPr>
          <p:cNvPr id="21" name="文本框 20"/>
          <p:cNvSpPr txBox="1"/>
          <p:nvPr/>
        </p:nvSpPr>
        <p:spPr>
          <a:xfrm>
            <a:off x="3048000" y="4351687"/>
            <a:ext cx="6096000" cy="369332"/>
          </a:xfrm>
          <a:prstGeom prst="rect">
            <a:avLst/>
          </a:prstGeom>
          <a:noFill/>
        </p:spPr>
        <p:txBody>
          <a:bodyPr wrap="square">
            <a:spAutoFit/>
          </a:bodyPr>
          <a:lstStyle>
            <a:defPPr>
              <a:defRPr lang="zh-CN"/>
            </a:defPPr>
            <a:lvl1pPr algn="dist">
              <a:defRPr>
                <a:latin typeface="Kozuka Gothic Pr6N R" panose="020B0400000000000000" pitchFamily="34" charset="-128"/>
                <a:ea typeface="Kozuka Gothic Pr6N R" panose="020B0400000000000000" pitchFamily="34" charset="-128"/>
              </a:defRPr>
            </a:lvl1pPr>
          </a:lstStyle>
          <a:p>
            <a:r>
              <a:rPr lang="en-US" altLang="zh-CN" dirty="0"/>
              <a:t>The purpose and significance of topic selection</a:t>
            </a:r>
            <a:endParaRPr lang="zh-CN" altLang="en-US" dirty="0"/>
          </a:p>
        </p:txBody>
      </p:sp>
      <p:sp>
        <p:nvSpPr>
          <p:cNvPr id="22" name="Freeform 5"/>
          <p:cNvSpPr/>
          <p:nvPr/>
        </p:nvSpPr>
        <p:spPr>
          <a:xfrm>
            <a:off x="5293174" y="1897206"/>
            <a:ext cx="1587774" cy="923330"/>
          </a:xfrm>
          <a:custGeom>
            <a:avLst/>
            <a:gdLst/>
            <a:ahLst/>
            <a:cxnLst>
              <a:cxn ang="0">
                <a:pos x="wd2" y="hd2"/>
              </a:cxn>
              <a:cxn ang="5400000">
                <a:pos x="wd2" y="hd2"/>
              </a:cxn>
              <a:cxn ang="10800000">
                <a:pos x="wd2" y="hd2"/>
              </a:cxn>
              <a:cxn ang="16200000">
                <a:pos x="wd2" y="hd2"/>
              </a:cxn>
            </a:cxnLst>
            <a:rect l="0" t="0" r="r" b="b"/>
            <a:pathLst>
              <a:path w="21600" h="21600" extrusionOk="0">
                <a:moveTo>
                  <a:pt x="20978" y="16267"/>
                </a:moveTo>
                <a:cubicBezTo>
                  <a:pt x="20978" y="15467"/>
                  <a:pt x="20823" y="14933"/>
                  <a:pt x="20357" y="14933"/>
                </a:cubicBezTo>
                <a:cubicBezTo>
                  <a:pt x="20357" y="7200"/>
                  <a:pt x="20357" y="7200"/>
                  <a:pt x="20357" y="7200"/>
                </a:cubicBezTo>
                <a:cubicBezTo>
                  <a:pt x="21600" y="6400"/>
                  <a:pt x="21600" y="6400"/>
                  <a:pt x="21600" y="6400"/>
                </a:cubicBezTo>
                <a:cubicBezTo>
                  <a:pt x="10878" y="0"/>
                  <a:pt x="10878" y="0"/>
                  <a:pt x="10878" y="0"/>
                </a:cubicBezTo>
                <a:cubicBezTo>
                  <a:pt x="0" y="6400"/>
                  <a:pt x="0" y="6400"/>
                  <a:pt x="0" y="6400"/>
                </a:cubicBezTo>
                <a:cubicBezTo>
                  <a:pt x="10878" y="12800"/>
                  <a:pt x="10878" y="12800"/>
                  <a:pt x="10878" y="12800"/>
                </a:cubicBezTo>
                <a:cubicBezTo>
                  <a:pt x="19735" y="7467"/>
                  <a:pt x="19735" y="7467"/>
                  <a:pt x="19735" y="7467"/>
                </a:cubicBezTo>
                <a:cubicBezTo>
                  <a:pt x="19735" y="14933"/>
                  <a:pt x="19735" y="14933"/>
                  <a:pt x="19735" y="14933"/>
                </a:cubicBezTo>
                <a:cubicBezTo>
                  <a:pt x="19424" y="14933"/>
                  <a:pt x="19114" y="15467"/>
                  <a:pt x="19114" y="16267"/>
                </a:cubicBezTo>
                <a:cubicBezTo>
                  <a:pt x="19114" y="16800"/>
                  <a:pt x="19424" y="17067"/>
                  <a:pt x="19580" y="17067"/>
                </a:cubicBezTo>
                <a:cubicBezTo>
                  <a:pt x="19114" y="21600"/>
                  <a:pt x="19114" y="21600"/>
                  <a:pt x="19114" y="21600"/>
                </a:cubicBezTo>
                <a:cubicBezTo>
                  <a:pt x="20978" y="21600"/>
                  <a:pt x="20978" y="21600"/>
                  <a:pt x="20978" y="21600"/>
                </a:cubicBezTo>
                <a:cubicBezTo>
                  <a:pt x="20512" y="17067"/>
                  <a:pt x="20512" y="17067"/>
                  <a:pt x="20512" y="17067"/>
                </a:cubicBezTo>
                <a:cubicBezTo>
                  <a:pt x="20823" y="17067"/>
                  <a:pt x="20978" y="16800"/>
                  <a:pt x="20978" y="16267"/>
                </a:cubicBezTo>
                <a:close/>
                <a:moveTo>
                  <a:pt x="4351" y="11200"/>
                </a:moveTo>
                <a:cubicBezTo>
                  <a:pt x="4351" y="18400"/>
                  <a:pt x="4351" y="18400"/>
                  <a:pt x="4351" y="18400"/>
                </a:cubicBezTo>
                <a:cubicBezTo>
                  <a:pt x="4351" y="20267"/>
                  <a:pt x="7304" y="21600"/>
                  <a:pt x="10878" y="21600"/>
                </a:cubicBezTo>
                <a:cubicBezTo>
                  <a:pt x="14296" y="21600"/>
                  <a:pt x="17249" y="20267"/>
                  <a:pt x="17249" y="18400"/>
                </a:cubicBezTo>
                <a:cubicBezTo>
                  <a:pt x="17249" y="11200"/>
                  <a:pt x="17249" y="11200"/>
                  <a:pt x="17249" y="11200"/>
                </a:cubicBezTo>
                <a:cubicBezTo>
                  <a:pt x="10878" y="14933"/>
                  <a:pt x="10878" y="14933"/>
                  <a:pt x="10878" y="14933"/>
                </a:cubicBezTo>
                <a:lnTo>
                  <a:pt x="4351" y="11200"/>
                </a:lnTo>
                <a:close/>
              </a:path>
            </a:pathLst>
          </a:custGeom>
          <a:solidFill>
            <a:srgbClr val="1E1E20"/>
          </a:solidFill>
          <a:ln w="12700" cap="flat">
            <a:noFill/>
            <a:miter lim="400000"/>
          </a:ln>
          <a:effectLst/>
        </p:spPr>
        <p:txBody>
          <a:bodyPr wrap="square" lIns="91439" tIns="91439" rIns="91439" bIns="91439" numCol="1" anchor="t">
            <a:noAutofit/>
          </a:bodyPr>
          <a:lstStyle/>
          <a:p/>
        </p:txBody>
      </p:sp>
    </p:spTree>
  </p:cSld>
  <p:clrMapOvr>
    <a:masterClrMapping/>
  </p:clrMapOvr>
  <mc:AlternateContent xmlns:mc="http://schemas.openxmlformats.org/markup-compatibility/2006">
    <mc:Choice xmlns:p14="http://schemas.microsoft.com/office/powerpoint/2010/main" Requires="p14">
      <p:transition p14:dur="500">
        <p:push dir="u"/>
      </p:transition>
    </mc:Choice>
    <mc:Fallback>
      <p:transition>
        <p:push dir="u"/>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图片 16"/>
          <p:cNvPicPr>
            <a:picLocks noChangeAspect="1"/>
          </p:cNvPicPr>
          <p:nvPr/>
        </p:nvPicPr>
        <p:blipFill>
          <a:blip r:embed="rId1"/>
          <a:srcRect l="600" t="1475" r="483" b="887"/>
          <a:stretch>
            <a:fillRect/>
          </a:stretch>
        </p:blipFill>
        <p:spPr>
          <a:xfrm>
            <a:off x="0" y="0"/>
            <a:ext cx="12192000" cy="6858000"/>
          </a:xfrm>
          <a:custGeom>
            <a:avLst/>
            <a:gdLst>
              <a:gd name="connsiteX0" fmla="*/ 0 w 12060000"/>
              <a:gd name="connsiteY0" fmla="*/ 0 h 6696000"/>
              <a:gd name="connsiteX1" fmla="*/ 12060000 w 12060000"/>
              <a:gd name="connsiteY1" fmla="*/ 0 h 6696000"/>
              <a:gd name="connsiteX2" fmla="*/ 12060000 w 12060000"/>
              <a:gd name="connsiteY2" fmla="*/ 6696000 h 6696000"/>
              <a:gd name="connsiteX3" fmla="*/ 0 w 12060000"/>
              <a:gd name="connsiteY3" fmla="*/ 6696000 h 6696000"/>
            </a:gdLst>
            <a:ahLst/>
            <a:cxnLst>
              <a:cxn ang="0">
                <a:pos x="connsiteX0" y="connsiteY0"/>
              </a:cxn>
              <a:cxn ang="0">
                <a:pos x="connsiteX1" y="connsiteY1"/>
              </a:cxn>
              <a:cxn ang="0">
                <a:pos x="connsiteX2" y="connsiteY2"/>
              </a:cxn>
              <a:cxn ang="0">
                <a:pos x="connsiteX3" y="connsiteY3"/>
              </a:cxn>
            </a:cxnLst>
            <a:rect l="l" t="t" r="r" b="b"/>
            <a:pathLst>
              <a:path w="12060000" h="6696000">
                <a:moveTo>
                  <a:pt x="0" y="0"/>
                </a:moveTo>
                <a:lnTo>
                  <a:pt x="12060000" y="0"/>
                </a:lnTo>
                <a:lnTo>
                  <a:pt x="12060000" y="6696000"/>
                </a:lnTo>
                <a:lnTo>
                  <a:pt x="0" y="6696000"/>
                </a:lnTo>
                <a:close/>
              </a:path>
            </a:pathLst>
          </a:custGeom>
        </p:spPr>
      </p:pic>
      <p:sp>
        <p:nvSpPr>
          <p:cNvPr id="34" name="矩形 33"/>
          <p:cNvSpPr/>
          <p:nvPr/>
        </p:nvSpPr>
        <p:spPr>
          <a:xfrm rot="2700000">
            <a:off x="4893065" y="2531459"/>
            <a:ext cx="2405870" cy="240587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L 形 34"/>
          <p:cNvSpPr/>
          <p:nvPr/>
        </p:nvSpPr>
        <p:spPr>
          <a:xfrm rot="2700000">
            <a:off x="4320517" y="3516547"/>
            <a:ext cx="440457" cy="440457"/>
          </a:xfrm>
          <a:prstGeom prst="corner">
            <a:avLst>
              <a:gd name="adj1" fmla="val 25471"/>
              <a:gd name="adj2" fmla="val 245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L 形 35"/>
          <p:cNvSpPr/>
          <p:nvPr/>
        </p:nvSpPr>
        <p:spPr>
          <a:xfrm rot="18900000" flipH="1">
            <a:off x="7431029" y="3516547"/>
            <a:ext cx="440457" cy="440457"/>
          </a:xfrm>
          <a:prstGeom prst="corner">
            <a:avLst>
              <a:gd name="adj1" fmla="val 25471"/>
              <a:gd name="adj2" fmla="val 24528"/>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7" name="组合 86"/>
          <p:cNvGrpSpPr/>
          <p:nvPr/>
        </p:nvGrpSpPr>
        <p:grpSpPr>
          <a:xfrm>
            <a:off x="5746364" y="3347781"/>
            <a:ext cx="699272" cy="700445"/>
            <a:chOff x="10034345" y="3742769"/>
            <a:chExt cx="395089" cy="395752"/>
          </a:xfrm>
          <a:solidFill>
            <a:schemeClr val="tx1"/>
          </a:solidFill>
        </p:grpSpPr>
        <p:sp>
          <p:nvSpPr>
            <p:cNvPr id="88" name="Freeform 336"/>
            <p:cNvSpPr/>
            <p:nvPr/>
          </p:nvSpPr>
          <p:spPr>
            <a:xfrm>
              <a:off x="10102699" y="3858267"/>
              <a:ext cx="257014" cy="69723"/>
            </a:xfrm>
            <a:custGeom>
              <a:avLst/>
              <a:gdLst/>
              <a:ahLst/>
              <a:cxnLst>
                <a:cxn ang="0">
                  <a:pos x="wd2" y="hd2"/>
                </a:cxn>
                <a:cxn ang="5400000">
                  <a:pos x="wd2" y="hd2"/>
                </a:cxn>
                <a:cxn ang="10800000">
                  <a:pos x="wd2" y="hd2"/>
                </a:cxn>
                <a:cxn ang="16200000">
                  <a:pos x="wd2" y="hd2"/>
                </a:cxn>
              </a:cxnLst>
              <a:rect l="0" t="0" r="r" b="b"/>
              <a:pathLst>
                <a:path w="21600" h="21600" extrusionOk="0">
                  <a:moveTo>
                    <a:pt x="19742" y="8640"/>
                  </a:moveTo>
                  <a:cubicBezTo>
                    <a:pt x="19742" y="21600"/>
                    <a:pt x="19742" y="21600"/>
                    <a:pt x="19742" y="21600"/>
                  </a:cubicBezTo>
                  <a:cubicBezTo>
                    <a:pt x="21600" y="16416"/>
                    <a:pt x="21600" y="16416"/>
                    <a:pt x="21600" y="16416"/>
                  </a:cubicBezTo>
                  <a:cubicBezTo>
                    <a:pt x="21600" y="8640"/>
                    <a:pt x="21600" y="8640"/>
                    <a:pt x="21600" y="8640"/>
                  </a:cubicBezTo>
                  <a:cubicBezTo>
                    <a:pt x="21600" y="4320"/>
                    <a:pt x="20439" y="0"/>
                    <a:pt x="19277" y="0"/>
                  </a:cubicBezTo>
                  <a:cubicBezTo>
                    <a:pt x="2323" y="0"/>
                    <a:pt x="2323" y="0"/>
                    <a:pt x="2323" y="0"/>
                  </a:cubicBezTo>
                  <a:cubicBezTo>
                    <a:pt x="1161" y="0"/>
                    <a:pt x="0" y="4320"/>
                    <a:pt x="0" y="8640"/>
                  </a:cubicBezTo>
                  <a:cubicBezTo>
                    <a:pt x="0" y="16416"/>
                    <a:pt x="0" y="16416"/>
                    <a:pt x="0" y="16416"/>
                  </a:cubicBezTo>
                  <a:cubicBezTo>
                    <a:pt x="1858" y="21600"/>
                    <a:pt x="1858" y="21600"/>
                    <a:pt x="1858" y="21600"/>
                  </a:cubicBezTo>
                  <a:cubicBezTo>
                    <a:pt x="1858" y="8640"/>
                    <a:pt x="1858" y="8640"/>
                    <a:pt x="1858" y="8640"/>
                  </a:cubicBezTo>
                  <a:cubicBezTo>
                    <a:pt x="1858" y="7776"/>
                    <a:pt x="2090" y="6912"/>
                    <a:pt x="2323" y="6912"/>
                  </a:cubicBezTo>
                  <a:cubicBezTo>
                    <a:pt x="19277" y="6912"/>
                    <a:pt x="19277" y="6912"/>
                    <a:pt x="19277" y="6912"/>
                  </a:cubicBezTo>
                  <a:cubicBezTo>
                    <a:pt x="19510" y="6912"/>
                    <a:pt x="19742" y="7776"/>
                    <a:pt x="19742" y="8640"/>
                  </a:cubicBezTo>
                  <a:close/>
                </a:path>
              </a:pathLst>
            </a:custGeom>
            <a:grpFill/>
            <a:ln w="12700" cap="flat">
              <a:noFill/>
              <a:miter lim="400000"/>
            </a:ln>
            <a:effectLst/>
          </p:spPr>
          <p:txBody>
            <a:bodyPr wrap="square" lIns="45720" tIns="45720" rIns="45720" bIns="45720" numCol="1" anchor="t">
              <a:noAutofit/>
            </a:bodyPr>
            <a:lstStyle/>
            <a:p>
              <a:endParaRPr sz="900"/>
            </a:p>
          </p:txBody>
        </p:sp>
        <p:sp>
          <p:nvSpPr>
            <p:cNvPr id="89" name="Freeform 337"/>
            <p:cNvSpPr/>
            <p:nvPr/>
          </p:nvSpPr>
          <p:spPr>
            <a:xfrm>
              <a:off x="10134142" y="3892444"/>
              <a:ext cx="192760" cy="21874"/>
            </a:xfrm>
            <a:custGeom>
              <a:avLst/>
              <a:gdLst/>
              <a:ahLst/>
              <a:cxnLst>
                <a:cxn ang="0">
                  <a:pos x="wd2" y="hd2"/>
                </a:cxn>
                <a:cxn ang="5400000">
                  <a:pos x="wd2" y="hd2"/>
                </a:cxn>
                <a:cxn ang="10800000">
                  <a:pos x="wd2" y="hd2"/>
                </a:cxn>
                <a:cxn ang="16200000">
                  <a:pos x="wd2" y="hd2"/>
                </a:cxn>
              </a:cxnLst>
              <a:rect l="0" t="0" r="r" b="b"/>
              <a:pathLst>
                <a:path w="21600" h="21600" extrusionOk="0">
                  <a:moveTo>
                    <a:pt x="1234" y="21600"/>
                  </a:moveTo>
                  <a:cubicBezTo>
                    <a:pt x="20366" y="21600"/>
                    <a:pt x="20366" y="21600"/>
                    <a:pt x="20366" y="21600"/>
                  </a:cubicBezTo>
                  <a:cubicBezTo>
                    <a:pt x="20983" y="21600"/>
                    <a:pt x="21600" y="18900"/>
                    <a:pt x="21600" y="10800"/>
                  </a:cubicBezTo>
                  <a:cubicBezTo>
                    <a:pt x="21600" y="5400"/>
                    <a:pt x="20983" y="0"/>
                    <a:pt x="20366" y="0"/>
                  </a:cubicBezTo>
                  <a:cubicBezTo>
                    <a:pt x="1234" y="0"/>
                    <a:pt x="1234" y="0"/>
                    <a:pt x="1234" y="0"/>
                  </a:cubicBezTo>
                  <a:cubicBezTo>
                    <a:pt x="617" y="0"/>
                    <a:pt x="0" y="5400"/>
                    <a:pt x="0" y="10800"/>
                  </a:cubicBezTo>
                  <a:cubicBezTo>
                    <a:pt x="0" y="18900"/>
                    <a:pt x="617" y="21600"/>
                    <a:pt x="1234" y="21600"/>
                  </a:cubicBezTo>
                  <a:close/>
                </a:path>
              </a:pathLst>
            </a:custGeom>
            <a:grpFill/>
            <a:ln w="12700" cap="flat">
              <a:noFill/>
              <a:miter lim="400000"/>
            </a:ln>
            <a:effectLst/>
          </p:spPr>
          <p:txBody>
            <a:bodyPr wrap="square" lIns="45720" tIns="45720" rIns="45720" bIns="45720" numCol="1" anchor="t">
              <a:noAutofit/>
            </a:bodyPr>
            <a:lstStyle/>
            <a:p>
              <a:endParaRPr sz="900"/>
            </a:p>
          </p:txBody>
        </p:sp>
        <p:sp>
          <p:nvSpPr>
            <p:cNvPr id="90" name="Freeform 338"/>
            <p:cNvSpPr/>
            <p:nvPr/>
          </p:nvSpPr>
          <p:spPr>
            <a:xfrm>
              <a:off x="10134142" y="3925254"/>
              <a:ext cx="192760" cy="21874"/>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5400"/>
                    <a:pt x="20983" y="0"/>
                    <a:pt x="20366" y="0"/>
                  </a:cubicBezTo>
                  <a:cubicBezTo>
                    <a:pt x="1234" y="0"/>
                    <a:pt x="1234" y="0"/>
                    <a:pt x="1234" y="0"/>
                  </a:cubicBezTo>
                  <a:cubicBezTo>
                    <a:pt x="617" y="0"/>
                    <a:pt x="309" y="5400"/>
                    <a:pt x="0" y="10800"/>
                  </a:cubicBezTo>
                  <a:cubicBezTo>
                    <a:pt x="1851" y="21600"/>
                    <a:pt x="1851" y="21600"/>
                    <a:pt x="1851" y="21600"/>
                  </a:cubicBezTo>
                  <a:cubicBezTo>
                    <a:pt x="19749" y="21600"/>
                    <a:pt x="19749" y="21600"/>
                    <a:pt x="19749" y="21600"/>
                  </a:cubicBezTo>
                  <a:lnTo>
                    <a:pt x="21600" y="10800"/>
                  </a:lnTo>
                  <a:close/>
                </a:path>
              </a:pathLst>
            </a:custGeom>
            <a:grpFill/>
            <a:ln w="12700" cap="flat">
              <a:noFill/>
              <a:miter lim="400000"/>
            </a:ln>
            <a:effectLst/>
          </p:spPr>
          <p:txBody>
            <a:bodyPr wrap="square" lIns="45720" tIns="45720" rIns="45720" bIns="45720" numCol="1" anchor="t">
              <a:noAutofit/>
            </a:bodyPr>
            <a:lstStyle/>
            <a:p>
              <a:endParaRPr sz="900"/>
            </a:p>
          </p:txBody>
        </p:sp>
        <p:sp>
          <p:nvSpPr>
            <p:cNvPr id="91" name="Freeform 339"/>
            <p:cNvSpPr/>
            <p:nvPr/>
          </p:nvSpPr>
          <p:spPr>
            <a:xfrm>
              <a:off x="10177889" y="3958064"/>
              <a:ext cx="105266" cy="21874"/>
            </a:xfrm>
            <a:custGeom>
              <a:avLst/>
              <a:gdLst/>
              <a:ahLst/>
              <a:cxnLst>
                <a:cxn ang="0">
                  <a:pos x="wd2" y="hd2"/>
                </a:cxn>
                <a:cxn ang="5400000">
                  <a:pos x="wd2" y="hd2"/>
                </a:cxn>
                <a:cxn ang="10800000">
                  <a:pos x="wd2" y="hd2"/>
                </a:cxn>
                <a:cxn ang="16200000">
                  <a:pos x="wd2" y="hd2"/>
                </a:cxn>
              </a:cxnLst>
              <a:rect l="0" t="0" r="r" b="b"/>
              <a:pathLst>
                <a:path w="21600" h="21600" extrusionOk="0">
                  <a:moveTo>
                    <a:pt x="16484" y="16200"/>
                  </a:moveTo>
                  <a:cubicBezTo>
                    <a:pt x="17621" y="21600"/>
                    <a:pt x="17621" y="21600"/>
                    <a:pt x="17621" y="21600"/>
                  </a:cubicBezTo>
                  <a:cubicBezTo>
                    <a:pt x="18758" y="21600"/>
                    <a:pt x="18758" y="21600"/>
                    <a:pt x="18758" y="21600"/>
                  </a:cubicBezTo>
                  <a:cubicBezTo>
                    <a:pt x="21600" y="10800"/>
                    <a:pt x="21600" y="10800"/>
                    <a:pt x="21600" y="10800"/>
                  </a:cubicBezTo>
                  <a:cubicBezTo>
                    <a:pt x="21600" y="5400"/>
                    <a:pt x="20463" y="0"/>
                    <a:pt x="19326" y="0"/>
                  </a:cubicBezTo>
                  <a:cubicBezTo>
                    <a:pt x="2274" y="0"/>
                    <a:pt x="2274" y="0"/>
                    <a:pt x="2274" y="0"/>
                  </a:cubicBezTo>
                  <a:cubicBezTo>
                    <a:pt x="1137" y="0"/>
                    <a:pt x="0" y="2700"/>
                    <a:pt x="0" y="8100"/>
                  </a:cubicBezTo>
                  <a:cubicBezTo>
                    <a:pt x="3411" y="21600"/>
                    <a:pt x="3411" y="21600"/>
                    <a:pt x="3411" y="21600"/>
                  </a:cubicBezTo>
                  <a:cubicBezTo>
                    <a:pt x="4547" y="21600"/>
                    <a:pt x="4547" y="21600"/>
                    <a:pt x="4547" y="21600"/>
                  </a:cubicBezTo>
                  <a:cubicBezTo>
                    <a:pt x="5684" y="16200"/>
                    <a:pt x="5684" y="16200"/>
                    <a:pt x="5684" y="16200"/>
                  </a:cubicBezTo>
                  <a:cubicBezTo>
                    <a:pt x="8526" y="5400"/>
                    <a:pt x="13074" y="5400"/>
                    <a:pt x="16484" y="16200"/>
                  </a:cubicBezTo>
                  <a:close/>
                </a:path>
              </a:pathLst>
            </a:custGeom>
            <a:grpFill/>
            <a:ln w="12700" cap="flat">
              <a:noFill/>
              <a:miter lim="400000"/>
            </a:ln>
            <a:effectLst/>
          </p:spPr>
          <p:txBody>
            <a:bodyPr wrap="square" lIns="45720" tIns="45720" rIns="45720" bIns="45720" numCol="1" anchor="t">
              <a:noAutofit/>
            </a:bodyPr>
            <a:lstStyle/>
            <a:p>
              <a:endParaRPr sz="900"/>
            </a:p>
          </p:txBody>
        </p:sp>
        <p:sp>
          <p:nvSpPr>
            <p:cNvPr id="92" name="Freeform 340"/>
            <p:cNvSpPr/>
            <p:nvPr/>
          </p:nvSpPr>
          <p:spPr>
            <a:xfrm>
              <a:off x="10034345" y="3742769"/>
              <a:ext cx="395089" cy="395752"/>
            </a:xfrm>
            <a:custGeom>
              <a:avLst/>
              <a:gdLst/>
              <a:ahLst/>
              <a:cxnLst>
                <a:cxn ang="0">
                  <a:pos x="wd2" y="hd2"/>
                </a:cxn>
                <a:cxn ang="5400000">
                  <a:pos x="wd2" y="hd2"/>
                </a:cxn>
                <a:cxn ang="10800000">
                  <a:pos x="wd2" y="hd2"/>
                </a:cxn>
                <a:cxn ang="16200000">
                  <a:pos x="wd2" y="hd2"/>
                </a:cxn>
              </a:cxnLst>
              <a:rect l="0" t="0" r="r" b="b"/>
              <a:pathLst>
                <a:path w="21600" h="21488" extrusionOk="0">
                  <a:moveTo>
                    <a:pt x="0" y="9188"/>
                  </a:moveTo>
                  <a:cubicBezTo>
                    <a:pt x="0" y="19988"/>
                    <a:pt x="0" y="19988"/>
                    <a:pt x="0" y="19988"/>
                  </a:cubicBezTo>
                  <a:cubicBezTo>
                    <a:pt x="0" y="20438"/>
                    <a:pt x="151" y="20888"/>
                    <a:pt x="453" y="21038"/>
                  </a:cubicBezTo>
                  <a:cubicBezTo>
                    <a:pt x="604" y="21188"/>
                    <a:pt x="906" y="21338"/>
                    <a:pt x="1057" y="21338"/>
                  </a:cubicBezTo>
                  <a:cubicBezTo>
                    <a:pt x="1208" y="21488"/>
                    <a:pt x="1359" y="21488"/>
                    <a:pt x="1510" y="21488"/>
                  </a:cubicBezTo>
                  <a:cubicBezTo>
                    <a:pt x="20090" y="21488"/>
                    <a:pt x="20090" y="21488"/>
                    <a:pt x="20090" y="21488"/>
                  </a:cubicBezTo>
                  <a:cubicBezTo>
                    <a:pt x="20241" y="21488"/>
                    <a:pt x="20392" y="21488"/>
                    <a:pt x="20543" y="21338"/>
                  </a:cubicBezTo>
                  <a:cubicBezTo>
                    <a:pt x="20543" y="21338"/>
                    <a:pt x="20694" y="21338"/>
                    <a:pt x="20694" y="21338"/>
                  </a:cubicBezTo>
                  <a:cubicBezTo>
                    <a:pt x="20694" y="21338"/>
                    <a:pt x="20694" y="21338"/>
                    <a:pt x="20694" y="21338"/>
                  </a:cubicBezTo>
                  <a:cubicBezTo>
                    <a:pt x="20845" y="21338"/>
                    <a:pt x="20845" y="21338"/>
                    <a:pt x="20996" y="21188"/>
                  </a:cubicBezTo>
                  <a:cubicBezTo>
                    <a:pt x="20996" y="21188"/>
                    <a:pt x="20996" y="21188"/>
                    <a:pt x="20996" y="21188"/>
                  </a:cubicBezTo>
                  <a:cubicBezTo>
                    <a:pt x="20996" y="21188"/>
                    <a:pt x="20996" y="21188"/>
                    <a:pt x="21147" y="21038"/>
                  </a:cubicBezTo>
                  <a:cubicBezTo>
                    <a:pt x="21449" y="20888"/>
                    <a:pt x="21600" y="20438"/>
                    <a:pt x="21600" y="19988"/>
                  </a:cubicBezTo>
                  <a:cubicBezTo>
                    <a:pt x="21600" y="9188"/>
                    <a:pt x="21600" y="9188"/>
                    <a:pt x="21600" y="9188"/>
                  </a:cubicBezTo>
                  <a:cubicBezTo>
                    <a:pt x="21600" y="8738"/>
                    <a:pt x="21600" y="8738"/>
                    <a:pt x="21600" y="8738"/>
                  </a:cubicBezTo>
                  <a:cubicBezTo>
                    <a:pt x="21600" y="8438"/>
                    <a:pt x="21449" y="7988"/>
                    <a:pt x="21298" y="7688"/>
                  </a:cubicBezTo>
                  <a:cubicBezTo>
                    <a:pt x="21147" y="7388"/>
                    <a:pt x="20996" y="7088"/>
                    <a:pt x="20694" y="6938"/>
                  </a:cubicBezTo>
                  <a:cubicBezTo>
                    <a:pt x="11782" y="338"/>
                    <a:pt x="11782" y="338"/>
                    <a:pt x="11782" y="338"/>
                  </a:cubicBezTo>
                  <a:cubicBezTo>
                    <a:pt x="11329" y="-112"/>
                    <a:pt x="10271" y="-112"/>
                    <a:pt x="9667" y="338"/>
                  </a:cubicBezTo>
                  <a:cubicBezTo>
                    <a:pt x="906" y="6938"/>
                    <a:pt x="906" y="6938"/>
                    <a:pt x="906" y="6938"/>
                  </a:cubicBezTo>
                  <a:cubicBezTo>
                    <a:pt x="604" y="7088"/>
                    <a:pt x="453" y="7388"/>
                    <a:pt x="302" y="7688"/>
                  </a:cubicBezTo>
                  <a:cubicBezTo>
                    <a:pt x="151" y="7988"/>
                    <a:pt x="0" y="8438"/>
                    <a:pt x="0" y="8738"/>
                  </a:cubicBezTo>
                  <a:lnTo>
                    <a:pt x="0" y="9188"/>
                  </a:lnTo>
                  <a:close/>
                  <a:moveTo>
                    <a:pt x="18277" y="20288"/>
                  </a:moveTo>
                  <a:cubicBezTo>
                    <a:pt x="3323" y="20288"/>
                    <a:pt x="3323" y="20288"/>
                    <a:pt x="3323" y="20288"/>
                  </a:cubicBezTo>
                  <a:cubicBezTo>
                    <a:pt x="2266" y="20288"/>
                    <a:pt x="2266" y="20288"/>
                    <a:pt x="2266" y="20288"/>
                  </a:cubicBezTo>
                  <a:cubicBezTo>
                    <a:pt x="10422" y="14138"/>
                    <a:pt x="10422" y="14138"/>
                    <a:pt x="10422" y="14138"/>
                  </a:cubicBezTo>
                  <a:cubicBezTo>
                    <a:pt x="10573" y="13988"/>
                    <a:pt x="10876" y="13988"/>
                    <a:pt x="11178" y="14138"/>
                  </a:cubicBezTo>
                  <a:cubicBezTo>
                    <a:pt x="19334" y="20288"/>
                    <a:pt x="19334" y="20288"/>
                    <a:pt x="19334" y="20288"/>
                  </a:cubicBezTo>
                  <a:lnTo>
                    <a:pt x="18277" y="20288"/>
                  </a:lnTo>
                  <a:close/>
                  <a:moveTo>
                    <a:pt x="1208" y="18788"/>
                  </a:moveTo>
                  <a:cubicBezTo>
                    <a:pt x="1208" y="10238"/>
                    <a:pt x="1208" y="10238"/>
                    <a:pt x="1208" y="10238"/>
                  </a:cubicBezTo>
                  <a:cubicBezTo>
                    <a:pt x="1208" y="9488"/>
                    <a:pt x="1208" y="9488"/>
                    <a:pt x="1208" y="9488"/>
                  </a:cubicBezTo>
                  <a:cubicBezTo>
                    <a:pt x="7401" y="14138"/>
                    <a:pt x="7401" y="14138"/>
                    <a:pt x="7401" y="14138"/>
                  </a:cubicBezTo>
                  <a:cubicBezTo>
                    <a:pt x="8459" y="13388"/>
                    <a:pt x="8459" y="13388"/>
                    <a:pt x="8459" y="13388"/>
                  </a:cubicBezTo>
                  <a:cubicBezTo>
                    <a:pt x="1359" y="8138"/>
                    <a:pt x="1359" y="8138"/>
                    <a:pt x="1359" y="8138"/>
                  </a:cubicBezTo>
                  <a:cubicBezTo>
                    <a:pt x="1510" y="7988"/>
                    <a:pt x="1510" y="7988"/>
                    <a:pt x="1662" y="7838"/>
                  </a:cubicBezTo>
                  <a:cubicBezTo>
                    <a:pt x="1813" y="7688"/>
                    <a:pt x="1813" y="7688"/>
                    <a:pt x="1813" y="7688"/>
                  </a:cubicBezTo>
                  <a:cubicBezTo>
                    <a:pt x="10422" y="1238"/>
                    <a:pt x="10422" y="1238"/>
                    <a:pt x="10422" y="1238"/>
                  </a:cubicBezTo>
                  <a:cubicBezTo>
                    <a:pt x="10573" y="1238"/>
                    <a:pt x="10724" y="1238"/>
                    <a:pt x="10724" y="1238"/>
                  </a:cubicBezTo>
                  <a:cubicBezTo>
                    <a:pt x="10876" y="1238"/>
                    <a:pt x="11027" y="1238"/>
                    <a:pt x="11178" y="1238"/>
                  </a:cubicBezTo>
                  <a:cubicBezTo>
                    <a:pt x="19787" y="7688"/>
                    <a:pt x="19787" y="7688"/>
                    <a:pt x="19787" y="7688"/>
                  </a:cubicBezTo>
                  <a:cubicBezTo>
                    <a:pt x="19938" y="7838"/>
                    <a:pt x="19938" y="7838"/>
                    <a:pt x="19938" y="7838"/>
                  </a:cubicBezTo>
                  <a:cubicBezTo>
                    <a:pt x="20090" y="7988"/>
                    <a:pt x="20090" y="7988"/>
                    <a:pt x="20241" y="8138"/>
                  </a:cubicBezTo>
                  <a:cubicBezTo>
                    <a:pt x="20241" y="8138"/>
                    <a:pt x="20241" y="8138"/>
                    <a:pt x="20241" y="8138"/>
                  </a:cubicBezTo>
                  <a:cubicBezTo>
                    <a:pt x="13141" y="13388"/>
                    <a:pt x="13141" y="13388"/>
                    <a:pt x="13141" y="13388"/>
                  </a:cubicBezTo>
                  <a:cubicBezTo>
                    <a:pt x="14199" y="14138"/>
                    <a:pt x="14199" y="14138"/>
                    <a:pt x="14199" y="14138"/>
                  </a:cubicBezTo>
                  <a:cubicBezTo>
                    <a:pt x="20392" y="9488"/>
                    <a:pt x="20392" y="9488"/>
                    <a:pt x="20392" y="9488"/>
                  </a:cubicBezTo>
                  <a:cubicBezTo>
                    <a:pt x="20392" y="10238"/>
                    <a:pt x="20392" y="10238"/>
                    <a:pt x="20392" y="10238"/>
                  </a:cubicBezTo>
                  <a:cubicBezTo>
                    <a:pt x="20392" y="18788"/>
                    <a:pt x="20392" y="18788"/>
                    <a:pt x="20392" y="18788"/>
                  </a:cubicBezTo>
                  <a:cubicBezTo>
                    <a:pt x="20392" y="19538"/>
                    <a:pt x="20392" y="19538"/>
                    <a:pt x="20392" y="19538"/>
                  </a:cubicBezTo>
                  <a:cubicBezTo>
                    <a:pt x="11782" y="13238"/>
                    <a:pt x="11782" y="13238"/>
                    <a:pt x="11782" y="13238"/>
                  </a:cubicBezTo>
                  <a:cubicBezTo>
                    <a:pt x="11178" y="12788"/>
                    <a:pt x="10271" y="12788"/>
                    <a:pt x="9667" y="13238"/>
                  </a:cubicBezTo>
                  <a:cubicBezTo>
                    <a:pt x="1208" y="19538"/>
                    <a:pt x="1208" y="19538"/>
                    <a:pt x="1208" y="19538"/>
                  </a:cubicBezTo>
                  <a:lnTo>
                    <a:pt x="1208" y="18788"/>
                  </a:lnTo>
                  <a:close/>
                </a:path>
              </a:pathLst>
            </a:custGeom>
            <a:grpFill/>
            <a:ln w="12700" cap="flat">
              <a:noFill/>
              <a:miter lim="400000"/>
            </a:ln>
            <a:effectLst/>
          </p:spPr>
          <p:txBody>
            <a:bodyPr wrap="square" lIns="45720" tIns="45720" rIns="45720" bIns="45720" numCol="1" anchor="t">
              <a:noAutofit/>
            </a:bodyPr>
            <a:lstStyle/>
            <a:p>
              <a:endParaRPr sz="900"/>
            </a:p>
          </p:txBody>
        </p:sp>
      </p:grpSp>
      <p:sp>
        <p:nvSpPr>
          <p:cNvPr id="93" name="矩形 92"/>
          <p:cNvSpPr/>
          <p:nvPr/>
        </p:nvSpPr>
        <p:spPr>
          <a:xfrm rot="2700000">
            <a:off x="5053727" y="2667204"/>
            <a:ext cx="2084546" cy="2084546"/>
          </a:xfrm>
          <a:prstGeom prst="rect">
            <a:avLst/>
          </a:prstGeom>
          <a:noFill/>
          <a:ln w="3175">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文本框 46"/>
          <p:cNvSpPr txBox="1"/>
          <p:nvPr/>
        </p:nvSpPr>
        <p:spPr>
          <a:xfrm>
            <a:off x="4615543" y="606026"/>
            <a:ext cx="2960914" cy="460375"/>
          </a:xfrm>
          <a:prstGeom prst="rect">
            <a:avLst/>
          </a:prstGeom>
          <a:noFill/>
        </p:spPr>
        <p:txBody>
          <a:bodyPr wrap="square" rtlCol="0">
            <a:spAutoFit/>
          </a:bodyPr>
          <a:lstStyle>
            <a:defPPr>
              <a:defRPr lang="zh-CN"/>
            </a:defPPr>
            <a:lvl1pPr algn="ctr">
              <a:defRPr sz="5400">
                <a:latin typeface="汉仪大宋简" panose="02010600000101010101" pitchFamily="49" charset="-122"/>
                <a:ea typeface="汉仪大宋简" panose="02010600000101010101" pitchFamily="49" charset="-122"/>
              </a:defRPr>
            </a:lvl1pPr>
          </a:lstStyle>
          <a:p>
            <a:r>
              <a:rPr lang="zh-CN" altLang="en-US" sz="2400" dirty="0"/>
              <a:t>论文</a:t>
            </a:r>
            <a:r>
              <a:rPr lang="zh-CN" altLang="en-US" sz="2400" dirty="0"/>
              <a:t>目的与意义</a:t>
            </a:r>
            <a:endParaRPr lang="zh-CN" altLang="en-US" sz="2400" dirty="0"/>
          </a:p>
        </p:txBody>
      </p:sp>
      <p:grpSp>
        <p:nvGrpSpPr>
          <p:cNvPr id="3" name="组合 2"/>
          <p:cNvGrpSpPr/>
          <p:nvPr/>
        </p:nvGrpSpPr>
        <p:grpSpPr>
          <a:xfrm>
            <a:off x="7962705" y="1877010"/>
            <a:ext cx="3105464" cy="1321661"/>
            <a:chOff x="7962705" y="1877010"/>
            <a:chExt cx="3105464" cy="1321661"/>
          </a:xfrm>
        </p:grpSpPr>
        <p:cxnSp>
          <p:nvCxnSpPr>
            <p:cNvPr id="39" name="直接连接符 38"/>
            <p:cNvCxnSpPr/>
            <p:nvPr/>
          </p:nvCxnSpPr>
          <p:spPr>
            <a:xfrm>
              <a:off x="8076223" y="3198671"/>
              <a:ext cx="3937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8" name="组合 47"/>
            <p:cNvGrpSpPr/>
            <p:nvPr/>
          </p:nvGrpSpPr>
          <p:grpSpPr>
            <a:xfrm>
              <a:off x="7962705" y="1877010"/>
              <a:ext cx="3105464" cy="922020"/>
              <a:chOff x="7367646" y="2023825"/>
              <a:chExt cx="3105464" cy="922020"/>
            </a:xfrm>
          </p:grpSpPr>
          <p:sp>
            <p:nvSpPr>
              <p:cNvPr id="49" name="文本框 48"/>
              <p:cNvSpPr txBox="1"/>
              <p:nvPr/>
            </p:nvSpPr>
            <p:spPr>
              <a:xfrm>
                <a:off x="7367646" y="2023825"/>
                <a:ext cx="1947034" cy="92202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dirty="0">
                    <a:latin typeface="Noto Sans S Chinese Regular" panose="020B0500000000000000" pitchFamily="34" charset="-122"/>
                    <a:ea typeface="Noto Sans S Chinese Regular" panose="020B0500000000000000" pitchFamily="34" charset="-122"/>
                    <a:cs typeface="文泉驿等宽微米黑" panose="020B0606030804020204" pitchFamily="34" charset="-122"/>
                  </a:rPr>
                  <a:t>降低了送餐员的油耗成本，使送餐员盈利最大化。</a:t>
                </a:r>
                <a:endParaRPr lang="zh-CN" altLang="en-US" dirty="0">
                  <a:latin typeface="Noto Sans S Chinese Regular" panose="020B0500000000000000" pitchFamily="34" charset="-122"/>
                  <a:ea typeface="Noto Sans S Chinese Regular" panose="020B0500000000000000" pitchFamily="34" charset="-122"/>
                  <a:cs typeface="文泉驿等宽微米黑" panose="020B0606030804020204" pitchFamily="34" charset="-122"/>
                </a:endParaRPr>
              </a:p>
            </p:txBody>
          </p:sp>
          <p:sp>
            <p:nvSpPr>
              <p:cNvPr id="50" name="文本框 49"/>
              <p:cNvSpPr txBox="1"/>
              <p:nvPr/>
            </p:nvSpPr>
            <p:spPr>
              <a:xfrm>
                <a:off x="7367646" y="2349107"/>
                <a:ext cx="3105464" cy="368300"/>
              </a:xfrm>
              <a:prstGeom prst="rect">
                <a:avLst/>
              </a:prstGeom>
              <a:noFill/>
            </p:spPr>
            <p:txBody>
              <a:bodyPr wrap="square" rtlCol="0">
                <a:spAutoFit/>
              </a:bodyPr>
              <a:lstStyle>
                <a:defPPr>
                  <a:defRPr lang="zh-CN"/>
                </a:defPPr>
                <a:lvl1pPr algn="dist">
                  <a:defRPr>
                    <a:latin typeface="华文仿宋" panose="02010600040101010101" pitchFamily="2" charset="-122"/>
                    <a:ea typeface="华文仿宋" panose="02010600040101010101" pitchFamily="2" charset="-122"/>
                  </a:defRPr>
                </a:lvl1pPr>
              </a:lstStyle>
              <a:p>
                <a:pPr algn="l">
                  <a:lnSpc>
                    <a:spcPct val="150000"/>
                  </a:lnSpc>
                </a:pPr>
                <a:endParaRPr lang="en-US" altLang="zh-CN" sz="1200" dirty="0">
                  <a:latin typeface="Noto Sans S Chinese Regular" panose="020B0500000000000000" pitchFamily="34" charset="-122"/>
                  <a:ea typeface="Noto Sans S Chinese Regular" panose="020B0500000000000000" pitchFamily="34" charset="-122"/>
                  <a:cs typeface="文泉驿等宽微米黑" panose="020B0606030804020204" pitchFamily="34" charset="-122"/>
                </a:endParaRPr>
              </a:p>
            </p:txBody>
          </p:sp>
        </p:grpSp>
      </p:grpSp>
      <p:grpSp>
        <p:nvGrpSpPr>
          <p:cNvPr id="51" name="组合 50"/>
          <p:cNvGrpSpPr/>
          <p:nvPr/>
        </p:nvGrpSpPr>
        <p:grpSpPr>
          <a:xfrm>
            <a:off x="7867455" y="4665568"/>
            <a:ext cx="3200714" cy="996379"/>
            <a:chOff x="7867455" y="2202292"/>
            <a:chExt cx="3200714" cy="996379"/>
          </a:xfrm>
        </p:grpSpPr>
        <p:cxnSp>
          <p:nvCxnSpPr>
            <p:cNvPr id="52" name="直接连接符 51"/>
            <p:cNvCxnSpPr/>
            <p:nvPr/>
          </p:nvCxnSpPr>
          <p:spPr>
            <a:xfrm>
              <a:off x="8076223" y="3198671"/>
              <a:ext cx="3937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3" name="组合 52"/>
            <p:cNvGrpSpPr/>
            <p:nvPr/>
          </p:nvGrpSpPr>
          <p:grpSpPr>
            <a:xfrm>
              <a:off x="7867455" y="2202292"/>
              <a:ext cx="3200714" cy="770093"/>
              <a:chOff x="7272396" y="2349107"/>
              <a:chExt cx="3200714" cy="770093"/>
            </a:xfrm>
          </p:grpSpPr>
          <p:sp>
            <p:nvSpPr>
              <p:cNvPr id="54" name="文本框 53"/>
              <p:cNvSpPr txBox="1"/>
              <p:nvPr/>
            </p:nvSpPr>
            <p:spPr>
              <a:xfrm>
                <a:off x="7272396" y="2474040"/>
                <a:ext cx="1947034" cy="64516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dirty="0">
                    <a:latin typeface="Noto Sans S Chinese Regular" panose="020B0500000000000000" pitchFamily="34" charset="-122"/>
                    <a:ea typeface="Noto Sans S Chinese Regular" panose="020B0500000000000000" pitchFamily="34" charset="-122"/>
                    <a:cs typeface="文泉驿等宽微米黑" panose="020B0606030804020204" pitchFamily="34" charset="-122"/>
                  </a:rPr>
                  <a:t>在一定程度上缓解交通拥堵</a:t>
                </a:r>
                <a:endParaRPr lang="zh-CN" altLang="en-US" dirty="0">
                  <a:latin typeface="Noto Sans S Chinese Regular" panose="020B0500000000000000" pitchFamily="34" charset="-122"/>
                  <a:ea typeface="Noto Sans S Chinese Regular" panose="020B0500000000000000" pitchFamily="34" charset="-122"/>
                  <a:cs typeface="文泉驿等宽微米黑" panose="020B0606030804020204" pitchFamily="34" charset="-122"/>
                </a:endParaRPr>
              </a:p>
            </p:txBody>
          </p:sp>
          <p:sp>
            <p:nvSpPr>
              <p:cNvPr id="55" name="文本框 54"/>
              <p:cNvSpPr txBox="1"/>
              <p:nvPr/>
            </p:nvSpPr>
            <p:spPr>
              <a:xfrm>
                <a:off x="7367646" y="2349107"/>
                <a:ext cx="3105464" cy="368300"/>
              </a:xfrm>
              <a:prstGeom prst="rect">
                <a:avLst/>
              </a:prstGeom>
              <a:noFill/>
            </p:spPr>
            <p:txBody>
              <a:bodyPr wrap="square" rtlCol="0">
                <a:spAutoFit/>
              </a:bodyPr>
              <a:lstStyle>
                <a:defPPr>
                  <a:defRPr lang="zh-CN"/>
                </a:defPPr>
                <a:lvl1pPr algn="dist">
                  <a:defRPr>
                    <a:latin typeface="华文仿宋" panose="02010600040101010101" pitchFamily="2" charset="-122"/>
                    <a:ea typeface="华文仿宋" panose="02010600040101010101" pitchFamily="2" charset="-122"/>
                  </a:defRPr>
                </a:lvl1pPr>
              </a:lstStyle>
              <a:p>
                <a:pPr algn="l">
                  <a:lnSpc>
                    <a:spcPct val="150000"/>
                  </a:lnSpc>
                </a:pPr>
                <a:endParaRPr lang="en-US" altLang="zh-CN" sz="1200" dirty="0">
                  <a:latin typeface="Noto Sans S Chinese Regular" panose="020B0500000000000000" pitchFamily="34" charset="-122"/>
                  <a:ea typeface="Noto Sans S Chinese Regular" panose="020B0500000000000000" pitchFamily="34" charset="-122"/>
                  <a:cs typeface="文泉驿等宽微米黑" panose="020B0606030804020204" pitchFamily="34" charset="-122"/>
                </a:endParaRPr>
              </a:p>
            </p:txBody>
          </p:sp>
        </p:grpSp>
      </p:grpSp>
      <p:grpSp>
        <p:nvGrpSpPr>
          <p:cNvPr id="56" name="组合 55"/>
          <p:cNvGrpSpPr/>
          <p:nvPr/>
        </p:nvGrpSpPr>
        <p:grpSpPr>
          <a:xfrm>
            <a:off x="1062119" y="1877010"/>
            <a:ext cx="3105464" cy="1321661"/>
            <a:chOff x="7962705" y="1877010"/>
            <a:chExt cx="3105464" cy="1321661"/>
          </a:xfrm>
        </p:grpSpPr>
        <p:grpSp>
          <p:nvGrpSpPr>
            <p:cNvPr id="58" name="组合 57"/>
            <p:cNvGrpSpPr/>
            <p:nvPr/>
          </p:nvGrpSpPr>
          <p:grpSpPr>
            <a:xfrm>
              <a:off x="7962705" y="1877010"/>
              <a:ext cx="3105464" cy="922020"/>
              <a:chOff x="7367646" y="2023825"/>
              <a:chExt cx="3105464" cy="922020"/>
            </a:xfrm>
          </p:grpSpPr>
          <p:sp>
            <p:nvSpPr>
              <p:cNvPr id="60" name="文本框 59"/>
              <p:cNvSpPr txBox="1"/>
              <p:nvPr/>
            </p:nvSpPr>
            <p:spPr>
              <a:xfrm>
                <a:off x="7367646" y="2349107"/>
                <a:ext cx="3105464" cy="368300"/>
              </a:xfrm>
              <a:prstGeom prst="rect">
                <a:avLst/>
              </a:prstGeom>
              <a:noFill/>
            </p:spPr>
            <p:txBody>
              <a:bodyPr wrap="square" rtlCol="0">
                <a:spAutoFit/>
              </a:bodyPr>
              <a:lstStyle>
                <a:defPPr>
                  <a:defRPr lang="zh-CN"/>
                </a:defPPr>
                <a:lvl1pPr algn="dist">
                  <a:defRPr>
                    <a:latin typeface="华文仿宋" panose="02010600040101010101" pitchFamily="2" charset="-122"/>
                    <a:ea typeface="华文仿宋" panose="02010600040101010101" pitchFamily="2" charset="-122"/>
                  </a:defRPr>
                </a:lvl1pPr>
              </a:lstStyle>
              <a:p>
                <a:pPr algn="r">
                  <a:lnSpc>
                    <a:spcPct val="150000"/>
                  </a:lnSpc>
                </a:pPr>
                <a:endParaRPr lang="en-US" altLang="zh-CN" sz="1200" dirty="0">
                  <a:latin typeface="Noto Sans S Chinese Regular" panose="020B0500000000000000" pitchFamily="34" charset="-122"/>
                  <a:ea typeface="Noto Sans S Chinese Regular" panose="020B0500000000000000" pitchFamily="34" charset="-122"/>
                  <a:cs typeface="文泉驿等宽微米黑" panose="020B0606030804020204" pitchFamily="34" charset="-122"/>
                </a:endParaRPr>
              </a:p>
            </p:txBody>
          </p:sp>
          <p:sp>
            <p:nvSpPr>
              <p:cNvPr id="61" name="文本框 60"/>
              <p:cNvSpPr txBox="1"/>
              <p:nvPr/>
            </p:nvSpPr>
            <p:spPr>
              <a:xfrm>
                <a:off x="8505008" y="2023825"/>
                <a:ext cx="1947034" cy="92202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zh-CN" altLang="en-US" dirty="0">
                    <a:latin typeface="Noto Sans S Chinese Regular" panose="020B0500000000000000" pitchFamily="34" charset="-122"/>
                    <a:ea typeface="Noto Sans S Chinese Regular" panose="020B0500000000000000" pitchFamily="34" charset="-122"/>
                    <a:cs typeface="文泉驿等宽微米黑" panose="020B0606030804020204" pitchFamily="34" charset="-122"/>
                  </a:rPr>
                  <a:t>使用算法使外卖送餐员的送餐变得更加快速。</a:t>
                </a:r>
                <a:endParaRPr lang="zh-CN" altLang="en-US" dirty="0">
                  <a:latin typeface="Noto Sans S Chinese Regular" panose="020B0500000000000000" pitchFamily="34" charset="-122"/>
                  <a:ea typeface="Noto Sans S Chinese Regular" panose="020B0500000000000000" pitchFamily="34" charset="-122"/>
                  <a:cs typeface="文泉驿等宽微米黑" panose="020B0606030804020204" pitchFamily="34" charset="-122"/>
                </a:endParaRPr>
              </a:p>
            </p:txBody>
          </p:sp>
        </p:grpSp>
        <p:cxnSp>
          <p:nvCxnSpPr>
            <p:cNvPr id="62" name="直接连接符 61"/>
            <p:cNvCxnSpPr/>
            <p:nvPr/>
          </p:nvCxnSpPr>
          <p:spPr>
            <a:xfrm>
              <a:off x="10578123" y="3198671"/>
              <a:ext cx="3937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8" name="组合 67"/>
          <p:cNvGrpSpPr/>
          <p:nvPr/>
        </p:nvGrpSpPr>
        <p:grpSpPr>
          <a:xfrm>
            <a:off x="1062119" y="3875856"/>
            <a:ext cx="3105464" cy="1782036"/>
            <a:chOff x="7962705" y="1416635"/>
            <a:chExt cx="3105464" cy="1782036"/>
          </a:xfrm>
        </p:grpSpPr>
        <p:grpSp>
          <p:nvGrpSpPr>
            <p:cNvPr id="69" name="组合 68"/>
            <p:cNvGrpSpPr/>
            <p:nvPr/>
          </p:nvGrpSpPr>
          <p:grpSpPr>
            <a:xfrm>
              <a:off x="7962705" y="1416635"/>
              <a:ext cx="3105464" cy="1753235"/>
              <a:chOff x="7367646" y="1563450"/>
              <a:chExt cx="3105464" cy="1753235"/>
            </a:xfrm>
          </p:grpSpPr>
          <p:sp>
            <p:nvSpPr>
              <p:cNvPr id="71" name="文本框 70"/>
              <p:cNvSpPr txBox="1"/>
              <p:nvPr/>
            </p:nvSpPr>
            <p:spPr>
              <a:xfrm>
                <a:off x="7367646" y="2349107"/>
                <a:ext cx="3105464" cy="368300"/>
              </a:xfrm>
              <a:prstGeom prst="rect">
                <a:avLst/>
              </a:prstGeom>
              <a:noFill/>
            </p:spPr>
            <p:txBody>
              <a:bodyPr wrap="square" rtlCol="0">
                <a:spAutoFit/>
              </a:bodyPr>
              <a:lstStyle>
                <a:defPPr>
                  <a:defRPr lang="zh-CN"/>
                </a:defPPr>
                <a:lvl1pPr algn="dist">
                  <a:defRPr>
                    <a:latin typeface="华文仿宋" panose="02010600040101010101" pitchFamily="2" charset="-122"/>
                    <a:ea typeface="华文仿宋" panose="02010600040101010101" pitchFamily="2" charset="-122"/>
                  </a:defRPr>
                </a:lvl1pPr>
              </a:lstStyle>
              <a:p>
                <a:pPr algn="r">
                  <a:lnSpc>
                    <a:spcPct val="150000"/>
                  </a:lnSpc>
                </a:pPr>
                <a:endParaRPr lang="en-US" altLang="zh-CN" sz="1200" dirty="0">
                  <a:latin typeface="Noto Sans S Chinese Regular" panose="020B0500000000000000" pitchFamily="34" charset="-122"/>
                  <a:ea typeface="Noto Sans S Chinese Regular" panose="020B0500000000000000" pitchFamily="34" charset="-122"/>
                  <a:cs typeface="文泉驿等宽微米黑" panose="020B0606030804020204" pitchFamily="34" charset="-122"/>
                </a:endParaRPr>
              </a:p>
            </p:txBody>
          </p:sp>
          <p:sp>
            <p:nvSpPr>
              <p:cNvPr id="72" name="文本框 71"/>
              <p:cNvSpPr txBox="1"/>
              <p:nvPr/>
            </p:nvSpPr>
            <p:spPr>
              <a:xfrm>
                <a:off x="8429443" y="1563450"/>
                <a:ext cx="1947034" cy="175323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zh-CN" altLang="en-US" dirty="0">
                    <a:latin typeface="Noto Sans S Chinese Regular" panose="020B0500000000000000" pitchFamily="34" charset="-122"/>
                    <a:ea typeface="Noto Sans S Chinese Regular" panose="020B0500000000000000" pitchFamily="34" charset="-122"/>
                    <a:cs typeface="文泉驿等宽微米黑" panose="020B0606030804020204" pitchFamily="34" charset="-122"/>
                  </a:rPr>
                  <a:t>用蒙特卡洛算法实现动态路径规划的功能，加以优化能在较短的时间内得到近</a:t>
                </a:r>
                <a:endParaRPr lang="zh-CN" altLang="en-US" dirty="0">
                  <a:latin typeface="Noto Sans S Chinese Regular" panose="020B0500000000000000" pitchFamily="34" charset="-122"/>
                  <a:ea typeface="Noto Sans S Chinese Regular" panose="020B0500000000000000" pitchFamily="34" charset="-122"/>
                  <a:cs typeface="文泉驿等宽微米黑" panose="020B0606030804020204" pitchFamily="34" charset="-122"/>
                </a:endParaRPr>
              </a:p>
              <a:p>
                <a:pPr algn="r"/>
                <a:r>
                  <a:rPr lang="zh-CN" altLang="en-US" dirty="0">
                    <a:latin typeface="Noto Sans S Chinese Regular" panose="020B0500000000000000" pitchFamily="34" charset="-122"/>
                    <a:ea typeface="Noto Sans S Chinese Regular" panose="020B0500000000000000" pitchFamily="34" charset="-122"/>
                    <a:cs typeface="文泉驿等宽微米黑" panose="020B0606030804020204" pitchFamily="34" charset="-122"/>
                  </a:rPr>
                  <a:t>似最优解。</a:t>
                </a:r>
                <a:endParaRPr lang="zh-CN" altLang="en-US" dirty="0">
                  <a:latin typeface="Noto Sans S Chinese Regular" panose="020B0500000000000000" pitchFamily="34" charset="-122"/>
                  <a:ea typeface="Noto Sans S Chinese Regular" panose="020B0500000000000000" pitchFamily="34" charset="-122"/>
                  <a:cs typeface="文泉驿等宽微米黑" panose="020B0606030804020204" pitchFamily="34" charset="-122"/>
                </a:endParaRPr>
              </a:p>
            </p:txBody>
          </p:sp>
        </p:grpSp>
        <p:cxnSp>
          <p:nvCxnSpPr>
            <p:cNvPr id="70" name="直接连接符 69"/>
            <p:cNvCxnSpPr/>
            <p:nvPr/>
          </p:nvCxnSpPr>
          <p:spPr>
            <a:xfrm>
              <a:off x="10578123" y="3198671"/>
              <a:ext cx="3937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mc:AlternateContent xmlns:mc="http://schemas.openxmlformats.org/markup-compatibility/2006">
    <mc:Choice xmlns:p14="http://schemas.microsoft.com/office/powerpoint/2010/main" Requires="p14">
      <p:transition p14:dur="500">
        <p:push dir="u"/>
      </p:transition>
    </mc:Choice>
    <mc:Fallback>
      <p:transition>
        <p:push dir="u"/>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0" y="0"/>
            <a:ext cx="12192000" cy="6858000"/>
            <a:chOff x="0" y="0"/>
            <a:chExt cx="12192000" cy="6858000"/>
          </a:xfrm>
        </p:grpSpPr>
        <p:pic>
          <p:nvPicPr>
            <p:cNvPr id="9" name="图片 8" descr="图片包含 形状&#10;&#10;描述已自动生成"/>
            <p:cNvPicPr>
              <a:picLocks noChangeAspect="1"/>
            </p:cNvPicPr>
            <p:nvPr/>
          </p:nvPicPr>
          <p:blipFill>
            <a:blip r:embed="rId1">
              <a:extLst>
                <a:ext uri="{28A0092B-C50C-407E-A947-70E740481C1C}">
                  <a14:useLocalDpi xmlns:a14="http://schemas.microsoft.com/office/drawing/2010/main" val="0"/>
                </a:ext>
              </a:extLst>
            </a:blip>
            <a:srcRect l="1641" t="2291" b="2559"/>
            <a:stretch>
              <a:fillRect/>
            </a:stretch>
          </p:blipFill>
          <p:spPr>
            <a:xfrm>
              <a:off x="0" y="0"/>
              <a:ext cx="9893301" cy="6858000"/>
            </a:xfrm>
            <a:custGeom>
              <a:avLst/>
              <a:gdLst>
                <a:gd name="connsiteX0" fmla="*/ 0 w 9893301"/>
                <a:gd name="connsiteY0" fmla="*/ 0 h 6858000"/>
                <a:gd name="connsiteX1" fmla="*/ 9893301 w 9893301"/>
                <a:gd name="connsiteY1" fmla="*/ 0 h 6858000"/>
                <a:gd name="connsiteX2" fmla="*/ 9893301 w 9893301"/>
                <a:gd name="connsiteY2" fmla="*/ 6858000 h 6858000"/>
                <a:gd name="connsiteX3" fmla="*/ 0 w 989330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9893301" h="6858000">
                  <a:moveTo>
                    <a:pt x="0" y="0"/>
                  </a:moveTo>
                  <a:lnTo>
                    <a:pt x="9893301" y="0"/>
                  </a:lnTo>
                  <a:lnTo>
                    <a:pt x="9893301" y="6858000"/>
                  </a:lnTo>
                  <a:lnTo>
                    <a:pt x="0" y="6858000"/>
                  </a:lnTo>
                  <a:close/>
                </a:path>
              </a:pathLst>
            </a:custGeom>
          </p:spPr>
        </p:pic>
        <p:pic>
          <p:nvPicPr>
            <p:cNvPr id="16" name="图片 15" descr="图片包含 形状&#10;&#10;描述已自动生成"/>
            <p:cNvPicPr>
              <a:picLocks noChangeAspect="1"/>
            </p:cNvPicPr>
            <p:nvPr/>
          </p:nvPicPr>
          <p:blipFill>
            <a:blip r:embed="rId1">
              <a:extLst>
                <a:ext uri="{28A0092B-C50C-407E-A947-70E740481C1C}">
                  <a14:useLocalDpi xmlns:a14="http://schemas.microsoft.com/office/drawing/2010/main" val="0"/>
                </a:ext>
              </a:extLst>
            </a:blip>
            <a:srcRect l="40278" t="2291" r="1768" b="2559"/>
            <a:stretch>
              <a:fillRect/>
            </a:stretch>
          </p:blipFill>
          <p:spPr>
            <a:xfrm>
              <a:off x="6362700" y="0"/>
              <a:ext cx="5829300" cy="6858000"/>
            </a:xfrm>
            <a:custGeom>
              <a:avLst/>
              <a:gdLst>
                <a:gd name="connsiteX0" fmla="*/ 0 w 5829300"/>
                <a:gd name="connsiteY0" fmla="*/ 0 h 6858000"/>
                <a:gd name="connsiteX1" fmla="*/ 5829300 w 5829300"/>
                <a:gd name="connsiteY1" fmla="*/ 0 h 6858000"/>
                <a:gd name="connsiteX2" fmla="*/ 5829300 w 5829300"/>
                <a:gd name="connsiteY2" fmla="*/ 6858000 h 6858000"/>
                <a:gd name="connsiteX3" fmla="*/ 0 w 58293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829300" h="6858000">
                  <a:moveTo>
                    <a:pt x="0" y="0"/>
                  </a:moveTo>
                  <a:lnTo>
                    <a:pt x="5829300" y="0"/>
                  </a:lnTo>
                  <a:lnTo>
                    <a:pt x="5829300" y="6858000"/>
                  </a:lnTo>
                  <a:lnTo>
                    <a:pt x="0" y="6858000"/>
                  </a:lnTo>
                  <a:close/>
                </a:path>
              </a:pathLst>
            </a:custGeom>
          </p:spPr>
        </p:pic>
      </p:grpSp>
      <p:sp>
        <p:nvSpPr>
          <p:cNvPr id="19" name="文本框 18"/>
          <p:cNvSpPr txBox="1"/>
          <p:nvPr/>
        </p:nvSpPr>
        <p:spPr>
          <a:xfrm>
            <a:off x="1946861" y="3297535"/>
            <a:ext cx="8280400" cy="923330"/>
          </a:xfrm>
          <a:prstGeom prst="rect">
            <a:avLst/>
          </a:prstGeom>
          <a:noFill/>
        </p:spPr>
        <p:txBody>
          <a:bodyPr wrap="square" rtlCol="0">
            <a:spAutoFit/>
          </a:bodyPr>
          <a:lstStyle/>
          <a:p>
            <a:pPr algn="ctr"/>
            <a:r>
              <a:rPr lang="zh-CN" altLang="en-US" sz="5400" dirty="0">
                <a:latin typeface="汉仪大宋简" panose="02010600000101010101" pitchFamily="49" charset="-122"/>
                <a:ea typeface="汉仪大宋简" panose="02010600000101010101" pitchFamily="49" charset="-122"/>
              </a:rPr>
              <a:t>研究的主要内容</a:t>
            </a:r>
            <a:endParaRPr lang="zh-CN" altLang="en-US" sz="5400" dirty="0">
              <a:latin typeface="汉仪大宋简" panose="02010600000101010101" pitchFamily="49" charset="-122"/>
              <a:ea typeface="汉仪大宋简" panose="02010600000101010101" pitchFamily="49" charset="-122"/>
            </a:endParaRPr>
          </a:p>
        </p:txBody>
      </p:sp>
      <p:sp>
        <p:nvSpPr>
          <p:cNvPr id="21" name="文本框 20"/>
          <p:cNvSpPr txBox="1"/>
          <p:nvPr/>
        </p:nvSpPr>
        <p:spPr>
          <a:xfrm>
            <a:off x="3048000" y="4351687"/>
            <a:ext cx="6096000" cy="369332"/>
          </a:xfrm>
          <a:prstGeom prst="rect">
            <a:avLst/>
          </a:prstGeom>
          <a:noFill/>
        </p:spPr>
        <p:txBody>
          <a:bodyPr wrap="square">
            <a:spAutoFit/>
          </a:bodyPr>
          <a:lstStyle>
            <a:defPPr>
              <a:defRPr lang="zh-CN"/>
            </a:defPPr>
            <a:lvl1pPr algn="dist">
              <a:defRPr>
                <a:latin typeface="Kozuka Gothic Pr6N R" panose="020B0400000000000000" pitchFamily="34" charset="-128"/>
                <a:ea typeface="Kozuka Gothic Pr6N R" panose="020B0400000000000000" pitchFamily="34" charset="-128"/>
              </a:defRPr>
            </a:lvl1pPr>
          </a:lstStyle>
          <a:p>
            <a:r>
              <a:rPr lang="en-US" altLang="zh-CN" dirty="0"/>
              <a:t>The main contents of the research are as follows</a:t>
            </a:r>
            <a:endParaRPr lang="zh-CN" altLang="en-US" dirty="0"/>
          </a:p>
        </p:txBody>
      </p:sp>
      <p:sp>
        <p:nvSpPr>
          <p:cNvPr id="22" name="Freeform 5"/>
          <p:cNvSpPr/>
          <p:nvPr/>
        </p:nvSpPr>
        <p:spPr>
          <a:xfrm>
            <a:off x="5293174" y="1897206"/>
            <a:ext cx="1587774" cy="923330"/>
          </a:xfrm>
          <a:custGeom>
            <a:avLst/>
            <a:gdLst/>
            <a:ahLst/>
            <a:cxnLst>
              <a:cxn ang="0">
                <a:pos x="wd2" y="hd2"/>
              </a:cxn>
              <a:cxn ang="5400000">
                <a:pos x="wd2" y="hd2"/>
              </a:cxn>
              <a:cxn ang="10800000">
                <a:pos x="wd2" y="hd2"/>
              </a:cxn>
              <a:cxn ang="16200000">
                <a:pos x="wd2" y="hd2"/>
              </a:cxn>
            </a:cxnLst>
            <a:rect l="0" t="0" r="r" b="b"/>
            <a:pathLst>
              <a:path w="21600" h="21600" extrusionOk="0">
                <a:moveTo>
                  <a:pt x="20978" y="16267"/>
                </a:moveTo>
                <a:cubicBezTo>
                  <a:pt x="20978" y="15467"/>
                  <a:pt x="20823" y="14933"/>
                  <a:pt x="20357" y="14933"/>
                </a:cubicBezTo>
                <a:cubicBezTo>
                  <a:pt x="20357" y="7200"/>
                  <a:pt x="20357" y="7200"/>
                  <a:pt x="20357" y="7200"/>
                </a:cubicBezTo>
                <a:cubicBezTo>
                  <a:pt x="21600" y="6400"/>
                  <a:pt x="21600" y="6400"/>
                  <a:pt x="21600" y="6400"/>
                </a:cubicBezTo>
                <a:cubicBezTo>
                  <a:pt x="10878" y="0"/>
                  <a:pt x="10878" y="0"/>
                  <a:pt x="10878" y="0"/>
                </a:cubicBezTo>
                <a:cubicBezTo>
                  <a:pt x="0" y="6400"/>
                  <a:pt x="0" y="6400"/>
                  <a:pt x="0" y="6400"/>
                </a:cubicBezTo>
                <a:cubicBezTo>
                  <a:pt x="10878" y="12800"/>
                  <a:pt x="10878" y="12800"/>
                  <a:pt x="10878" y="12800"/>
                </a:cubicBezTo>
                <a:cubicBezTo>
                  <a:pt x="19735" y="7467"/>
                  <a:pt x="19735" y="7467"/>
                  <a:pt x="19735" y="7467"/>
                </a:cubicBezTo>
                <a:cubicBezTo>
                  <a:pt x="19735" y="14933"/>
                  <a:pt x="19735" y="14933"/>
                  <a:pt x="19735" y="14933"/>
                </a:cubicBezTo>
                <a:cubicBezTo>
                  <a:pt x="19424" y="14933"/>
                  <a:pt x="19114" y="15467"/>
                  <a:pt x="19114" y="16267"/>
                </a:cubicBezTo>
                <a:cubicBezTo>
                  <a:pt x="19114" y="16800"/>
                  <a:pt x="19424" y="17067"/>
                  <a:pt x="19580" y="17067"/>
                </a:cubicBezTo>
                <a:cubicBezTo>
                  <a:pt x="19114" y="21600"/>
                  <a:pt x="19114" y="21600"/>
                  <a:pt x="19114" y="21600"/>
                </a:cubicBezTo>
                <a:cubicBezTo>
                  <a:pt x="20978" y="21600"/>
                  <a:pt x="20978" y="21600"/>
                  <a:pt x="20978" y="21600"/>
                </a:cubicBezTo>
                <a:cubicBezTo>
                  <a:pt x="20512" y="17067"/>
                  <a:pt x="20512" y="17067"/>
                  <a:pt x="20512" y="17067"/>
                </a:cubicBezTo>
                <a:cubicBezTo>
                  <a:pt x="20823" y="17067"/>
                  <a:pt x="20978" y="16800"/>
                  <a:pt x="20978" y="16267"/>
                </a:cubicBezTo>
                <a:close/>
                <a:moveTo>
                  <a:pt x="4351" y="11200"/>
                </a:moveTo>
                <a:cubicBezTo>
                  <a:pt x="4351" y="18400"/>
                  <a:pt x="4351" y="18400"/>
                  <a:pt x="4351" y="18400"/>
                </a:cubicBezTo>
                <a:cubicBezTo>
                  <a:pt x="4351" y="20267"/>
                  <a:pt x="7304" y="21600"/>
                  <a:pt x="10878" y="21600"/>
                </a:cubicBezTo>
                <a:cubicBezTo>
                  <a:pt x="14296" y="21600"/>
                  <a:pt x="17249" y="20267"/>
                  <a:pt x="17249" y="18400"/>
                </a:cubicBezTo>
                <a:cubicBezTo>
                  <a:pt x="17249" y="11200"/>
                  <a:pt x="17249" y="11200"/>
                  <a:pt x="17249" y="11200"/>
                </a:cubicBezTo>
                <a:cubicBezTo>
                  <a:pt x="10878" y="14933"/>
                  <a:pt x="10878" y="14933"/>
                  <a:pt x="10878" y="14933"/>
                </a:cubicBezTo>
                <a:lnTo>
                  <a:pt x="4351" y="11200"/>
                </a:lnTo>
                <a:close/>
              </a:path>
            </a:pathLst>
          </a:custGeom>
          <a:solidFill>
            <a:srgbClr val="1E1E20"/>
          </a:solidFill>
          <a:ln w="12700" cap="flat">
            <a:noFill/>
            <a:miter lim="400000"/>
          </a:ln>
          <a:effectLst/>
        </p:spPr>
        <p:txBody>
          <a:bodyPr wrap="square" lIns="91439" tIns="91439" rIns="91439" bIns="91439" numCol="1" anchor="t">
            <a:noAutofit/>
          </a:bodyPr>
          <a:lstStyle/>
          <a:p/>
        </p:txBody>
      </p:sp>
    </p:spTree>
  </p:cSld>
  <p:clrMapOvr>
    <a:masterClrMapping/>
  </p:clrMapOvr>
  <mc:AlternateContent xmlns:mc="http://schemas.openxmlformats.org/markup-compatibility/2006">
    <mc:Choice xmlns:p14="http://schemas.microsoft.com/office/powerpoint/2010/main" Requires="p14">
      <p:transition p14:dur="500">
        <p:push dir="u"/>
      </p:transition>
    </mc:Choice>
    <mc:Fallback>
      <p:transition>
        <p:push dir="u"/>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图片 16"/>
          <p:cNvPicPr>
            <a:picLocks noChangeAspect="1"/>
          </p:cNvPicPr>
          <p:nvPr/>
        </p:nvPicPr>
        <p:blipFill>
          <a:blip r:embed="rId1"/>
          <a:srcRect l="600" t="1475" r="483" b="887"/>
          <a:stretch>
            <a:fillRect/>
          </a:stretch>
        </p:blipFill>
        <p:spPr>
          <a:xfrm>
            <a:off x="0" y="0"/>
            <a:ext cx="12192000" cy="6858000"/>
          </a:xfrm>
          <a:custGeom>
            <a:avLst/>
            <a:gdLst>
              <a:gd name="connsiteX0" fmla="*/ 0 w 12060000"/>
              <a:gd name="connsiteY0" fmla="*/ 0 h 6696000"/>
              <a:gd name="connsiteX1" fmla="*/ 12060000 w 12060000"/>
              <a:gd name="connsiteY1" fmla="*/ 0 h 6696000"/>
              <a:gd name="connsiteX2" fmla="*/ 12060000 w 12060000"/>
              <a:gd name="connsiteY2" fmla="*/ 6696000 h 6696000"/>
              <a:gd name="connsiteX3" fmla="*/ 0 w 12060000"/>
              <a:gd name="connsiteY3" fmla="*/ 6696000 h 6696000"/>
            </a:gdLst>
            <a:ahLst/>
            <a:cxnLst>
              <a:cxn ang="0">
                <a:pos x="connsiteX0" y="connsiteY0"/>
              </a:cxn>
              <a:cxn ang="0">
                <a:pos x="connsiteX1" y="connsiteY1"/>
              </a:cxn>
              <a:cxn ang="0">
                <a:pos x="connsiteX2" y="connsiteY2"/>
              </a:cxn>
              <a:cxn ang="0">
                <a:pos x="connsiteX3" y="connsiteY3"/>
              </a:cxn>
            </a:cxnLst>
            <a:rect l="l" t="t" r="r" b="b"/>
            <a:pathLst>
              <a:path w="12060000" h="6696000">
                <a:moveTo>
                  <a:pt x="0" y="0"/>
                </a:moveTo>
                <a:lnTo>
                  <a:pt x="12060000" y="0"/>
                </a:lnTo>
                <a:lnTo>
                  <a:pt x="12060000" y="6696000"/>
                </a:lnTo>
                <a:lnTo>
                  <a:pt x="0" y="6696000"/>
                </a:lnTo>
                <a:close/>
              </a:path>
            </a:pathLst>
          </a:custGeom>
        </p:spPr>
      </p:pic>
      <p:cxnSp>
        <p:nvCxnSpPr>
          <p:cNvPr id="25" name="直接连接符 24"/>
          <p:cNvCxnSpPr/>
          <p:nvPr/>
        </p:nvCxnSpPr>
        <p:spPr>
          <a:xfrm>
            <a:off x="4914900" y="3834401"/>
            <a:ext cx="6235700" cy="0"/>
          </a:xfrm>
          <a:prstGeom prst="line">
            <a:avLst/>
          </a:prstGeom>
          <a:ln w="127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8032750" y="1782948"/>
            <a:ext cx="0" cy="4123225"/>
          </a:xfrm>
          <a:prstGeom prst="line">
            <a:avLst/>
          </a:prstGeom>
          <a:ln w="127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nvGrpSpPr>
          <p:cNvPr id="58" name="组合 57"/>
          <p:cNvGrpSpPr/>
          <p:nvPr/>
        </p:nvGrpSpPr>
        <p:grpSpPr>
          <a:xfrm>
            <a:off x="1193924" y="1552346"/>
            <a:ext cx="3269329" cy="4593968"/>
            <a:chOff x="583294" y="1581150"/>
            <a:chExt cx="3269329" cy="4593968"/>
          </a:xfrm>
        </p:grpSpPr>
        <p:pic>
          <p:nvPicPr>
            <p:cNvPr id="59" name="Picture 4" descr="Picture 4"/>
            <p:cNvPicPr>
              <a:picLocks noChangeAspect="1"/>
            </p:cNvPicPr>
            <p:nvPr/>
          </p:nvPicPr>
          <p:blipFill>
            <a:blip r:embed="rId2"/>
            <a:stretch>
              <a:fillRect/>
            </a:stretch>
          </p:blipFill>
          <p:spPr>
            <a:xfrm>
              <a:off x="583294" y="1581150"/>
              <a:ext cx="3269329" cy="4593968"/>
            </a:xfrm>
            <a:prstGeom prst="rect">
              <a:avLst/>
            </a:prstGeom>
            <a:ln w="12700">
              <a:miter lim="400000"/>
              <a:headEnd/>
              <a:tailEnd/>
            </a:ln>
          </p:spPr>
        </p:pic>
        <p:pic>
          <p:nvPicPr>
            <p:cNvPr id="60" name="图片 59"/>
            <p:cNvPicPr>
              <a:picLocks noChangeAspect="1"/>
            </p:cNvPicPr>
            <p:nvPr/>
          </p:nvPicPr>
          <p:blipFill>
            <a:blip r:embed="rId3" cstate="print">
              <a:extLst>
                <a:ext uri="{28A0092B-C50C-407E-A947-70E740481C1C}">
                  <a14:useLocalDpi xmlns:a14="http://schemas.microsoft.com/office/drawing/2010/main" val="0"/>
                </a:ext>
              </a:extLst>
            </a:blip>
            <a:srcRect l="19251" t="1353" r="40798" b="2941"/>
            <a:stretch>
              <a:fillRect/>
            </a:stretch>
          </p:blipFill>
          <p:spPr>
            <a:xfrm>
              <a:off x="840643" y="2007870"/>
              <a:ext cx="2754630" cy="3691890"/>
            </a:xfrm>
            <a:custGeom>
              <a:avLst/>
              <a:gdLst>
                <a:gd name="connsiteX0" fmla="*/ 0 w 2686050"/>
                <a:gd name="connsiteY0" fmla="*/ 0 h 3619500"/>
                <a:gd name="connsiteX1" fmla="*/ 2686050 w 2686050"/>
                <a:gd name="connsiteY1" fmla="*/ 0 h 3619500"/>
                <a:gd name="connsiteX2" fmla="*/ 2686050 w 2686050"/>
                <a:gd name="connsiteY2" fmla="*/ 3619500 h 3619500"/>
                <a:gd name="connsiteX3" fmla="*/ 0 w 2686050"/>
                <a:gd name="connsiteY3" fmla="*/ 3619500 h 3619500"/>
              </a:gdLst>
              <a:ahLst/>
              <a:cxnLst>
                <a:cxn ang="0">
                  <a:pos x="connsiteX0" y="connsiteY0"/>
                </a:cxn>
                <a:cxn ang="0">
                  <a:pos x="connsiteX1" y="connsiteY1"/>
                </a:cxn>
                <a:cxn ang="0">
                  <a:pos x="connsiteX2" y="connsiteY2"/>
                </a:cxn>
                <a:cxn ang="0">
                  <a:pos x="connsiteX3" y="connsiteY3"/>
                </a:cxn>
              </a:cxnLst>
              <a:rect l="l" t="t" r="r" b="b"/>
              <a:pathLst>
                <a:path w="2686050" h="3619500">
                  <a:moveTo>
                    <a:pt x="0" y="0"/>
                  </a:moveTo>
                  <a:lnTo>
                    <a:pt x="2686050" y="0"/>
                  </a:lnTo>
                  <a:lnTo>
                    <a:pt x="2686050" y="3619500"/>
                  </a:lnTo>
                  <a:lnTo>
                    <a:pt x="0" y="3619500"/>
                  </a:lnTo>
                  <a:close/>
                </a:path>
              </a:pathLst>
            </a:custGeom>
            <a:ln>
              <a:solidFill>
                <a:schemeClr val="tx1"/>
              </a:solidFill>
            </a:ln>
          </p:spPr>
        </p:pic>
      </p:grpSp>
      <p:grpSp>
        <p:nvGrpSpPr>
          <p:cNvPr id="7" name="组合 6"/>
          <p:cNvGrpSpPr/>
          <p:nvPr/>
        </p:nvGrpSpPr>
        <p:grpSpPr>
          <a:xfrm>
            <a:off x="5043174" y="1920442"/>
            <a:ext cx="2696940" cy="1462273"/>
            <a:chOff x="5078461" y="1915168"/>
            <a:chExt cx="2696940" cy="1462273"/>
          </a:xfrm>
        </p:grpSpPr>
        <p:grpSp>
          <p:nvGrpSpPr>
            <p:cNvPr id="44" name="组合 43"/>
            <p:cNvGrpSpPr/>
            <p:nvPr/>
          </p:nvGrpSpPr>
          <p:grpSpPr>
            <a:xfrm>
              <a:off x="6257592" y="1915168"/>
              <a:ext cx="338678" cy="338678"/>
              <a:chOff x="10938141" y="4952007"/>
              <a:chExt cx="276994" cy="276994"/>
            </a:xfrm>
            <a:solidFill>
              <a:srgbClr val="1E1E20"/>
            </a:solidFill>
          </p:grpSpPr>
          <p:sp>
            <p:nvSpPr>
              <p:cNvPr id="45" name="Freeform 5"/>
              <p:cNvSpPr/>
              <p:nvPr/>
            </p:nvSpPr>
            <p:spPr>
              <a:xfrm>
                <a:off x="10949111" y="4952007"/>
                <a:ext cx="255054" cy="93246"/>
              </a:xfrm>
              <a:custGeom>
                <a:avLst/>
                <a:gdLst/>
                <a:ahLst/>
                <a:cxnLst>
                  <a:cxn ang="0">
                    <a:pos x="wd2" y="hd2"/>
                  </a:cxn>
                  <a:cxn ang="5400000">
                    <a:pos x="wd2" y="hd2"/>
                  </a:cxn>
                  <a:cxn ang="10800000">
                    <a:pos x="wd2" y="hd2"/>
                  </a:cxn>
                  <a:cxn ang="16200000">
                    <a:pos x="wd2" y="hd2"/>
                  </a:cxn>
                </a:cxnLst>
                <a:rect l="0" t="0" r="r" b="b"/>
                <a:pathLst>
                  <a:path w="21600" h="21600" extrusionOk="0">
                    <a:moveTo>
                      <a:pt x="21600" y="19059"/>
                    </a:moveTo>
                    <a:lnTo>
                      <a:pt x="10839" y="0"/>
                    </a:lnTo>
                    <a:lnTo>
                      <a:pt x="0" y="19059"/>
                    </a:lnTo>
                    <a:lnTo>
                      <a:pt x="0" y="21600"/>
                    </a:lnTo>
                    <a:lnTo>
                      <a:pt x="21600" y="21600"/>
                    </a:lnTo>
                    <a:lnTo>
                      <a:pt x="21600" y="19059"/>
                    </a:lnTo>
                    <a:close/>
                  </a:path>
                </a:pathLst>
              </a:custGeom>
              <a:grpFill/>
              <a:ln w="12700" cap="flat">
                <a:noFill/>
                <a:miter lim="400000"/>
              </a:ln>
              <a:effectLst/>
            </p:spPr>
            <p:txBody>
              <a:bodyPr wrap="square" lIns="45720" tIns="45720" rIns="45720" bIns="45720" numCol="1" anchor="t">
                <a:noAutofit/>
              </a:bodyPr>
              <a:lstStyle/>
              <a:p>
                <a:endParaRPr sz="600">
                  <a:solidFill>
                    <a:schemeClr val="bg1"/>
                  </a:solidFill>
                </a:endParaRPr>
              </a:p>
            </p:txBody>
          </p:sp>
          <p:sp>
            <p:nvSpPr>
              <p:cNvPr id="46" name="Rectangle 6"/>
              <p:cNvSpPr/>
              <p:nvPr/>
            </p:nvSpPr>
            <p:spPr>
              <a:xfrm>
                <a:off x="10938141" y="5198833"/>
                <a:ext cx="276994" cy="30168"/>
              </a:xfrm>
              <a:prstGeom prst="rect">
                <a:avLst/>
              </a:prstGeom>
              <a:grpFill/>
              <a:ln w="12700" cap="flat">
                <a:noFill/>
                <a:miter lim="400000"/>
              </a:ln>
              <a:effectLst/>
            </p:spPr>
            <p:txBody>
              <a:bodyPr wrap="square" lIns="45720" tIns="45720" rIns="45720" bIns="45720" numCol="1" anchor="t">
                <a:noAutofit/>
              </a:bodyPr>
              <a:lstStyle/>
              <a:p>
                <a:endParaRPr sz="600">
                  <a:solidFill>
                    <a:schemeClr val="bg1"/>
                  </a:solidFill>
                </a:endParaRPr>
              </a:p>
            </p:txBody>
          </p:sp>
          <p:sp>
            <p:nvSpPr>
              <p:cNvPr id="47" name="Rectangle 7"/>
              <p:cNvSpPr/>
              <p:nvPr/>
            </p:nvSpPr>
            <p:spPr>
              <a:xfrm>
                <a:off x="10958253" y="5153125"/>
                <a:ext cx="237685" cy="32911"/>
              </a:xfrm>
              <a:prstGeom prst="rect">
                <a:avLst/>
              </a:prstGeom>
              <a:grpFill/>
              <a:ln w="12700" cap="flat">
                <a:noFill/>
                <a:miter lim="400000"/>
              </a:ln>
              <a:effectLst/>
            </p:spPr>
            <p:txBody>
              <a:bodyPr wrap="square" lIns="45720" tIns="45720" rIns="45720" bIns="45720" numCol="1" anchor="t">
                <a:noAutofit/>
              </a:bodyPr>
              <a:lstStyle/>
              <a:p>
                <a:endParaRPr sz="600">
                  <a:solidFill>
                    <a:schemeClr val="bg1"/>
                  </a:solidFill>
                </a:endParaRPr>
              </a:p>
            </p:txBody>
          </p:sp>
          <p:sp>
            <p:nvSpPr>
              <p:cNvPr id="48" name="Rectangle 8"/>
              <p:cNvSpPr/>
              <p:nvPr/>
            </p:nvSpPr>
            <p:spPr>
              <a:xfrm>
                <a:off x="10979279" y="5058051"/>
                <a:ext cx="43881" cy="85018"/>
              </a:xfrm>
              <a:prstGeom prst="rect">
                <a:avLst/>
              </a:prstGeom>
              <a:grpFill/>
              <a:ln w="12700" cap="flat">
                <a:noFill/>
                <a:miter lim="400000"/>
              </a:ln>
              <a:effectLst/>
            </p:spPr>
            <p:txBody>
              <a:bodyPr wrap="square" lIns="45720" tIns="45720" rIns="45720" bIns="45720" numCol="1" anchor="t">
                <a:noAutofit/>
              </a:bodyPr>
              <a:lstStyle/>
              <a:p>
                <a:endParaRPr sz="600">
                  <a:solidFill>
                    <a:schemeClr val="bg1"/>
                  </a:solidFill>
                </a:endParaRPr>
              </a:p>
            </p:txBody>
          </p:sp>
          <p:sp>
            <p:nvSpPr>
              <p:cNvPr id="49" name="Rectangle 9"/>
              <p:cNvSpPr/>
              <p:nvPr/>
            </p:nvSpPr>
            <p:spPr>
              <a:xfrm>
                <a:off x="11131031" y="5058051"/>
                <a:ext cx="42967" cy="85018"/>
              </a:xfrm>
              <a:prstGeom prst="rect">
                <a:avLst/>
              </a:prstGeom>
              <a:grpFill/>
              <a:ln w="12700" cap="flat">
                <a:noFill/>
                <a:miter lim="400000"/>
              </a:ln>
              <a:effectLst/>
            </p:spPr>
            <p:txBody>
              <a:bodyPr wrap="square" lIns="45720" tIns="45720" rIns="45720" bIns="45720" numCol="1" anchor="t">
                <a:noAutofit/>
              </a:bodyPr>
              <a:lstStyle/>
              <a:p>
                <a:endParaRPr sz="600">
                  <a:solidFill>
                    <a:schemeClr val="bg1"/>
                  </a:solidFill>
                </a:endParaRPr>
              </a:p>
            </p:txBody>
          </p:sp>
          <p:sp>
            <p:nvSpPr>
              <p:cNvPr id="61" name="Rectangle 10"/>
              <p:cNvSpPr/>
              <p:nvPr/>
            </p:nvSpPr>
            <p:spPr>
              <a:xfrm>
                <a:off x="11055155" y="5058051"/>
                <a:ext cx="42967" cy="85018"/>
              </a:xfrm>
              <a:prstGeom prst="rect">
                <a:avLst/>
              </a:prstGeom>
              <a:grpFill/>
              <a:ln w="12700" cap="flat">
                <a:noFill/>
                <a:miter lim="400000"/>
              </a:ln>
              <a:effectLst/>
            </p:spPr>
            <p:txBody>
              <a:bodyPr wrap="square" lIns="45720" tIns="45720" rIns="45720" bIns="45720" numCol="1" anchor="t">
                <a:noAutofit/>
              </a:bodyPr>
              <a:lstStyle/>
              <a:p>
                <a:endParaRPr sz="600">
                  <a:solidFill>
                    <a:schemeClr val="bg1"/>
                  </a:solidFill>
                </a:endParaRPr>
              </a:p>
            </p:txBody>
          </p:sp>
        </p:grpSp>
        <p:sp>
          <p:nvSpPr>
            <p:cNvPr id="73" name="文本框 72"/>
            <p:cNvSpPr txBox="1"/>
            <p:nvPr/>
          </p:nvSpPr>
          <p:spPr>
            <a:xfrm>
              <a:off x="5453414" y="2403288"/>
              <a:ext cx="1947034" cy="36830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dirty="0">
                  <a:latin typeface="Noto Sans S Chinese Regular" panose="020B0500000000000000" pitchFamily="34" charset="-122"/>
                  <a:ea typeface="Noto Sans S Chinese Regular" panose="020B0500000000000000" pitchFamily="34" charset="-122"/>
                  <a:cs typeface="文泉驿等宽微米黑" panose="020B0606030804020204" pitchFamily="34" charset="-122"/>
                </a:rPr>
                <a:t>完成</a:t>
              </a:r>
              <a:r>
                <a:rPr lang="zh-CN" altLang="en-US" dirty="0">
                  <a:latin typeface="Noto Sans S Chinese Regular" panose="020B0500000000000000" pitchFamily="34" charset="-122"/>
                  <a:ea typeface="Noto Sans S Chinese Regular" panose="020B0500000000000000" pitchFamily="34" charset="-122"/>
                  <a:cs typeface="文泉驿等宽微米黑" panose="020B0606030804020204" pitchFamily="34" charset="-122"/>
                </a:rPr>
                <a:t>基本代码</a:t>
              </a:r>
              <a:endParaRPr lang="zh-CN" altLang="en-US" dirty="0">
                <a:latin typeface="Noto Sans S Chinese Regular" panose="020B0500000000000000" pitchFamily="34" charset="-122"/>
                <a:ea typeface="Noto Sans S Chinese Regular" panose="020B0500000000000000" pitchFamily="34" charset="-122"/>
                <a:cs typeface="文泉驿等宽微米黑" panose="020B0606030804020204" pitchFamily="34" charset="-122"/>
              </a:endParaRPr>
            </a:p>
          </p:txBody>
        </p:sp>
        <p:sp>
          <p:nvSpPr>
            <p:cNvPr id="74" name="文本框 73"/>
            <p:cNvSpPr txBox="1"/>
            <p:nvPr/>
          </p:nvSpPr>
          <p:spPr>
            <a:xfrm>
              <a:off x="5078461" y="2732281"/>
              <a:ext cx="2696940" cy="645160"/>
            </a:xfrm>
            <a:prstGeom prst="rect">
              <a:avLst/>
            </a:prstGeom>
            <a:noFill/>
          </p:spPr>
          <p:txBody>
            <a:bodyPr wrap="square" rtlCol="0">
              <a:spAutoFit/>
            </a:bodyPr>
            <a:lstStyle>
              <a:defPPr>
                <a:defRPr lang="zh-CN"/>
              </a:defPPr>
              <a:lvl1pPr algn="dist">
                <a:defRPr>
                  <a:latin typeface="华文仿宋" panose="02010600040101010101" pitchFamily="2" charset="-122"/>
                  <a:ea typeface="华文仿宋" panose="02010600040101010101" pitchFamily="2" charset="-122"/>
                </a:defRPr>
              </a:lvl1pPr>
            </a:lstStyle>
            <a:p>
              <a:pPr algn="ctr">
                <a:lnSpc>
                  <a:spcPct val="150000"/>
                </a:lnSpc>
              </a:pPr>
              <a:r>
                <a:rPr lang="zh-CN" altLang="en-US" sz="1200" dirty="0">
                  <a:latin typeface="Noto Sans S Chinese Regular" panose="020B0500000000000000" pitchFamily="34" charset="-122"/>
                  <a:ea typeface="Noto Sans S Chinese Regular" panose="020B0500000000000000" pitchFamily="34" charset="-122"/>
                  <a:cs typeface="文泉驿等宽微米黑" panose="020B0606030804020204" pitchFamily="34" charset="-122"/>
                </a:rPr>
                <a:t>基于蒙特卡洛算法完成最短路径规划的基本代码</a:t>
              </a:r>
              <a:endParaRPr lang="zh-CN" altLang="en-US" sz="1200" dirty="0">
                <a:latin typeface="Noto Sans S Chinese Regular" panose="020B0500000000000000" pitchFamily="34" charset="-122"/>
                <a:ea typeface="Noto Sans S Chinese Regular" panose="020B0500000000000000" pitchFamily="34" charset="-122"/>
                <a:cs typeface="文泉驿等宽微米黑" panose="020B0606030804020204" pitchFamily="34" charset="-122"/>
              </a:endParaRPr>
            </a:p>
          </p:txBody>
        </p:sp>
      </p:grpSp>
      <p:grpSp>
        <p:nvGrpSpPr>
          <p:cNvPr id="9" name="组合 8"/>
          <p:cNvGrpSpPr/>
          <p:nvPr/>
        </p:nvGrpSpPr>
        <p:grpSpPr>
          <a:xfrm>
            <a:off x="8236855" y="1905125"/>
            <a:ext cx="2696940" cy="1472316"/>
            <a:chOff x="8236855" y="1905125"/>
            <a:chExt cx="2696940" cy="1472316"/>
          </a:xfrm>
        </p:grpSpPr>
        <p:grpSp>
          <p:nvGrpSpPr>
            <p:cNvPr id="64" name="组合 63"/>
            <p:cNvGrpSpPr/>
            <p:nvPr/>
          </p:nvGrpSpPr>
          <p:grpSpPr>
            <a:xfrm>
              <a:off x="9402186" y="1905125"/>
              <a:ext cx="366278" cy="366278"/>
              <a:chOff x="5403758" y="4398021"/>
              <a:chExt cx="276994" cy="276994"/>
            </a:xfrm>
            <a:solidFill>
              <a:schemeClr val="tx1"/>
            </a:solidFill>
          </p:grpSpPr>
          <p:sp>
            <p:nvSpPr>
              <p:cNvPr id="65" name="Freeform 45"/>
              <p:cNvSpPr/>
              <p:nvPr/>
            </p:nvSpPr>
            <p:spPr>
              <a:xfrm>
                <a:off x="5403758" y="4398021"/>
                <a:ext cx="209345" cy="210260"/>
              </a:xfrm>
              <a:custGeom>
                <a:avLst/>
                <a:gdLst/>
                <a:ahLst/>
                <a:cxnLst>
                  <a:cxn ang="0">
                    <a:pos x="wd2" y="hd2"/>
                  </a:cxn>
                  <a:cxn ang="5400000">
                    <a:pos x="wd2" y="hd2"/>
                  </a:cxn>
                  <a:cxn ang="10800000">
                    <a:pos x="wd2" y="hd2"/>
                  </a:cxn>
                  <a:cxn ang="16200000">
                    <a:pos x="wd2" y="hd2"/>
                  </a:cxn>
                </a:cxnLst>
                <a:rect l="0" t="0" r="r" b="b"/>
                <a:pathLst>
                  <a:path w="21600" h="21600" extrusionOk="0">
                    <a:moveTo>
                      <a:pt x="17814" y="16256"/>
                    </a:moveTo>
                    <a:cubicBezTo>
                      <a:pt x="18482" y="16033"/>
                      <a:pt x="18928" y="16033"/>
                      <a:pt x="19373" y="16033"/>
                    </a:cubicBezTo>
                    <a:cubicBezTo>
                      <a:pt x="20264" y="16478"/>
                      <a:pt x="20264" y="16478"/>
                      <a:pt x="20264" y="16478"/>
                    </a:cubicBezTo>
                    <a:cubicBezTo>
                      <a:pt x="20264" y="16478"/>
                      <a:pt x="20264" y="16478"/>
                      <a:pt x="20264" y="16478"/>
                    </a:cubicBezTo>
                    <a:cubicBezTo>
                      <a:pt x="20264" y="16478"/>
                      <a:pt x="20264" y="16478"/>
                      <a:pt x="20264" y="16478"/>
                    </a:cubicBezTo>
                    <a:cubicBezTo>
                      <a:pt x="20264" y="16478"/>
                      <a:pt x="20264" y="16478"/>
                      <a:pt x="20264" y="16478"/>
                    </a:cubicBezTo>
                    <a:cubicBezTo>
                      <a:pt x="20264" y="16478"/>
                      <a:pt x="20264" y="16478"/>
                      <a:pt x="20264" y="16478"/>
                    </a:cubicBezTo>
                    <a:cubicBezTo>
                      <a:pt x="21600" y="13361"/>
                      <a:pt x="21600" y="13361"/>
                      <a:pt x="21600" y="13361"/>
                    </a:cubicBezTo>
                    <a:cubicBezTo>
                      <a:pt x="21600" y="13361"/>
                      <a:pt x="21600" y="13361"/>
                      <a:pt x="21600" y="13361"/>
                    </a:cubicBezTo>
                    <a:cubicBezTo>
                      <a:pt x="21600" y="13361"/>
                      <a:pt x="21600" y="13361"/>
                      <a:pt x="21600" y="13361"/>
                    </a:cubicBezTo>
                    <a:cubicBezTo>
                      <a:pt x="21600" y="13138"/>
                      <a:pt x="21600" y="13138"/>
                      <a:pt x="21600" y="13138"/>
                    </a:cubicBezTo>
                    <a:cubicBezTo>
                      <a:pt x="20709" y="12915"/>
                      <a:pt x="20709" y="12915"/>
                      <a:pt x="20709" y="12915"/>
                    </a:cubicBezTo>
                    <a:cubicBezTo>
                      <a:pt x="19596" y="12247"/>
                      <a:pt x="19151" y="10911"/>
                      <a:pt x="19819" y="9798"/>
                    </a:cubicBezTo>
                    <a:cubicBezTo>
                      <a:pt x="19819" y="9130"/>
                      <a:pt x="20264" y="8685"/>
                      <a:pt x="20709" y="8462"/>
                    </a:cubicBezTo>
                    <a:cubicBezTo>
                      <a:pt x="21600" y="8016"/>
                      <a:pt x="21600" y="8016"/>
                      <a:pt x="21600" y="8016"/>
                    </a:cubicBezTo>
                    <a:cubicBezTo>
                      <a:pt x="21600" y="8016"/>
                      <a:pt x="21600" y="8016"/>
                      <a:pt x="21600" y="8016"/>
                    </a:cubicBezTo>
                    <a:cubicBezTo>
                      <a:pt x="21600" y="8016"/>
                      <a:pt x="21600" y="8016"/>
                      <a:pt x="21600" y="8016"/>
                    </a:cubicBezTo>
                    <a:cubicBezTo>
                      <a:pt x="21600" y="8016"/>
                      <a:pt x="21600" y="8016"/>
                      <a:pt x="21600" y="8016"/>
                    </a:cubicBezTo>
                    <a:cubicBezTo>
                      <a:pt x="20264" y="4899"/>
                      <a:pt x="20264" y="4899"/>
                      <a:pt x="20264" y="4899"/>
                    </a:cubicBezTo>
                    <a:cubicBezTo>
                      <a:pt x="20264" y="4899"/>
                      <a:pt x="20264" y="4899"/>
                      <a:pt x="20264" y="4899"/>
                    </a:cubicBezTo>
                    <a:cubicBezTo>
                      <a:pt x="20264" y="4899"/>
                      <a:pt x="20264" y="4899"/>
                      <a:pt x="20264" y="4899"/>
                    </a:cubicBezTo>
                    <a:cubicBezTo>
                      <a:pt x="20264" y="4899"/>
                      <a:pt x="20264" y="4899"/>
                      <a:pt x="20264" y="4899"/>
                    </a:cubicBezTo>
                    <a:cubicBezTo>
                      <a:pt x="20264" y="4899"/>
                      <a:pt x="20264" y="4899"/>
                      <a:pt x="20264" y="4899"/>
                    </a:cubicBezTo>
                    <a:cubicBezTo>
                      <a:pt x="20264" y="4899"/>
                      <a:pt x="20264" y="4899"/>
                      <a:pt x="20264" y="4899"/>
                    </a:cubicBezTo>
                    <a:cubicBezTo>
                      <a:pt x="19373" y="5344"/>
                      <a:pt x="19373" y="5344"/>
                      <a:pt x="19373" y="5344"/>
                    </a:cubicBezTo>
                    <a:cubicBezTo>
                      <a:pt x="18037" y="5567"/>
                      <a:pt x="16924" y="4899"/>
                      <a:pt x="16256" y="3786"/>
                    </a:cubicBezTo>
                    <a:cubicBezTo>
                      <a:pt x="16033" y="3340"/>
                      <a:pt x="16033" y="2672"/>
                      <a:pt x="16256" y="2227"/>
                    </a:cubicBezTo>
                    <a:cubicBezTo>
                      <a:pt x="16478" y="1336"/>
                      <a:pt x="16478" y="1336"/>
                      <a:pt x="16478" y="1336"/>
                    </a:cubicBezTo>
                    <a:cubicBezTo>
                      <a:pt x="16478" y="1336"/>
                      <a:pt x="16478" y="1336"/>
                      <a:pt x="16478" y="1336"/>
                    </a:cubicBezTo>
                    <a:cubicBezTo>
                      <a:pt x="16478" y="1336"/>
                      <a:pt x="16478" y="1336"/>
                      <a:pt x="16478" y="1336"/>
                    </a:cubicBezTo>
                    <a:cubicBezTo>
                      <a:pt x="16478" y="1336"/>
                      <a:pt x="16478" y="1336"/>
                      <a:pt x="16478" y="1336"/>
                    </a:cubicBezTo>
                    <a:cubicBezTo>
                      <a:pt x="16478" y="1336"/>
                      <a:pt x="16478" y="1336"/>
                      <a:pt x="16478" y="1336"/>
                    </a:cubicBezTo>
                    <a:cubicBezTo>
                      <a:pt x="13361" y="0"/>
                      <a:pt x="13361" y="0"/>
                      <a:pt x="13361" y="0"/>
                    </a:cubicBezTo>
                    <a:cubicBezTo>
                      <a:pt x="13361" y="0"/>
                      <a:pt x="13361" y="0"/>
                      <a:pt x="13361" y="0"/>
                    </a:cubicBezTo>
                    <a:cubicBezTo>
                      <a:pt x="13361" y="0"/>
                      <a:pt x="13361" y="0"/>
                      <a:pt x="13361" y="0"/>
                    </a:cubicBezTo>
                    <a:cubicBezTo>
                      <a:pt x="13361" y="0"/>
                      <a:pt x="13361" y="0"/>
                      <a:pt x="13361" y="0"/>
                    </a:cubicBezTo>
                    <a:cubicBezTo>
                      <a:pt x="12915" y="891"/>
                      <a:pt x="12915" y="891"/>
                      <a:pt x="12915" y="891"/>
                    </a:cubicBezTo>
                    <a:cubicBezTo>
                      <a:pt x="12247" y="2004"/>
                      <a:pt x="10911" y="2449"/>
                      <a:pt x="9798" y="2004"/>
                    </a:cubicBezTo>
                    <a:cubicBezTo>
                      <a:pt x="9353" y="1781"/>
                      <a:pt x="8907" y="1336"/>
                      <a:pt x="8685" y="891"/>
                    </a:cubicBezTo>
                    <a:cubicBezTo>
                      <a:pt x="8239" y="0"/>
                      <a:pt x="8239" y="0"/>
                      <a:pt x="8239" y="0"/>
                    </a:cubicBezTo>
                    <a:cubicBezTo>
                      <a:pt x="8239" y="0"/>
                      <a:pt x="8239" y="0"/>
                      <a:pt x="8239" y="0"/>
                    </a:cubicBezTo>
                    <a:cubicBezTo>
                      <a:pt x="8239" y="0"/>
                      <a:pt x="8239" y="0"/>
                      <a:pt x="8239" y="0"/>
                    </a:cubicBezTo>
                    <a:cubicBezTo>
                      <a:pt x="8239" y="0"/>
                      <a:pt x="8239" y="0"/>
                      <a:pt x="8239" y="0"/>
                    </a:cubicBezTo>
                    <a:cubicBezTo>
                      <a:pt x="4899" y="1336"/>
                      <a:pt x="4899" y="1336"/>
                      <a:pt x="4899" y="1336"/>
                    </a:cubicBezTo>
                    <a:cubicBezTo>
                      <a:pt x="4899" y="1336"/>
                      <a:pt x="4899" y="1336"/>
                      <a:pt x="4899" y="1336"/>
                    </a:cubicBezTo>
                    <a:cubicBezTo>
                      <a:pt x="4899" y="1336"/>
                      <a:pt x="4899" y="1336"/>
                      <a:pt x="4899" y="1336"/>
                    </a:cubicBezTo>
                    <a:cubicBezTo>
                      <a:pt x="4899" y="1336"/>
                      <a:pt x="4899" y="1336"/>
                      <a:pt x="4899" y="1336"/>
                    </a:cubicBezTo>
                    <a:cubicBezTo>
                      <a:pt x="4899" y="1336"/>
                      <a:pt x="4899" y="1336"/>
                      <a:pt x="4899" y="1336"/>
                    </a:cubicBezTo>
                    <a:cubicBezTo>
                      <a:pt x="4899" y="1336"/>
                      <a:pt x="4899" y="1559"/>
                      <a:pt x="4899" y="1559"/>
                    </a:cubicBezTo>
                    <a:cubicBezTo>
                      <a:pt x="5344" y="2227"/>
                      <a:pt x="5344" y="2227"/>
                      <a:pt x="5344" y="2227"/>
                    </a:cubicBezTo>
                    <a:cubicBezTo>
                      <a:pt x="5567" y="3563"/>
                      <a:pt x="5122" y="4676"/>
                      <a:pt x="3786" y="5344"/>
                    </a:cubicBezTo>
                    <a:cubicBezTo>
                      <a:pt x="3340" y="5567"/>
                      <a:pt x="2895" y="5567"/>
                      <a:pt x="2227" y="5344"/>
                    </a:cubicBezTo>
                    <a:cubicBezTo>
                      <a:pt x="1336" y="5122"/>
                      <a:pt x="1336" y="5122"/>
                      <a:pt x="1336" y="5122"/>
                    </a:cubicBezTo>
                    <a:cubicBezTo>
                      <a:pt x="1336" y="5122"/>
                      <a:pt x="1336" y="5122"/>
                      <a:pt x="1336" y="5122"/>
                    </a:cubicBezTo>
                    <a:cubicBezTo>
                      <a:pt x="1336" y="5122"/>
                      <a:pt x="1336" y="5122"/>
                      <a:pt x="1336" y="5122"/>
                    </a:cubicBezTo>
                    <a:cubicBezTo>
                      <a:pt x="1336" y="5122"/>
                      <a:pt x="1336" y="5122"/>
                      <a:pt x="1336" y="5122"/>
                    </a:cubicBezTo>
                    <a:cubicBezTo>
                      <a:pt x="1336" y="5122"/>
                      <a:pt x="1336" y="5122"/>
                      <a:pt x="1336" y="5122"/>
                    </a:cubicBezTo>
                    <a:cubicBezTo>
                      <a:pt x="0" y="8239"/>
                      <a:pt x="0" y="8239"/>
                      <a:pt x="0" y="8239"/>
                    </a:cubicBezTo>
                    <a:cubicBezTo>
                      <a:pt x="0" y="8239"/>
                      <a:pt x="0" y="8239"/>
                      <a:pt x="0" y="8239"/>
                    </a:cubicBezTo>
                    <a:cubicBezTo>
                      <a:pt x="0" y="8239"/>
                      <a:pt x="0" y="8239"/>
                      <a:pt x="0" y="8239"/>
                    </a:cubicBezTo>
                    <a:cubicBezTo>
                      <a:pt x="0" y="8239"/>
                      <a:pt x="0" y="8239"/>
                      <a:pt x="223" y="8239"/>
                    </a:cubicBezTo>
                    <a:cubicBezTo>
                      <a:pt x="891" y="8685"/>
                      <a:pt x="891" y="8685"/>
                      <a:pt x="891" y="8685"/>
                    </a:cubicBezTo>
                    <a:cubicBezTo>
                      <a:pt x="2004" y="9353"/>
                      <a:pt x="2449" y="10689"/>
                      <a:pt x="2004" y="11802"/>
                    </a:cubicBezTo>
                    <a:cubicBezTo>
                      <a:pt x="1781" y="12470"/>
                      <a:pt x="1336" y="12693"/>
                      <a:pt x="1113" y="13138"/>
                    </a:cubicBezTo>
                    <a:cubicBezTo>
                      <a:pt x="223" y="13361"/>
                      <a:pt x="223" y="13361"/>
                      <a:pt x="223" y="13361"/>
                    </a:cubicBezTo>
                    <a:cubicBezTo>
                      <a:pt x="223" y="13361"/>
                      <a:pt x="223" y="13361"/>
                      <a:pt x="223" y="13361"/>
                    </a:cubicBezTo>
                    <a:cubicBezTo>
                      <a:pt x="223" y="13361"/>
                      <a:pt x="223" y="13361"/>
                      <a:pt x="223" y="13361"/>
                    </a:cubicBezTo>
                    <a:cubicBezTo>
                      <a:pt x="223" y="13361"/>
                      <a:pt x="223" y="13361"/>
                      <a:pt x="223" y="13361"/>
                    </a:cubicBezTo>
                    <a:cubicBezTo>
                      <a:pt x="1559" y="16701"/>
                      <a:pt x="1559" y="16701"/>
                      <a:pt x="1559" y="16701"/>
                    </a:cubicBezTo>
                    <a:cubicBezTo>
                      <a:pt x="1559" y="16701"/>
                      <a:pt x="1559" y="16701"/>
                      <a:pt x="1559" y="16701"/>
                    </a:cubicBezTo>
                    <a:cubicBezTo>
                      <a:pt x="1559" y="16701"/>
                      <a:pt x="1559" y="16701"/>
                      <a:pt x="1559" y="16701"/>
                    </a:cubicBezTo>
                    <a:cubicBezTo>
                      <a:pt x="1559" y="16701"/>
                      <a:pt x="1559" y="16701"/>
                      <a:pt x="1559" y="16701"/>
                    </a:cubicBezTo>
                    <a:cubicBezTo>
                      <a:pt x="1559" y="16701"/>
                      <a:pt x="1559" y="16701"/>
                      <a:pt x="1559" y="16701"/>
                    </a:cubicBezTo>
                    <a:cubicBezTo>
                      <a:pt x="1559" y="16701"/>
                      <a:pt x="1559" y="16701"/>
                      <a:pt x="1559" y="16701"/>
                    </a:cubicBezTo>
                    <a:cubicBezTo>
                      <a:pt x="2449" y="16256"/>
                      <a:pt x="2449" y="16256"/>
                      <a:pt x="2449" y="16256"/>
                    </a:cubicBezTo>
                    <a:cubicBezTo>
                      <a:pt x="3563" y="16033"/>
                      <a:pt x="4899" y="16701"/>
                      <a:pt x="5344" y="17814"/>
                    </a:cubicBezTo>
                    <a:cubicBezTo>
                      <a:pt x="5567" y="18260"/>
                      <a:pt x="5567" y="18928"/>
                      <a:pt x="5567" y="19373"/>
                    </a:cubicBezTo>
                    <a:cubicBezTo>
                      <a:pt x="5122" y="20264"/>
                      <a:pt x="5122" y="20264"/>
                      <a:pt x="5122" y="20264"/>
                    </a:cubicBezTo>
                    <a:cubicBezTo>
                      <a:pt x="5122" y="20264"/>
                      <a:pt x="5122" y="20264"/>
                      <a:pt x="5122" y="20264"/>
                    </a:cubicBezTo>
                    <a:cubicBezTo>
                      <a:pt x="5122" y="20264"/>
                      <a:pt x="5122" y="20264"/>
                      <a:pt x="5122" y="20264"/>
                    </a:cubicBezTo>
                    <a:cubicBezTo>
                      <a:pt x="5122" y="20264"/>
                      <a:pt x="5122" y="20264"/>
                      <a:pt x="5122" y="20264"/>
                    </a:cubicBezTo>
                    <a:cubicBezTo>
                      <a:pt x="5122" y="20264"/>
                      <a:pt x="5122" y="20264"/>
                      <a:pt x="5122" y="20264"/>
                    </a:cubicBezTo>
                    <a:cubicBezTo>
                      <a:pt x="8462" y="21600"/>
                      <a:pt x="8462" y="21600"/>
                      <a:pt x="8462" y="21600"/>
                    </a:cubicBezTo>
                    <a:cubicBezTo>
                      <a:pt x="8462" y="21600"/>
                      <a:pt x="8462" y="21600"/>
                      <a:pt x="8462" y="21600"/>
                    </a:cubicBezTo>
                    <a:cubicBezTo>
                      <a:pt x="8462" y="21600"/>
                      <a:pt x="8462" y="21600"/>
                      <a:pt x="8462" y="21600"/>
                    </a:cubicBezTo>
                    <a:cubicBezTo>
                      <a:pt x="8462" y="21600"/>
                      <a:pt x="8462" y="21600"/>
                      <a:pt x="8462" y="21600"/>
                    </a:cubicBezTo>
                    <a:cubicBezTo>
                      <a:pt x="8685" y="20709"/>
                      <a:pt x="8685" y="20709"/>
                      <a:pt x="8685" y="20709"/>
                    </a:cubicBezTo>
                    <a:cubicBezTo>
                      <a:pt x="9353" y="19596"/>
                      <a:pt x="10689" y="19151"/>
                      <a:pt x="12025" y="19596"/>
                    </a:cubicBezTo>
                    <a:cubicBezTo>
                      <a:pt x="12470" y="19819"/>
                      <a:pt x="12915" y="20264"/>
                      <a:pt x="13138" y="20709"/>
                    </a:cubicBezTo>
                    <a:cubicBezTo>
                      <a:pt x="13584" y="21600"/>
                      <a:pt x="13584" y="21600"/>
                      <a:pt x="13584" y="21600"/>
                    </a:cubicBezTo>
                    <a:cubicBezTo>
                      <a:pt x="13584" y="21600"/>
                      <a:pt x="13584" y="21600"/>
                      <a:pt x="13584" y="21600"/>
                    </a:cubicBezTo>
                    <a:cubicBezTo>
                      <a:pt x="13584" y="21600"/>
                      <a:pt x="13584" y="21600"/>
                      <a:pt x="13584" y="21600"/>
                    </a:cubicBezTo>
                    <a:cubicBezTo>
                      <a:pt x="13584" y="21600"/>
                      <a:pt x="13584" y="21600"/>
                      <a:pt x="13584" y="21600"/>
                    </a:cubicBezTo>
                    <a:cubicBezTo>
                      <a:pt x="16701" y="20264"/>
                      <a:pt x="16701" y="20264"/>
                      <a:pt x="16701" y="20264"/>
                    </a:cubicBezTo>
                    <a:cubicBezTo>
                      <a:pt x="16701" y="20264"/>
                      <a:pt x="16701" y="20264"/>
                      <a:pt x="16701" y="20264"/>
                    </a:cubicBezTo>
                    <a:cubicBezTo>
                      <a:pt x="16701" y="20264"/>
                      <a:pt x="16701" y="20264"/>
                      <a:pt x="16701" y="20264"/>
                    </a:cubicBezTo>
                    <a:cubicBezTo>
                      <a:pt x="16701" y="20264"/>
                      <a:pt x="16701" y="20264"/>
                      <a:pt x="16701" y="20264"/>
                    </a:cubicBezTo>
                    <a:cubicBezTo>
                      <a:pt x="16701" y="20264"/>
                      <a:pt x="16701" y="20264"/>
                      <a:pt x="16701" y="20264"/>
                    </a:cubicBezTo>
                    <a:cubicBezTo>
                      <a:pt x="16701" y="20041"/>
                      <a:pt x="16701" y="20041"/>
                      <a:pt x="16701" y="20041"/>
                    </a:cubicBezTo>
                    <a:cubicBezTo>
                      <a:pt x="16256" y="19373"/>
                      <a:pt x="16256" y="19373"/>
                      <a:pt x="16256" y="19373"/>
                    </a:cubicBezTo>
                    <a:cubicBezTo>
                      <a:pt x="16033" y="18037"/>
                      <a:pt x="16701" y="16701"/>
                      <a:pt x="17814" y="16256"/>
                    </a:cubicBezTo>
                    <a:close/>
                    <a:moveTo>
                      <a:pt x="12470" y="14697"/>
                    </a:moveTo>
                    <a:cubicBezTo>
                      <a:pt x="10466" y="15588"/>
                      <a:pt x="7794" y="14474"/>
                      <a:pt x="6903" y="12470"/>
                    </a:cubicBezTo>
                    <a:cubicBezTo>
                      <a:pt x="6012" y="10243"/>
                      <a:pt x="7126" y="7794"/>
                      <a:pt x="9130" y="6903"/>
                    </a:cubicBezTo>
                    <a:cubicBezTo>
                      <a:pt x="11357" y="6012"/>
                      <a:pt x="13806" y="6903"/>
                      <a:pt x="14697" y="9130"/>
                    </a:cubicBezTo>
                    <a:cubicBezTo>
                      <a:pt x="15588" y="11357"/>
                      <a:pt x="14697" y="13806"/>
                      <a:pt x="12470" y="14697"/>
                    </a:cubicBezTo>
                    <a:close/>
                  </a:path>
                </a:pathLst>
              </a:custGeom>
              <a:grpFill/>
              <a:ln w="12700" cap="flat">
                <a:noFill/>
                <a:miter lim="400000"/>
              </a:ln>
              <a:effectLst/>
            </p:spPr>
            <p:txBody>
              <a:bodyPr wrap="square" lIns="45720" tIns="45720" rIns="45720" bIns="45720" numCol="1" anchor="t">
                <a:noAutofit/>
              </a:bodyPr>
              <a:lstStyle/>
              <a:p>
                <a:endParaRPr sz="600">
                  <a:solidFill>
                    <a:schemeClr val="bg1"/>
                  </a:solidFill>
                </a:endParaRPr>
              </a:p>
            </p:txBody>
          </p:sp>
          <p:sp>
            <p:nvSpPr>
              <p:cNvPr id="66" name="Freeform 46"/>
              <p:cNvSpPr/>
              <p:nvPr/>
            </p:nvSpPr>
            <p:spPr>
              <a:xfrm>
                <a:off x="5574707" y="4568971"/>
                <a:ext cx="106045" cy="106044"/>
              </a:xfrm>
              <a:custGeom>
                <a:avLst/>
                <a:gdLst/>
                <a:ahLst/>
                <a:cxnLst>
                  <a:cxn ang="0">
                    <a:pos x="wd2" y="hd2"/>
                  </a:cxn>
                  <a:cxn ang="5400000">
                    <a:pos x="wd2" y="hd2"/>
                  </a:cxn>
                  <a:cxn ang="10800000">
                    <a:pos x="wd2" y="hd2"/>
                  </a:cxn>
                  <a:cxn ang="16200000">
                    <a:pos x="wd2" y="hd2"/>
                  </a:cxn>
                </a:cxnLst>
                <a:rect l="0" t="0" r="r" b="b"/>
                <a:pathLst>
                  <a:path w="21600" h="21600" extrusionOk="0">
                    <a:moveTo>
                      <a:pt x="21600" y="12784"/>
                    </a:moveTo>
                    <a:cubicBezTo>
                      <a:pt x="21600" y="8816"/>
                      <a:pt x="21600" y="8816"/>
                      <a:pt x="21600" y="8816"/>
                    </a:cubicBezTo>
                    <a:cubicBezTo>
                      <a:pt x="18955" y="8816"/>
                      <a:pt x="18955" y="8816"/>
                      <a:pt x="18955" y="8816"/>
                    </a:cubicBezTo>
                    <a:cubicBezTo>
                      <a:pt x="18955" y="7935"/>
                      <a:pt x="18514" y="7053"/>
                      <a:pt x="18073" y="6612"/>
                    </a:cubicBezTo>
                    <a:cubicBezTo>
                      <a:pt x="19837" y="4849"/>
                      <a:pt x="19837" y="4849"/>
                      <a:pt x="19837" y="4849"/>
                    </a:cubicBezTo>
                    <a:cubicBezTo>
                      <a:pt x="16751" y="1763"/>
                      <a:pt x="16751" y="1763"/>
                      <a:pt x="16751" y="1763"/>
                    </a:cubicBezTo>
                    <a:cubicBezTo>
                      <a:pt x="14988" y="3527"/>
                      <a:pt x="14988" y="3527"/>
                      <a:pt x="14988" y="3527"/>
                    </a:cubicBezTo>
                    <a:cubicBezTo>
                      <a:pt x="14547" y="3086"/>
                      <a:pt x="13665" y="2645"/>
                      <a:pt x="12784" y="2204"/>
                    </a:cubicBezTo>
                    <a:cubicBezTo>
                      <a:pt x="12784" y="0"/>
                      <a:pt x="12784" y="0"/>
                      <a:pt x="12784" y="0"/>
                    </a:cubicBezTo>
                    <a:cubicBezTo>
                      <a:pt x="8376" y="0"/>
                      <a:pt x="8376" y="0"/>
                      <a:pt x="8376" y="0"/>
                    </a:cubicBezTo>
                    <a:cubicBezTo>
                      <a:pt x="8376" y="2204"/>
                      <a:pt x="8376" y="2204"/>
                      <a:pt x="8376" y="2204"/>
                    </a:cubicBezTo>
                    <a:cubicBezTo>
                      <a:pt x="7494" y="2645"/>
                      <a:pt x="7053" y="3086"/>
                      <a:pt x="6171" y="3527"/>
                    </a:cubicBezTo>
                    <a:cubicBezTo>
                      <a:pt x="4408" y="1763"/>
                      <a:pt x="4408" y="1763"/>
                      <a:pt x="4408" y="1763"/>
                    </a:cubicBezTo>
                    <a:cubicBezTo>
                      <a:pt x="1322" y="4849"/>
                      <a:pt x="1322" y="4849"/>
                      <a:pt x="1322" y="4849"/>
                    </a:cubicBezTo>
                    <a:cubicBezTo>
                      <a:pt x="3086" y="6612"/>
                      <a:pt x="3086" y="6612"/>
                      <a:pt x="3086" y="6612"/>
                    </a:cubicBezTo>
                    <a:cubicBezTo>
                      <a:pt x="2645" y="7053"/>
                      <a:pt x="2645" y="7935"/>
                      <a:pt x="2204" y="8816"/>
                    </a:cubicBezTo>
                    <a:cubicBezTo>
                      <a:pt x="0" y="8816"/>
                      <a:pt x="0" y="8816"/>
                      <a:pt x="0" y="8816"/>
                    </a:cubicBezTo>
                    <a:cubicBezTo>
                      <a:pt x="0" y="12784"/>
                      <a:pt x="0" y="12784"/>
                      <a:pt x="0" y="12784"/>
                    </a:cubicBezTo>
                    <a:cubicBezTo>
                      <a:pt x="2204" y="12784"/>
                      <a:pt x="2204" y="12784"/>
                      <a:pt x="2204" y="12784"/>
                    </a:cubicBezTo>
                    <a:cubicBezTo>
                      <a:pt x="2645" y="13665"/>
                      <a:pt x="2645" y="14547"/>
                      <a:pt x="3086" y="15429"/>
                    </a:cubicBezTo>
                    <a:cubicBezTo>
                      <a:pt x="1322" y="16751"/>
                      <a:pt x="1322" y="16751"/>
                      <a:pt x="1322" y="16751"/>
                    </a:cubicBezTo>
                    <a:cubicBezTo>
                      <a:pt x="4408" y="19837"/>
                      <a:pt x="4408" y="19837"/>
                      <a:pt x="4408" y="19837"/>
                    </a:cubicBezTo>
                    <a:cubicBezTo>
                      <a:pt x="6171" y="18073"/>
                      <a:pt x="6171" y="18073"/>
                      <a:pt x="6171" y="18073"/>
                    </a:cubicBezTo>
                    <a:cubicBezTo>
                      <a:pt x="7053" y="18514"/>
                      <a:pt x="7494" y="18955"/>
                      <a:pt x="8376" y="18955"/>
                    </a:cubicBezTo>
                    <a:cubicBezTo>
                      <a:pt x="8376" y="21600"/>
                      <a:pt x="8376" y="21600"/>
                      <a:pt x="8376" y="21600"/>
                    </a:cubicBezTo>
                    <a:cubicBezTo>
                      <a:pt x="12784" y="21600"/>
                      <a:pt x="12784" y="21600"/>
                      <a:pt x="12784" y="21600"/>
                    </a:cubicBezTo>
                    <a:cubicBezTo>
                      <a:pt x="12784" y="18955"/>
                      <a:pt x="12784" y="18955"/>
                      <a:pt x="12784" y="18955"/>
                    </a:cubicBezTo>
                    <a:cubicBezTo>
                      <a:pt x="13665" y="18955"/>
                      <a:pt x="14547" y="18514"/>
                      <a:pt x="14988" y="18073"/>
                    </a:cubicBezTo>
                    <a:cubicBezTo>
                      <a:pt x="16751" y="19837"/>
                      <a:pt x="16751" y="19837"/>
                      <a:pt x="16751" y="19837"/>
                    </a:cubicBezTo>
                    <a:cubicBezTo>
                      <a:pt x="19837" y="16751"/>
                      <a:pt x="19837" y="16751"/>
                      <a:pt x="19837" y="16751"/>
                    </a:cubicBezTo>
                    <a:cubicBezTo>
                      <a:pt x="18073" y="14988"/>
                      <a:pt x="18073" y="14988"/>
                      <a:pt x="18073" y="14988"/>
                    </a:cubicBezTo>
                    <a:cubicBezTo>
                      <a:pt x="18514" y="14547"/>
                      <a:pt x="18955" y="13665"/>
                      <a:pt x="18955" y="12784"/>
                    </a:cubicBezTo>
                    <a:lnTo>
                      <a:pt x="21600" y="12784"/>
                    </a:lnTo>
                    <a:close/>
                    <a:moveTo>
                      <a:pt x="10580" y="14106"/>
                    </a:moveTo>
                    <a:cubicBezTo>
                      <a:pt x="8816" y="14106"/>
                      <a:pt x="7494" y="12343"/>
                      <a:pt x="7494" y="10580"/>
                    </a:cubicBezTo>
                    <a:cubicBezTo>
                      <a:pt x="7494" y="8816"/>
                      <a:pt x="8816" y="7494"/>
                      <a:pt x="10580" y="7494"/>
                    </a:cubicBezTo>
                    <a:cubicBezTo>
                      <a:pt x="12343" y="7494"/>
                      <a:pt x="13665" y="8816"/>
                      <a:pt x="13665" y="10580"/>
                    </a:cubicBezTo>
                    <a:cubicBezTo>
                      <a:pt x="13665" y="12343"/>
                      <a:pt x="12343" y="14106"/>
                      <a:pt x="10580" y="14106"/>
                    </a:cubicBezTo>
                    <a:close/>
                  </a:path>
                </a:pathLst>
              </a:custGeom>
              <a:grpFill/>
              <a:ln w="12700" cap="flat">
                <a:noFill/>
                <a:miter lim="400000"/>
              </a:ln>
              <a:effectLst/>
            </p:spPr>
            <p:txBody>
              <a:bodyPr wrap="square" lIns="45720" tIns="45720" rIns="45720" bIns="45720" numCol="1" anchor="t">
                <a:noAutofit/>
              </a:bodyPr>
              <a:lstStyle/>
              <a:p>
                <a:endParaRPr sz="600">
                  <a:solidFill>
                    <a:schemeClr val="bg1"/>
                  </a:solidFill>
                </a:endParaRPr>
              </a:p>
            </p:txBody>
          </p:sp>
        </p:grpSp>
        <p:sp>
          <p:nvSpPr>
            <p:cNvPr id="77" name="文本框 76"/>
            <p:cNvSpPr txBox="1"/>
            <p:nvPr/>
          </p:nvSpPr>
          <p:spPr>
            <a:xfrm>
              <a:off x="8511175" y="2385185"/>
              <a:ext cx="2148205" cy="36830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dirty="0">
                  <a:latin typeface="Noto Sans S Chinese Regular" panose="020B0500000000000000" pitchFamily="34" charset="-122"/>
                  <a:ea typeface="Noto Sans S Chinese Regular" panose="020B0500000000000000" pitchFamily="34" charset="-122"/>
                  <a:cs typeface="文泉驿等宽微米黑" panose="020B0606030804020204" pitchFamily="34" charset="-122"/>
                </a:rPr>
                <a:t>优化路径规划代码</a:t>
              </a:r>
              <a:endParaRPr lang="zh-CN" altLang="en-US" dirty="0">
                <a:latin typeface="Noto Sans S Chinese Regular" panose="020B0500000000000000" pitchFamily="34" charset="-122"/>
                <a:ea typeface="Noto Sans S Chinese Regular" panose="020B0500000000000000" pitchFamily="34" charset="-122"/>
                <a:cs typeface="文泉驿等宽微米黑" panose="020B0606030804020204" pitchFamily="34" charset="-122"/>
              </a:endParaRPr>
            </a:p>
          </p:txBody>
        </p:sp>
        <p:sp>
          <p:nvSpPr>
            <p:cNvPr id="78" name="文本框 77"/>
            <p:cNvSpPr txBox="1"/>
            <p:nvPr/>
          </p:nvSpPr>
          <p:spPr>
            <a:xfrm>
              <a:off x="8236855" y="2732281"/>
              <a:ext cx="2696940" cy="645160"/>
            </a:xfrm>
            <a:prstGeom prst="rect">
              <a:avLst/>
            </a:prstGeom>
            <a:noFill/>
          </p:spPr>
          <p:txBody>
            <a:bodyPr wrap="square" rtlCol="0">
              <a:spAutoFit/>
            </a:bodyPr>
            <a:lstStyle>
              <a:defPPr>
                <a:defRPr lang="zh-CN"/>
              </a:defPPr>
              <a:lvl1pPr algn="dist">
                <a:defRPr>
                  <a:latin typeface="华文仿宋" panose="02010600040101010101" pitchFamily="2" charset="-122"/>
                  <a:ea typeface="华文仿宋" panose="02010600040101010101" pitchFamily="2" charset="-122"/>
                </a:defRPr>
              </a:lvl1pPr>
            </a:lstStyle>
            <a:p>
              <a:pPr algn="ctr">
                <a:lnSpc>
                  <a:spcPct val="150000"/>
                </a:lnSpc>
              </a:pPr>
              <a:r>
                <a:rPr lang="zh-CN" altLang="en-US" sz="1200" dirty="0">
                  <a:latin typeface="Noto Sans S Chinese Regular" panose="020B0500000000000000" pitchFamily="34" charset="-122"/>
                  <a:ea typeface="Noto Sans S Chinese Regular" panose="020B0500000000000000" pitchFamily="34" charset="-122"/>
                  <a:cs typeface="文泉驿等宽微米黑" panose="020B0606030804020204" pitchFamily="34" charset="-122"/>
                </a:rPr>
                <a:t>从多个方面优化算法，减少算法的时间复杂度和</a:t>
              </a:r>
              <a:r>
                <a:rPr lang="zh-CN" altLang="en-US" sz="1200" dirty="0">
                  <a:latin typeface="Noto Sans S Chinese Regular" panose="020B0500000000000000" pitchFamily="34" charset="-122"/>
                  <a:ea typeface="Noto Sans S Chinese Regular" panose="020B0500000000000000" pitchFamily="34" charset="-122"/>
                  <a:cs typeface="文泉驿等宽微米黑" panose="020B0606030804020204" pitchFamily="34" charset="-122"/>
                </a:rPr>
                <a:t>空间复杂度</a:t>
              </a:r>
              <a:endParaRPr lang="zh-CN" altLang="en-US" sz="1200" dirty="0">
                <a:latin typeface="Noto Sans S Chinese Regular" panose="020B0500000000000000" pitchFamily="34" charset="-122"/>
                <a:ea typeface="Noto Sans S Chinese Regular" panose="020B0500000000000000" pitchFamily="34" charset="-122"/>
                <a:cs typeface="文泉驿等宽微米黑" panose="020B0606030804020204" pitchFamily="34" charset="-122"/>
              </a:endParaRPr>
            </a:p>
          </p:txBody>
        </p:sp>
      </p:grpSp>
      <p:grpSp>
        <p:nvGrpSpPr>
          <p:cNvPr id="10" name="组合 9"/>
          <p:cNvGrpSpPr/>
          <p:nvPr/>
        </p:nvGrpSpPr>
        <p:grpSpPr>
          <a:xfrm>
            <a:off x="5035842" y="4108618"/>
            <a:ext cx="2696940" cy="1451361"/>
            <a:chOff x="5078461" y="4106621"/>
            <a:chExt cx="2696940" cy="1451361"/>
          </a:xfrm>
        </p:grpSpPr>
        <p:grpSp>
          <p:nvGrpSpPr>
            <p:cNvPr id="67" name="组合 66"/>
            <p:cNvGrpSpPr/>
            <p:nvPr/>
          </p:nvGrpSpPr>
          <p:grpSpPr>
            <a:xfrm>
              <a:off x="6253983" y="4106621"/>
              <a:ext cx="345896" cy="345896"/>
              <a:chOff x="6510818" y="4952008"/>
              <a:chExt cx="276994" cy="276994"/>
            </a:xfrm>
            <a:solidFill>
              <a:schemeClr val="tx1"/>
            </a:solidFill>
          </p:grpSpPr>
          <p:sp>
            <p:nvSpPr>
              <p:cNvPr id="68" name="Freeform 19"/>
              <p:cNvSpPr/>
              <p:nvPr/>
            </p:nvSpPr>
            <p:spPr>
              <a:xfrm>
                <a:off x="6580294" y="5021485"/>
                <a:ext cx="84105" cy="84104"/>
              </a:xfrm>
              <a:custGeom>
                <a:avLst/>
                <a:gdLst/>
                <a:ahLst/>
                <a:cxnLst>
                  <a:cxn ang="0">
                    <a:pos x="wd2" y="hd2"/>
                  </a:cxn>
                  <a:cxn ang="5400000">
                    <a:pos x="wd2" y="hd2"/>
                  </a:cxn>
                  <a:cxn ang="10800000">
                    <a:pos x="wd2" y="hd2"/>
                  </a:cxn>
                  <a:cxn ang="16200000">
                    <a:pos x="wd2" y="hd2"/>
                  </a:cxn>
                </a:cxnLst>
                <a:rect l="0" t="0" r="r" b="b"/>
                <a:pathLst>
                  <a:path w="21600" h="21600" extrusionOk="0">
                    <a:moveTo>
                      <a:pt x="13148" y="0"/>
                    </a:moveTo>
                    <a:lnTo>
                      <a:pt x="7748" y="0"/>
                    </a:lnTo>
                    <a:lnTo>
                      <a:pt x="7748" y="7748"/>
                    </a:lnTo>
                    <a:lnTo>
                      <a:pt x="0" y="7748"/>
                    </a:lnTo>
                    <a:lnTo>
                      <a:pt x="0" y="13148"/>
                    </a:lnTo>
                    <a:lnTo>
                      <a:pt x="7748" y="13148"/>
                    </a:lnTo>
                    <a:lnTo>
                      <a:pt x="7748" y="21600"/>
                    </a:lnTo>
                    <a:lnTo>
                      <a:pt x="13148" y="21600"/>
                    </a:lnTo>
                    <a:lnTo>
                      <a:pt x="13148" y="13148"/>
                    </a:lnTo>
                    <a:lnTo>
                      <a:pt x="21600" y="13148"/>
                    </a:lnTo>
                    <a:lnTo>
                      <a:pt x="21600" y="7748"/>
                    </a:lnTo>
                    <a:lnTo>
                      <a:pt x="13148" y="7748"/>
                    </a:lnTo>
                    <a:lnTo>
                      <a:pt x="13148" y="0"/>
                    </a:lnTo>
                    <a:close/>
                  </a:path>
                </a:pathLst>
              </a:custGeom>
              <a:grpFill/>
              <a:ln w="12700" cap="flat">
                <a:noFill/>
                <a:miter lim="400000"/>
              </a:ln>
              <a:effectLst/>
            </p:spPr>
            <p:txBody>
              <a:bodyPr wrap="square" lIns="45720" tIns="45720" rIns="45720" bIns="45720" numCol="1" anchor="t">
                <a:noAutofit/>
              </a:bodyPr>
              <a:lstStyle/>
              <a:p>
                <a:endParaRPr sz="600">
                  <a:solidFill>
                    <a:schemeClr val="bg1"/>
                  </a:solidFill>
                </a:endParaRPr>
              </a:p>
            </p:txBody>
          </p:sp>
          <p:sp>
            <p:nvSpPr>
              <p:cNvPr id="69" name="Freeform 20"/>
              <p:cNvSpPr/>
              <p:nvPr/>
            </p:nvSpPr>
            <p:spPr>
              <a:xfrm>
                <a:off x="6510818" y="4952008"/>
                <a:ext cx="276994" cy="276994"/>
              </a:xfrm>
              <a:custGeom>
                <a:avLst/>
                <a:gdLst/>
                <a:ahLst/>
                <a:cxnLst>
                  <a:cxn ang="0">
                    <a:pos x="wd2" y="hd2"/>
                  </a:cxn>
                  <a:cxn ang="5400000">
                    <a:pos x="wd2" y="hd2"/>
                  </a:cxn>
                  <a:cxn ang="10800000">
                    <a:pos x="wd2" y="hd2"/>
                  </a:cxn>
                  <a:cxn ang="16200000">
                    <a:pos x="wd2" y="hd2"/>
                  </a:cxn>
                </a:cxnLst>
                <a:rect l="0" t="0" r="r" b="b"/>
                <a:pathLst>
                  <a:path w="21600" h="21600" extrusionOk="0">
                    <a:moveTo>
                      <a:pt x="15863" y="13331"/>
                    </a:moveTo>
                    <a:cubicBezTo>
                      <a:pt x="16706" y="11981"/>
                      <a:pt x="17213" y="10463"/>
                      <a:pt x="17213" y="8606"/>
                    </a:cubicBezTo>
                    <a:cubicBezTo>
                      <a:pt x="17213" y="3881"/>
                      <a:pt x="13331" y="0"/>
                      <a:pt x="8606" y="0"/>
                    </a:cubicBezTo>
                    <a:cubicBezTo>
                      <a:pt x="3881" y="0"/>
                      <a:pt x="0" y="3881"/>
                      <a:pt x="0" y="8606"/>
                    </a:cubicBezTo>
                    <a:cubicBezTo>
                      <a:pt x="0" y="13331"/>
                      <a:pt x="3881" y="17213"/>
                      <a:pt x="8606" y="17213"/>
                    </a:cubicBezTo>
                    <a:cubicBezTo>
                      <a:pt x="10463" y="17213"/>
                      <a:pt x="11981" y="16706"/>
                      <a:pt x="13331" y="15863"/>
                    </a:cubicBezTo>
                    <a:cubicBezTo>
                      <a:pt x="19238" y="21600"/>
                      <a:pt x="19238" y="21600"/>
                      <a:pt x="19238" y="21600"/>
                    </a:cubicBezTo>
                    <a:cubicBezTo>
                      <a:pt x="21600" y="19238"/>
                      <a:pt x="21600" y="19238"/>
                      <a:pt x="21600" y="19238"/>
                    </a:cubicBezTo>
                    <a:lnTo>
                      <a:pt x="15863" y="13331"/>
                    </a:lnTo>
                    <a:close/>
                    <a:moveTo>
                      <a:pt x="8606" y="14850"/>
                    </a:moveTo>
                    <a:cubicBezTo>
                      <a:pt x="5231" y="14850"/>
                      <a:pt x="2531" y="11981"/>
                      <a:pt x="2531" y="8606"/>
                    </a:cubicBezTo>
                    <a:cubicBezTo>
                      <a:pt x="2531" y="5231"/>
                      <a:pt x="5231" y="2531"/>
                      <a:pt x="8606" y="2531"/>
                    </a:cubicBezTo>
                    <a:cubicBezTo>
                      <a:pt x="11981" y="2531"/>
                      <a:pt x="14850" y="5231"/>
                      <a:pt x="14850" y="8606"/>
                    </a:cubicBezTo>
                    <a:cubicBezTo>
                      <a:pt x="14850" y="11981"/>
                      <a:pt x="11981" y="14850"/>
                      <a:pt x="8606" y="14850"/>
                    </a:cubicBezTo>
                    <a:close/>
                  </a:path>
                </a:pathLst>
              </a:custGeom>
              <a:grpFill/>
              <a:ln w="12700" cap="flat">
                <a:noFill/>
                <a:miter lim="400000"/>
              </a:ln>
              <a:effectLst/>
            </p:spPr>
            <p:txBody>
              <a:bodyPr wrap="square" lIns="45720" tIns="45720" rIns="45720" bIns="45720" numCol="1" anchor="t">
                <a:noAutofit/>
              </a:bodyPr>
              <a:lstStyle/>
              <a:p>
                <a:endParaRPr sz="600">
                  <a:solidFill>
                    <a:schemeClr val="bg1"/>
                  </a:solidFill>
                </a:endParaRPr>
              </a:p>
            </p:txBody>
          </p:sp>
        </p:grpSp>
        <p:sp>
          <p:nvSpPr>
            <p:cNvPr id="87" name="文本框 86"/>
            <p:cNvSpPr txBox="1"/>
            <p:nvPr/>
          </p:nvSpPr>
          <p:spPr>
            <a:xfrm>
              <a:off x="5453414" y="4583829"/>
              <a:ext cx="1947034" cy="36830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dirty="0">
                  <a:latin typeface="Noto Sans S Chinese Regular" panose="020B0500000000000000" pitchFamily="34" charset="-122"/>
                  <a:ea typeface="Noto Sans S Chinese Regular" panose="020B0500000000000000" pitchFamily="34" charset="-122"/>
                  <a:cs typeface="文泉驿等宽微米黑" panose="020B0606030804020204" pitchFamily="34" charset="-122"/>
                </a:rPr>
                <a:t>完成附加</a:t>
              </a:r>
              <a:r>
                <a:rPr lang="zh-CN" altLang="en-US" dirty="0">
                  <a:latin typeface="Noto Sans S Chinese Regular" panose="020B0500000000000000" pitchFamily="34" charset="-122"/>
                  <a:ea typeface="Noto Sans S Chinese Regular" panose="020B0500000000000000" pitchFamily="34" charset="-122"/>
                  <a:cs typeface="文泉驿等宽微米黑" panose="020B0606030804020204" pitchFamily="34" charset="-122"/>
                </a:rPr>
                <a:t>功能</a:t>
              </a:r>
              <a:endParaRPr lang="zh-CN" altLang="en-US" dirty="0">
                <a:latin typeface="Noto Sans S Chinese Regular" panose="020B0500000000000000" pitchFamily="34" charset="-122"/>
                <a:ea typeface="Noto Sans S Chinese Regular" panose="020B0500000000000000" pitchFamily="34" charset="-122"/>
                <a:cs typeface="文泉驿等宽微米黑" panose="020B0606030804020204" pitchFamily="34" charset="-122"/>
              </a:endParaRPr>
            </a:p>
          </p:txBody>
        </p:sp>
        <p:sp>
          <p:nvSpPr>
            <p:cNvPr id="88" name="文本框 87"/>
            <p:cNvSpPr txBox="1"/>
            <p:nvPr/>
          </p:nvSpPr>
          <p:spPr>
            <a:xfrm>
              <a:off x="5078461" y="4912822"/>
              <a:ext cx="2696940" cy="645160"/>
            </a:xfrm>
            <a:prstGeom prst="rect">
              <a:avLst/>
            </a:prstGeom>
            <a:noFill/>
          </p:spPr>
          <p:txBody>
            <a:bodyPr wrap="square" rtlCol="0">
              <a:spAutoFit/>
            </a:bodyPr>
            <a:lstStyle>
              <a:defPPr>
                <a:defRPr lang="zh-CN"/>
              </a:defPPr>
              <a:lvl1pPr algn="dist">
                <a:defRPr>
                  <a:latin typeface="华文仿宋" panose="02010600040101010101" pitchFamily="2" charset="-122"/>
                  <a:ea typeface="华文仿宋" panose="02010600040101010101" pitchFamily="2" charset="-122"/>
                </a:defRPr>
              </a:lvl1pPr>
            </a:lstStyle>
            <a:p>
              <a:pPr algn="ctr">
                <a:lnSpc>
                  <a:spcPct val="150000"/>
                </a:lnSpc>
              </a:pPr>
              <a:r>
                <a:rPr lang="zh-CN" altLang="en-US" sz="1200" dirty="0">
                  <a:latin typeface="Noto Sans S Chinese Regular" panose="020B0500000000000000" pitchFamily="34" charset="-122"/>
                  <a:ea typeface="Noto Sans S Chinese Regular" panose="020B0500000000000000" pitchFamily="34" charset="-122"/>
                  <a:cs typeface="文泉驿等宽微米黑" panose="020B0606030804020204" pitchFamily="34" charset="-122"/>
                </a:rPr>
                <a:t>完成路径规划的附加功能，如自动生成地图</a:t>
              </a:r>
              <a:r>
                <a:rPr lang="zh-CN" altLang="en-US" sz="1200" dirty="0">
                  <a:latin typeface="Noto Sans S Chinese Regular" panose="020B0500000000000000" pitchFamily="34" charset="-122"/>
                  <a:ea typeface="Noto Sans S Chinese Regular" panose="020B0500000000000000" pitchFamily="34" charset="-122"/>
                  <a:cs typeface="文泉驿等宽微米黑" panose="020B0606030804020204" pitchFamily="34" charset="-122"/>
                </a:rPr>
                <a:t>函数</a:t>
              </a:r>
              <a:endParaRPr lang="zh-CN" altLang="en-US" sz="1200" dirty="0">
                <a:latin typeface="Noto Sans S Chinese Regular" panose="020B0500000000000000" pitchFamily="34" charset="-122"/>
                <a:ea typeface="Noto Sans S Chinese Regular" panose="020B0500000000000000" pitchFamily="34" charset="-122"/>
                <a:cs typeface="文泉驿等宽微米黑" panose="020B0606030804020204" pitchFamily="34" charset="-122"/>
              </a:endParaRPr>
            </a:p>
          </p:txBody>
        </p:sp>
      </p:grpSp>
      <p:grpSp>
        <p:nvGrpSpPr>
          <p:cNvPr id="11" name="组合 10"/>
          <p:cNvGrpSpPr/>
          <p:nvPr/>
        </p:nvGrpSpPr>
        <p:grpSpPr>
          <a:xfrm>
            <a:off x="8258318" y="4153968"/>
            <a:ext cx="2696940" cy="1406011"/>
            <a:chOff x="8236855" y="4151971"/>
            <a:chExt cx="2696940" cy="1406011"/>
          </a:xfrm>
        </p:grpSpPr>
        <p:grpSp>
          <p:nvGrpSpPr>
            <p:cNvPr id="70" name="组合 69"/>
            <p:cNvGrpSpPr/>
            <p:nvPr/>
          </p:nvGrpSpPr>
          <p:grpSpPr>
            <a:xfrm>
              <a:off x="9396929" y="4151971"/>
              <a:ext cx="376792" cy="276067"/>
              <a:chOff x="5403758" y="2773540"/>
              <a:chExt cx="276994" cy="202947"/>
            </a:xfrm>
            <a:solidFill>
              <a:schemeClr val="tx1"/>
            </a:solidFill>
          </p:grpSpPr>
          <p:sp>
            <p:nvSpPr>
              <p:cNvPr id="71" name="Freeform 144"/>
              <p:cNvSpPr/>
              <p:nvPr/>
            </p:nvSpPr>
            <p:spPr>
              <a:xfrm>
                <a:off x="5466835" y="2829305"/>
                <a:ext cx="213917" cy="147182"/>
              </a:xfrm>
              <a:custGeom>
                <a:avLst/>
                <a:gdLst/>
                <a:ahLst/>
                <a:cxnLst>
                  <a:cxn ang="0">
                    <a:pos x="wd2" y="hd2"/>
                  </a:cxn>
                  <a:cxn ang="5400000">
                    <a:pos x="wd2" y="hd2"/>
                  </a:cxn>
                  <a:cxn ang="10800000">
                    <a:pos x="wd2" y="hd2"/>
                  </a:cxn>
                  <a:cxn ang="16200000">
                    <a:pos x="wd2" y="hd2"/>
                  </a:cxn>
                </a:cxnLst>
                <a:rect l="0" t="0" r="r" b="b"/>
                <a:pathLst>
                  <a:path w="21600" h="21600" extrusionOk="0">
                    <a:moveTo>
                      <a:pt x="18327" y="6035"/>
                    </a:moveTo>
                    <a:cubicBezTo>
                      <a:pt x="17673" y="2541"/>
                      <a:pt x="15273" y="0"/>
                      <a:pt x="12655" y="0"/>
                    </a:cubicBezTo>
                    <a:cubicBezTo>
                      <a:pt x="10691" y="0"/>
                      <a:pt x="8727" y="1271"/>
                      <a:pt x="7636" y="3812"/>
                    </a:cubicBezTo>
                    <a:cubicBezTo>
                      <a:pt x="7200" y="3176"/>
                      <a:pt x="6545" y="2541"/>
                      <a:pt x="5673" y="2541"/>
                    </a:cubicBezTo>
                    <a:cubicBezTo>
                      <a:pt x="3927" y="2541"/>
                      <a:pt x="2618" y="4765"/>
                      <a:pt x="2618" y="7306"/>
                    </a:cubicBezTo>
                    <a:cubicBezTo>
                      <a:pt x="2618" y="7624"/>
                      <a:pt x="2618" y="8259"/>
                      <a:pt x="2618" y="8576"/>
                    </a:cubicBezTo>
                    <a:cubicBezTo>
                      <a:pt x="1091" y="9529"/>
                      <a:pt x="0" y="12071"/>
                      <a:pt x="0" y="14612"/>
                    </a:cubicBezTo>
                    <a:cubicBezTo>
                      <a:pt x="0" y="18424"/>
                      <a:pt x="1964" y="21600"/>
                      <a:pt x="4582" y="21600"/>
                    </a:cubicBezTo>
                    <a:cubicBezTo>
                      <a:pt x="16145" y="21600"/>
                      <a:pt x="16145" y="21600"/>
                      <a:pt x="16145" y="21600"/>
                    </a:cubicBezTo>
                    <a:cubicBezTo>
                      <a:pt x="19200" y="21600"/>
                      <a:pt x="21600" y="18106"/>
                      <a:pt x="21600" y="13659"/>
                    </a:cubicBezTo>
                    <a:cubicBezTo>
                      <a:pt x="21600" y="10165"/>
                      <a:pt x="20291" y="7306"/>
                      <a:pt x="18327" y="6035"/>
                    </a:cubicBezTo>
                    <a:close/>
                  </a:path>
                </a:pathLst>
              </a:custGeom>
              <a:grpFill/>
              <a:ln w="12700" cap="flat">
                <a:noFill/>
                <a:miter lim="400000"/>
              </a:ln>
              <a:effectLst/>
            </p:spPr>
            <p:txBody>
              <a:bodyPr wrap="square" lIns="45720" tIns="45720" rIns="45720" bIns="45720" numCol="1" anchor="t">
                <a:noAutofit/>
              </a:bodyPr>
              <a:lstStyle/>
              <a:p>
                <a:endParaRPr sz="800" dirty="0">
                  <a:solidFill>
                    <a:schemeClr val="bg1"/>
                  </a:solidFill>
                </a:endParaRPr>
              </a:p>
            </p:txBody>
          </p:sp>
          <p:sp>
            <p:nvSpPr>
              <p:cNvPr id="72" name="Freeform 145"/>
              <p:cNvSpPr/>
              <p:nvPr/>
            </p:nvSpPr>
            <p:spPr>
              <a:xfrm>
                <a:off x="5403758" y="2773540"/>
                <a:ext cx="202946" cy="177350"/>
              </a:xfrm>
              <a:custGeom>
                <a:avLst/>
                <a:gdLst/>
                <a:ahLst/>
                <a:cxnLst>
                  <a:cxn ang="0">
                    <a:pos x="wd2" y="hd2"/>
                  </a:cxn>
                  <a:cxn ang="5400000">
                    <a:pos x="wd2" y="hd2"/>
                  </a:cxn>
                  <a:cxn ang="10800000">
                    <a:pos x="wd2" y="hd2"/>
                  </a:cxn>
                  <a:cxn ang="16200000">
                    <a:pos x="wd2" y="hd2"/>
                  </a:cxn>
                </a:cxnLst>
                <a:rect l="0" t="0" r="r" b="b"/>
                <a:pathLst>
                  <a:path w="21600" h="21600" extrusionOk="0">
                    <a:moveTo>
                      <a:pt x="7813" y="6059"/>
                    </a:moveTo>
                    <a:cubicBezTo>
                      <a:pt x="8272" y="6059"/>
                      <a:pt x="8502" y="6322"/>
                      <a:pt x="8732" y="6585"/>
                    </a:cubicBezTo>
                    <a:cubicBezTo>
                      <a:pt x="9651" y="7376"/>
                      <a:pt x="9651" y="7376"/>
                      <a:pt x="9651" y="7376"/>
                    </a:cubicBezTo>
                    <a:cubicBezTo>
                      <a:pt x="9881" y="7376"/>
                      <a:pt x="10340" y="7112"/>
                      <a:pt x="10570" y="6849"/>
                    </a:cubicBezTo>
                    <a:cubicBezTo>
                      <a:pt x="10570" y="6849"/>
                      <a:pt x="10800" y="6849"/>
                      <a:pt x="10800" y="6849"/>
                    </a:cubicBezTo>
                    <a:cubicBezTo>
                      <a:pt x="11260" y="6322"/>
                      <a:pt x="11260" y="6322"/>
                      <a:pt x="11260" y="6322"/>
                    </a:cubicBezTo>
                    <a:cubicBezTo>
                      <a:pt x="11949" y="4741"/>
                      <a:pt x="13557" y="3951"/>
                      <a:pt x="14936" y="3951"/>
                    </a:cubicBezTo>
                    <a:cubicBezTo>
                      <a:pt x="15855" y="3951"/>
                      <a:pt x="16545" y="4215"/>
                      <a:pt x="17234" y="4741"/>
                    </a:cubicBezTo>
                    <a:cubicBezTo>
                      <a:pt x="18153" y="4215"/>
                      <a:pt x="19072" y="4215"/>
                      <a:pt x="19991" y="4215"/>
                    </a:cubicBezTo>
                    <a:cubicBezTo>
                      <a:pt x="20451" y="4215"/>
                      <a:pt x="21140" y="4215"/>
                      <a:pt x="21600" y="4478"/>
                    </a:cubicBezTo>
                    <a:cubicBezTo>
                      <a:pt x="21140" y="3424"/>
                      <a:pt x="20451" y="2634"/>
                      <a:pt x="19762" y="1844"/>
                    </a:cubicBezTo>
                    <a:cubicBezTo>
                      <a:pt x="18383" y="790"/>
                      <a:pt x="16774" y="0"/>
                      <a:pt x="14936" y="0"/>
                    </a:cubicBezTo>
                    <a:cubicBezTo>
                      <a:pt x="12868" y="0"/>
                      <a:pt x="10800" y="1054"/>
                      <a:pt x="9421" y="2634"/>
                    </a:cubicBezTo>
                    <a:cubicBezTo>
                      <a:pt x="8962" y="2371"/>
                      <a:pt x="8272" y="2371"/>
                      <a:pt x="7813" y="2371"/>
                    </a:cubicBezTo>
                    <a:cubicBezTo>
                      <a:pt x="5055" y="2371"/>
                      <a:pt x="2757" y="5005"/>
                      <a:pt x="2757" y="8166"/>
                    </a:cubicBezTo>
                    <a:cubicBezTo>
                      <a:pt x="2757" y="8166"/>
                      <a:pt x="2757" y="8166"/>
                      <a:pt x="2757" y="8166"/>
                    </a:cubicBezTo>
                    <a:cubicBezTo>
                      <a:pt x="1149" y="9483"/>
                      <a:pt x="0" y="11854"/>
                      <a:pt x="0" y="14224"/>
                    </a:cubicBezTo>
                    <a:cubicBezTo>
                      <a:pt x="0" y="17649"/>
                      <a:pt x="2068" y="20810"/>
                      <a:pt x="4826" y="21600"/>
                    </a:cubicBezTo>
                    <a:cubicBezTo>
                      <a:pt x="4596" y="20810"/>
                      <a:pt x="4366" y="20020"/>
                      <a:pt x="4366" y="18966"/>
                    </a:cubicBezTo>
                    <a:cubicBezTo>
                      <a:pt x="4366" y="18439"/>
                      <a:pt x="4366" y="17912"/>
                      <a:pt x="4596" y="17385"/>
                    </a:cubicBezTo>
                    <a:cubicBezTo>
                      <a:pt x="3906" y="16595"/>
                      <a:pt x="3217" y="15541"/>
                      <a:pt x="3217" y="14224"/>
                    </a:cubicBezTo>
                    <a:cubicBezTo>
                      <a:pt x="3217" y="12907"/>
                      <a:pt x="4136" y="11590"/>
                      <a:pt x="5285" y="10800"/>
                    </a:cubicBezTo>
                    <a:cubicBezTo>
                      <a:pt x="6434" y="10273"/>
                      <a:pt x="6434" y="10273"/>
                      <a:pt x="6434" y="10273"/>
                    </a:cubicBezTo>
                    <a:cubicBezTo>
                      <a:pt x="6204" y="8693"/>
                      <a:pt x="6204" y="8693"/>
                      <a:pt x="6204" y="8693"/>
                    </a:cubicBezTo>
                    <a:cubicBezTo>
                      <a:pt x="5974" y="8429"/>
                      <a:pt x="5974" y="8429"/>
                      <a:pt x="5974" y="8166"/>
                    </a:cubicBezTo>
                    <a:cubicBezTo>
                      <a:pt x="5974" y="7112"/>
                      <a:pt x="6894" y="6059"/>
                      <a:pt x="7813" y="6059"/>
                    </a:cubicBezTo>
                    <a:close/>
                  </a:path>
                </a:pathLst>
              </a:custGeom>
              <a:grpFill/>
              <a:ln w="12700" cap="flat">
                <a:noFill/>
                <a:miter lim="400000"/>
              </a:ln>
              <a:effectLst/>
            </p:spPr>
            <p:txBody>
              <a:bodyPr wrap="square" lIns="45720" tIns="45720" rIns="45720" bIns="45720" numCol="1" anchor="t">
                <a:noAutofit/>
              </a:bodyPr>
              <a:lstStyle/>
              <a:p>
                <a:endParaRPr sz="800">
                  <a:solidFill>
                    <a:schemeClr val="bg1"/>
                  </a:solidFill>
                </a:endParaRPr>
              </a:p>
            </p:txBody>
          </p:sp>
        </p:grpSp>
        <p:sp>
          <p:nvSpPr>
            <p:cNvPr id="97" name="文本框 96"/>
            <p:cNvSpPr txBox="1"/>
            <p:nvPr/>
          </p:nvSpPr>
          <p:spPr>
            <a:xfrm>
              <a:off x="8611808" y="4583829"/>
              <a:ext cx="1947034" cy="36830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dirty="0">
                  <a:latin typeface="Noto Sans S Chinese Regular" panose="020B0500000000000000" pitchFamily="34" charset="-122"/>
                  <a:ea typeface="Noto Sans S Chinese Regular" panose="020B0500000000000000" pitchFamily="34" charset="-122"/>
                  <a:cs typeface="文泉驿等宽微米黑" panose="020B0606030804020204" pitchFamily="34" charset="-122"/>
                </a:rPr>
                <a:t>测试</a:t>
              </a:r>
              <a:r>
                <a:rPr lang="zh-CN" altLang="en-US" dirty="0">
                  <a:latin typeface="Noto Sans S Chinese Regular" panose="020B0500000000000000" pitchFamily="34" charset="-122"/>
                  <a:ea typeface="Noto Sans S Chinese Regular" panose="020B0500000000000000" pitchFamily="34" charset="-122"/>
                  <a:cs typeface="文泉驿等宽微米黑" panose="020B0606030804020204" pitchFamily="34" charset="-122"/>
                </a:rPr>
                <a:t>与分析</a:t>
              </a:r>
              <a:endParaRPr lang="zh-CN" altLang="en-US" dirty="0">
                <a:latin typeface="Noto Sans S Chinese Regular" panose="020B0500000000000000" pitchFamily="34" charset="-122"/>
                <a:ea typeface="Noto Sans S Chinese Regular" panose="020B0500000000000000" pitchFamily="34" charset="-122"/>
                <a:cs typeface="文泉驿等宽微米黑" panose="020B0606030804020204" pitchFamily="34" charset="-122"/>
              </a:endParaRPr>
            </a:p>
          </p:txBody>
        </p:sp>
        <p:sp>
          <p:nvSpPr>
            <p:cNvPr id="98" name="文本框 97"/>
            <p:cNvSpPr txBox="1"/>
            <p:nvPr/>
          </p:nvSpPr>
          <p:spPr>
            <a:xfrm>
              <a:off x="8236855" y="4912822"/>
              <a:ext cx="2696940" cy="645160"/>
            </a:xfrm>
            <a:prstGeom prst="rect">
              <a:avLst/>
            </a:prstGeom>
            <a:noFill/>
          </p:spPr>
          <p:txBody>
            <a:bodyPr wrap="square" rtlCol="0">
              <a:spAutoFit/>
            </a:bodyPr>
            <a:lstStyle>
              <a:defPPr>
                <a:defRPr lang="zh-CN"/>
              </a:defPPr>
              <a:lvl1pPr algn="dist">
                <a:defRPr>
                  <a:latin typeface="华文仿宋" panose="02010600040101010101" pitchFamily="2" charset="-122"/>
                  <a:ea typeface="华文仿宋" panose="02010600040101010101" pitchFamily="2" charset="-122"/>
                </a:defRPr>
              </a:lvl1pPr>
            </a:lstStyle>
            <a:p>
              <a:pPr algn="ctr">
                <a:lnSpc>
                  <a:spcPct val="150000"/>
                </a:lnSpc>
              </a:pPr>
              <a:r>
                <a:rPr lang="zh-CN" altLang="en-US" sz="1200" dirty="0">
                  <a:latin typeface="Noto Sans S Chinese Regular" panose="020B0500000000000000" pitchFamily="34" charset="-122"/>
                  <a:ea typeface="Noto Sans S Chinese Regular" panose="020B0500000000000000" pitchFamily="34" charset="-122"/>
                  <a:cs typeface="文泉驿等宽微米黑" panose="020B0606030804020204" pitchFamily="34" charset="-122"/>
                </a:rPr>
                <a:t>对各个优化阶段的算法进行数据的测试、对比，</a:t>
              </a:r>
              <a:r>
                <a:rPr lang="zh-CN" altLang="en-US" sz="1200" dirty="0">
                  <a:latin typeface="Noto Sans S Chinese Regular" panose="020B0500000000000000" pitchFamily="34" charset="-122"/>
                  <a:ea typeface="Noto Sans S Chinese Regular" panose="020B0500000000000000" pitchFamily="34" charset="-122"/>
                  <a:cs typeface="文泉驿等宽微米黑" panose="020B0606030804020204" pitchFamily="34" charset="-122"/>
                </a:rPr>
                <a:t>与分析</a:t>
              </a:r>
              <a:endParaRPr lang="zh-CN" altLang="en-US" sz="1200" dirty="0">
                <a:latin typeface="Noto Sans S Chinese Regular" panose="020B0500000000000000" pitchFamily="34" charset="-122"/>
                <a:ea typeface="Noto Sans S Chinese Regular" panose="020B0500000000000000" pitchFamily="34" charset="-122"/>
                <a:cs typeface="文泉驿等宽微米黑" panose="020B0606030804020204" pitchFamily="34" charset="-122"/>
              </a:endParaRPr>
            </a:p>
          </p:txBody>
        </p:sp>
      </p:grpSp>
      <p:sp>
        <p:nvSpPr>
          <p:cNvPr id="3" name="文本框 2"/>
          <p:cNvSpPr txBox="1"/>
          <p:nvPr/>
        </p:nvSpPr>
        <p:spPr>
          <a:xfrm>
            <a:off x="4615543" y="606026"/>
            <a:ext cx="2960914" cy="460375"/>
          </a:xfrm>
          <a:prstGeom prst="rect">
            <a:avLst/>
          </a:prstGeom>
          <a:noFill/>
        </p:spPr>
        <p:txBody>
          <a:bodyPr wrap="square" rtlCol="0">
            <a:spAutoFit/>
          </a:bodyPr>
          <a:lstStyle>
            <a:defPPr>
              <a:defRPr lang="zh-CN"/>
            </a:defPPr>
            <a:lvl1pPr algn="ctr">
              <a:defRPr sz="5400">
                <a:latin typeface="汉仪大宋简" panose="02010600000101010101" pitchFamily="49" charset="-122"/>
                <a:ea typeface="汉仪大宋简" panose="02010600000101010101" pitchFamily="49" charset="-122"/>
              </a:defRPr>
            </a:lvl1pPr>
          </a:lstStyle>
          <a:p>
            <a:r>
              <a:rPr lang="zh-CN" altLang="en-US" sz="2400" dirty="0">
                <a:sym typeface="+mn-ea"/>
              </a:rPr>
              <a:t>研究的主要内容</a:t>
            </a:r>
            <a:endParaRPr lang="zh-CN" altLang="en-US" sz="2400" dirty="0"/>
          </a:p>
        </p:txBody>
      </p:sp>
    </p:spTree>
  </p:cSld>
  <p:clrMapOvr>
    <a:masterClrMapping/>
  </p:clrMapOvr>
  <mc:AlternateContent xmlns:mc="http://schemas.openxmlformats.org/markup-compatibility/2006">
    <mc:Choice xmlns:p14="http://schemas.microsoft.com/office/powerpoint/2010/main" Requires="p14">
      <p:transition p14:dur="500">
        <p:push dir="u"/>
      </p:transition>
    </mc:Choice>
    <mc:Fallback>
      <p:transition>
        <p:push dir="u"/>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0" y="0"/>
            <a:ext cx="12192000" cy="6858000"/>
            <a:chOff x="0" y="0"/>
            <a:chExt cx="12192000" cy="6858000"/>
          </a:xfrm>
        </p:grpSpPr>
        <p:pic>
          <p:nvPicPr>
            <p:cNvPr id="9" name="图片 8" descr="图片包含 形状&#10;&#10;描述已自动生成"/>
            <p:cNvPicPr>
              <a:picLocks noChangeAspect="1"/>
            </p:cNvPicPr>
            <p:nvPr/>
          </p:nvPicPr>
          <p:blipFill>
            <a:blip r:embed="rId1">
              <a:extLst>
                <a:ext uri="{28A0092B-C50C-407E-A947-70E740481C1C}">
                  <a14:useLocalDpi xmlns:a14="http://schemas.microsoft.com/office/drawing/2010/main" val="0"/>
                </a:ext>
              </a:extLst>
            </a:blip>
            <a:srcRect l="1641" t="2291" b="2559"/>
            <a:stretch>
              <a:fillRect/>
            </a:stretch>
          </p:blipFill>
          <p:spPr>
            <a:xfrm>
              <a:off x="0" y="0"/>
              <a:ext cx="9893301" cy="6858000"/>
            </a:xfrm>
            <a:custGeom>
              <a:avLst/>
              <a:gdLst>
                <a:gd name="connsiteX0" fmla="*/ 0 w 9893301"/>
                <a:gd name="connsiteY0" fmla="*/ 0 h 6858000"/>
                <a:gd name="connsiteX1" fmla="*/ 9893301 w 9893301"/>
                <a:gd name="connsiteY1" fmla="*/ 0 h 6858000"/>
                <a:gd name="connsiteX2" fmla="*/ 9893301 w 9893301"/>
                <a:gd name="connsiteY2" fmla="*/ 6858000 h 6858000"/>
                <a:gd name="connsiteX3" fmla="*/ 0 w 989330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9893301" h="6858000">
                  <a:moveTo>
                    <a:pt x="0" y="0"/>
                  </a:moveTo>
                  <a:lnTo>
                    <a:pt x="9893301" y="0"/>
                  </a:lnTo>
                  <a:lnTo>
                    <a:pt x="9893301" y="6858000"/>
                  </a:lnTo>
                  <a:lnTo>
                    <a:pt x="0" y="6858000"/>
                  </a:lnTo>
                  <a:close/>
                </a:path>
              </a:pathLst>
            </a:custGeom>
          </p:spPr>
        </p:pic>
        <p:pic>
          <p:nvPicPr>
            <p:cNvPr id="16" name="图片 15" descr="图片包含 形状&#10;&#10;描述已自动生成"/>
            <p:cNvPicPr>
              <a:picLocks noChangeAspect="1"/>
            </p:cNvPicPr>
            <p:nvPr/>
          </p:nvPicPr>
          <p:blipFill>
            <a:blip r:embed="rId1">
              <a:extLst>
                <a:ext uri="{28A0092B-C50C-407E-A947-70E740481C1C}">
                  <a14:useLocalDpi xmlns:a14="http://schemas.microsoft.com/office/drawing/2010/main" val="0"/>
                </a:ext>
              </a:extLst>
            </a:blip>
            <a:srcRect l="40278" t="2291" r="1768" b="2559"/>
            <a:stretch>
              <a:fillRect/>
            </a:stretch>
          </p:blipFill>
          <p:spPr>
            <a:xfrm>
              <a:off x="6362700" y="0"/>
              <a:ext cx="5829300" cy="6858000"/>
            </a:xfrm>
            <a:custGeom>
              <a:avLst/>
              <a:gdLst>
                <a:gd name="connsiteX0" fmla="*/ 0 w 5829300"/>
                <a:gd name="connsiteY0" fmla="*/ 0 h 6858000"/>
                <a:gd name="connsiteX1" fmla="*/ 5829300 w 5829300"/>
                <a:gd name="connsiteY1" fmla="*/ 0 h 6858000"/>
                <a:gd name="connsiteX2" fmla="*/ 5829300 w 5829300"/>
                <a:gd name="connsiteY2" fmla="*/ 6858000 h 6858000"/>
                <a:gd name="connsiteX3" fmla="*/ 0 w 58293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829300" h="6858000">
                  <a:moveTo>
                    <a:pt x="0" y="0"/>
                  </a:moveTo>
                  <a:lnTo>
                    <a:pt x="5829300" y="0"/>
                  </a:lnTo>
                  <a:lnTo>
                    <a:pt x="5829300" y="6858000"/>
                  </a:lnTo>
                  <a:lnTo>
                    <a:pt x="0" y="6858000"/>
                  </a:lnTo>
                  <a:close/>
                </a:path>
              </a:pathLst>
            </a:custGeom>
          </p:spPr>
        </p:pic>
      </p:grpSp>
      <p:sp>
        <p:nvSpPr>
          <p:cNvPr id="19" name="文本框 18"/>
          <p:cNvSpPr txBox="1"/>
          <p:nvPr/>
        </p:nvSpPr>
        <p:spPr>
          <a:xfrm>
            <a:off x="1946861" y="3297535"/>
            <a:ext cx="8280400" cy="923330"/>
          </a:xfrm>
          <a:prstGeom prst="rect">
            <a:avLst/>
          </a:prstGeom>
          <a:noFill/>
        </p:spPr>
        <p:txBody>
          <a:bodyPr wrap="square" rtlCol="0">
            <a:spAutoFit/>
          </a:bodyPr>
          <a:lstStyle/>
          <a:p>
            <a:pPr algn="ctr"/>
            <a:r>
              <a:rPr lang="zh-CN" altLang="en-US" sz="5400" dirty="0">
                <a:latin typeface="汉仪大宋简" panose="02010600000101010101" pitchFamily="49" charset="-122"/>
                <a:ea typeface="汉仪大宋简" panose="02010600000101010101" pitchFamily="49" charset="-122"/>
              </a:rPr>
              <a:t>研究方法与过程</a:t>
            </a:r>
            <a:endParaRPr lang="zh-CN" altLang="en-US" sz="5400" dirty="0">
              <a:latin typeface="汉仪大宋简" panose="02010600000101010101" pitchFamily="49" charset="-122"/>
              <a:ea typeface="汉仪大宋简" panose="02010600000101010101" pitchFamily="49" charset="-122"/>
            </a:endParaRPr>
          </a:p>
        </p:txBody>
      </p:sp>
      <p:sp>
        <p:nvSpPr>
          <p:cNvPr id="21" name="文本框 20"/>
          <p:cNvSpPr txBox="1"/>
          <p:nvPr/>
        </p:nvSpPr>
        <p:spPr>
          <a:xfrm>
            <a:off x="3048000" y="4351687"/>
            <a:ext cx="6096000" cy="369332"/>
          </a:xfrm>
          <a:prstGeom prst="rect">
            <a:avLst/>
          </a:prstGeom>
          <a:noFill/>
        </p:spPr>
        <p:txBody>
          <a:bodyPr wrap="square">
            <a:spAutoFit/>
          </a:bodyPr>
          <a:lstStyle>
            <a:defPPr>
              <a:defRPr lang="zh-CN"/>
            </a:defPPr>
            <a:lvl1pPr algn="dist">
              <a:defRPr>
                <a:latin typeface="Kozuka Gothic Pr6N R" panose="020B0400000000000000" pitchFamily="34" charset="-128"/>
                <a:ea typeface="Kozuka Gothic Pr6N R" panose="020B0400000000000000" pitchFamily="34" charset="-128"/>
              </a:defRPr>
            </a:lvl1pPr>
          </a:lstStyle>
          <a:p>
            <a:r>
              <a:rPr lang="en-US" altLang="zh-CN" dirty="0"/>
              <a:t>The research method and process of the thesis</a:t>
            </a:r>
            <a:endParaRPr lang="zh-CN" altLang="en-US" dirty="0"/>
          </a:p>
        </p:txBody>
      </p:sp>
      <p:sp>
        <p:nvSpPr>
          <p:cNvPr id="22" name="Freeform 5"/>
          <p:cNvSpPr/>
          <p:nvPr/>
        </p:nvSpPr>
        <p:spPr>
          <a:xfrm>
            <a:off x="5293174" y="1897206"/>
            <a:ext cx="1587774" cy="923330"/>
          </a:xfrm>
          <a:custGeom>
            <a:avLst/>
            <a:gdLst/>
            <a:ahLst/>
            <a:cxnLst>
              <a:cxn ang="0">
                <a:pos x="wd2" y="hd2"/>
              </a:cxn>
              <a:cxn ang="5400000">
                <a:pos x="wd2" y="hd2"/>
              </a:cxn>
              <a:cxn ang="10800000">
                <a:pos x="wd2" y="hd2"/>
              </a:cxn>
              <a:cxn ang="16200000">
                <a:pos x="wd2" y="hd2"/>
              </a:cxn>
            </a:cxnLst>
            <a:rect l="0" t="0" r="r" b="b"/>
            <a:pathLst>
              <a:path w="21600" h="21600" extrusionOk="0">
                <a:moveTo>
                  <a:pt x="20978" y="16267"/>
                </a:moveTo>
                <a:cubicBezTo>
                  <a:pt x="20978" y="15467"/>
                  <a:pt x="20823" y="14933"/>
                  <a:pt x="20357" y="14933"/>
                </a:cubicBezTo>
                <a:cubicBezTo>
                  <a:pt x="20357" y="7200"/>
                  <a:pt x="20357" y="7200"/>
                  <a:pt x="20357" y="7200"/>
                </a:cubicBezTo>
                <a:cubicBezTo>
                  <a:pt x="21600" y="6400"/>
                  <a:pt x="21600" y="6400"/>
                  <a:pt x="21600" y="6400"/>
                </a:cubicBezTo>
                <a:cubicBezTo>
                  <a:pt x="10878" y="0"/>
                  <a:pt x="10878" y="0"/>
                  <a:pt x="10878" y="0"/>
                </a:cubicBezTo>
                <a:cubicBezTo>
                  <a:pt x="0" y="6400"/>
                  <a:pt x="0" y="6400"/>
                  <a:pt x="0" y="6400"/>
                </a:cubicBezTo>
                <a:cubicBezTo>
                  <a:pt x="10878" y="12800"/>
                  <a:pt x="10878" y="12800"/>
                  <a:pt x="10878" y="12800"/>
                </a:cubicBezTo>
                <a:cubicBezTo>
                  <a:pt x="19735" y="7467"/>
                  <a:pt x="19735" y="7467"/>
                  <a:pt x="19735" y="7467"/>
                </a:cubicBezTo>
                <a:cubicBezTo>
                  <a:pt x="19735" y="14933"/>
                  <a:pt x="19735" y="14933"/>
                  <a:pt x="19735" y="14933"/>
                </a:cubicBezTo>
                <a:cubicBezTo>
                  <a:pt x="19424" y="14933"/>
                  <a:pt x="19114" y="15467"/>
                  <a:pt x="19114" y="16267"/>
                </a:cubicBezTo>
                <a:cubicBezTo>
                  <a:pt x="19114" y="16800"/>
                  <a:pt x="19424" y="17067"/>
                  <a:pt x="19580" y="17067"/>
                </a:cubicBezTo>
                <a:cubicBezTo>
                  <a:pt x="19114" y="21600"/>
                  <a:pt x="19114" y="21600"/>
                  <a:pt x="19114" y="21600"/>
                </a:cubicBezTo>
                <a:cubicBezTo>
                  <a:pt x="20978" y="21600"/>
                  <a:pt x="20978" y="21600"/>
                  <a:pt x="20978" y="21600"/>
                </a:cubicBezTo>
                <a:cubicBezTo>
                  <a:pt x="20512" y="17067"/>
                  <a:pt x="20512" y="17067"/>
                  <a:pt x="20512" y="17067"/>
                </a:cubicBezTo>
                <a:cubicBezTo>
                  <a:pt x="20823" y="17067"/>
                  <a:pt x="20978" y="16800"/>
                  <a:pt x="20978" y="16267"/>
                </a:cubicBezTo>
                <a:close/>
                <a:moveTo>
                  <a:pt x="4351" y="11200"/>
                </a:moveTo>
                <a:cubicBezTo>
                  <a:pt x="4351" y="18400"/>
                  <a:pt x="4351" y="18400"/>
                  <a:pt x="4351" y="18400"/>
                </a:cubicBezTo>
                <a:cubicBezTo>
                  <a:pt x="4351" y="20267"/>
                  <a:pt x="7304" y="21600"/>
                  <a:pt x="10878" y="21600"/>
                </a:cubicBezTo>
                <a:cubicBezTo>
                  <a:pt x="14296" y="21600"/>
                  <a:pt x="17249" y="20267"/>
                  <a:pt x="17249" y="18400"/>
                </a:cubicBezTo>
                <a:cubicBezTo>
                  <a:pt x="17249" y="11200"/>
                  <a:pt x="17249" y="11200"/>
                  <a:pt x="17249" y="11200"/>
                </a:cubicBezTo>
                <a:cubicBezTo>
                  <a:pt x="10878" y="14933"/>
                  <a:pt x="10878" y="14933"/>
                  <a:pt x="10878" y="14933"/>
                </a:cubicBezTo>
                <a:lnTo>
                  <a:pt x="4351" y="11200"/>
                </a:lnTo>
                <a:close/>
              </a:path>
            </a:pathLst>
          </a:custGeom>
          <a:solidFill>
            <a:srgbClr val="1E1E20"/>
          </a:solidFill>
          <a:ln w="12700" cap="flat">
            <a:noFill/>
            <a:miter lim="400000"/>
          </a:ln>
          <a:effectLst/>
        </p:spPr>
        <p:txBody>
          <a:bodyPr wrap="square" lIns="91439" tIns="91439" rIns="91439" bIns="91439" numCol="1" anchor="t">
            <a:noAutofit/>
          </a:bodyPr>
          <a:lstStyle/>
          <a:p/>
        </p:txBody>
      </p:sp>
    </p:spTree>
  </p:cSld>
  <p:clrMapOvr>
    <a:masterClrMapping/>
  </p:clrMapOvr>
  <mc:AlternateContent xmlns:mc="http://schemas.openxmlformats.org/markup-compatibility/2006">
    <mc:Choice xmlns:p14="http://schemas.microsoft.com/office/powerpoint/2010/main" Requires="p14">
      <p:transition p14:dur="500">
        <p:push dir="u"/>
      </p:transition>
    </mc:Choice>
    <mc:Fallback>
      <p:transition>
        <p:push dir="u"/>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图片 16"/>
          <p:cNvPicPr>
            <a:picLocks noChangeAspect="1"/>
          </p:cNvPicPr>
          <p:nvPr/>
        </p:nvPicPr>
        <p:blipFill>
          <a:blip r:embed="rId1"/>
          <a:srcRect l="600" t="1475" r="483" b="887"/>
          <a:stretch>
            <a:fillRect/>
          </a:stretch>
        </p:blipFill>
        <p:spPr>
          <a:xfrm>
            <a:off x="0" y="0"/>
            <a:ext cx="12192000" cy="6858000"/>
          </a:xfrm>
          <a:custGeom>
            <a:avLst/>
            <a:gdLst>
              <a:gd name="connsiteX0" fmla="*/ 0 w 12060000"/>
              <a:gd name="connsiteY0" fmla="*/ 0 h 6696000"/>
              <a:gd name="connsiteX1" fmla="*/ 12060000 w 12060000"/>
              <a:gd name="connsiteY1" fmla="*/ 0 h 6696000"/>
              <a:gd name="connsiteX2" fmla="*/ 12060000 w 12060000"/>
              <a:gd name="connsiteY2" fmla="*/ 6696000 h 6696000"/>
              <a:gd name="connsiteX3" fmla="*/ 0 w 12060000"/>
              <a:gd name="connsiteY3" fmla="*/ 6696000 h 6696000"/>
            </a:gdLst>
            <a:ahLst/>
            <a:cxnLst>
              <a:cxn ang="0">
                <a:pos x="connsiteX0" y="connsiteY0"/>
              </a:cxn>
              <a:cxn ang="0">
                <a:pos x="connsiteX1" y="connsiteY1"/>
              </a:cxn>
              <a:cxn ang="0">
                <a:pos x="connsiteX2" y="connsiteY2"/>
              </a:cxn>
              <a:cxn ang="0">
                <a:pos x="connsiteX3" y="connsiteY3"/>
              </a:cxn>
            </a:cxnLst>
            <a:rect l="l" t="t" r="r" b="b"/>
            <a:pathLst>
              <a:path w="12060000" h="6696000">
                <a:moveTo>
                  <a:pt x="0" y="0"/>
                </a:moveTo>
                <a:lnTo>
                  <a:pt x="12060000" y="0"/>
                </a:lnTo>
                <a:lnTo>
                  <a:pt x="12060000" y="6696000"/>
                </a:lnTo>
                <a:lnTo>
                  <a:pt x="0" y="6696000"/>
                </a:lnTo>
                <a:close/>
              </a:path>
            </a:pathLst>
          </a:custGeom>
        </p:spPr>
      </p:pic>
      <p:grpSp>
        <p:nvGrpSpPr>
          <p:cNvPr id="57" name="组合 56"/>
          <p:cNvGrpSpPr/>
          <p:nvPr/>
        </p:nvGrpSpPr>
        <p:grpSpPr>
          <a:xfrm>
            <a:off x="849586" y="1180396"/>
            <a:ext cx="4008392" cy="549018"/>
            <a:chOff x="7367646" y="2023825"/>
            <a:chExt cx="4008392" cy="549018"/>
          </a:xfrm>
        </p:grpSpPr>
        <p:sp>
          <p:nvSpPr>
            <p:cNvPr id="58" name="文本框 57"/>
            <p:cNvSpPr txBox="1"/>
            <p:nvPr/>
          </p:nvSpPr>
          <p:spPr>
            <a:xfrm>
              <a:off x="7367646" y="2023825"/>
              <a:ext cx="3703320" cy="337185"/>
            </a:xfrm>
            <a:prstGeom prst="rect">
              <a:avLst/>
            </a:prstGeom>
            <a:noFill/>
          </p:spPr>
          <p:txBody>
            <a:bodyPr wrap="square" rtlCol="0">
              <a:spAutoFit/>
            </a:bodyPr>
            <a:lstStyle>
              <a:defPPr>
                <a:defRPr lang="zh-CN"/>
              </a:defPPr>
              <a:lvl1pPr>
                <a:defRPr>
                  <a:latin typeface="Noto Sans S Chinese Regular" panose="020B0500000000000000" pitchFamily="34" charset="-122"/>
                  <a:ea typeface="Noto Sans S Chinese Regular" panose="020B0500000000000000" pitchFamily="34" charset="-122"/>
                  <a:cs typeface="文泉驿等宽微米黑" panose="020B0606030804020204" pitchFamily="34" charset="-122"/>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600" dirty="0"/>
                <a:t>使用递归和循环完成基本</a:t>
              </a:r>
              <a:r>
                <a:rPr lang="zh-CN" altLang="en-US" sz="1600" dirty="0"/>
                <a:t>代码</a:t>
              </a:r>
              <a:endParaRPr lang="zh-CN" altLang="en-US" sz="1600" dirty="0"/>
            </a:p>
          </p:txBody>
        </p:sp>
        <p:sp>
          <p:nvSpPr>
            <p:cNvPr id="59" name="文本框 58"/>
            <p:cNvSpPr txBox="1"/>
            <p:nvPr/>
          </p:nvSpPr>
          <p:spPr>
            <a:xfrm>
              <a:off x="7367646" y="2276298"/>
              <a:ext cx="4008392" cy="296545"/>
            </a:xfrm>
            <a:prstGeom prst="rect">
              <a:avLst/>
            </a:prstGeom>
            <a:noFill/>
          </p:spPr>
          <p:txBody>
            <a:bodyPr wrap="square" rtlCol="0">
              <a:spAutoFit/>
            </a:bodyPr>
            <a:lstStyle>
              <a:defPPr>
                <a:defRPr lang="zh-CN"/>
              </a:defPPr>
              <a:lvl1pPr>
                <a:lnSpc>
                  <a:spcPct val="150000"/>
                </a:lnSpc>
                <a:defRPr sz="1200">
                  <a:latin typeface="Noto Sans S Chinese Regular" panose="020B0500000000000000" pitchFamily="34" charset="-122"/>
                  <a:ea typeface="Noto Sans S Chinese Regular" panose="020B0500000000000000" pitchFamily="34" charset="-122"/>
                  <a:cs typeface="文泉驿等宽微米黑" panose="020B0606030804020204" pitchFamily="34" charset="-122"/>
                </a:defRPr>
              </a:lvl1pPr>
            </a:lstStyle>
            <a:p>
              <a:pPr>
                <a:lnSpc>
                  <a:spcPts val="1600"/>
                </a:lnSpc>
              </a:pPr>
              <a:r>
                <a:rPr lang="zh-CN" altLang="en-US" sz="1100" dirty="0"/>
                <a:t>分别使用递归和循环算法完成蒙特卡洛路径规划</a:t>
              </a:r>
              <a:r>
                <a:rPr lang="zh-CN" altLang="en-US" sz="1100" dirty="0"/>
                <a:t>算法。</a:t>
              </a:r>
              <a:endParaRPr lang="zh-CN" altLang="en-US" sz="1100" dirty="0"/>
            </a:p>
          </p:txBody>
        </p:sp>
      </p:grpSp>
      <p:sp>
        <p:nvSpPr>
          <p:cNvPr id="3" name="文本框 2"/>
          <p:cNvSpPr txBox="1"/>
          <p:nvPr/>
        </p:nvSpPr>
        <p:spPr>
          <a:xfrm>
            <a:off x="4615543" y="606026"/>
            <a:ext cx="2960914" cy="460375"/>
          </a:xfrm>
          <a:prstGeom prst="rect">
            <a:avLst/>
          </a:prstGeom>
          <a:noFill/>
        </p:spPr>
        <p:txBody>
          <a:bodyPr wrap="square" rtlCol="0">
            <a:spAutoFit/>
          </a:bodyPr>
          <a:lstStyle>
            <a:defPPr>
              <a:defRPr lang="zh-CN"/>
            </a:defPPr>
            <a:lvl1pPr algn="ctr">
              <a:defRPr sz="5400">
                <a:latin typeface="汉仪大宋简" panose="02010600000101010101" pitchFamily="49" charset="-122"/>
                <a:ea typeface="汉仪大宋简" panose="02010600000101010101" pitchFamily="49" charset="-122"/>
              </a:defRPr>
            </a:lvl1pPr>
          </a:lstStyle>
          <a:p>
            <a:r>
              <a:rPr lang="zh-CN" altLang="en-US" sz="2400" dirty="0">
                <a:sym typeface="+mn-ea"/>
              </a:rPr>
              <a:t>递归</a:t>
            </a:r>
            <a:r>
              <a:rPr lang="zh-CN" altLang="en-US" sz="2400" dirty="0">
                <a:sym typeface="+mn-ea"/>
              </a:rPr>
              <a:t>路径规划</a:t>
            </a:r>
            <a:endParaRPr lang="zh-CN" altLang="en-US" sz="2400" dirty="0">
              <a:sym typeface="+mn-ea"/>
            </a:endParaRPr>
          </a:p>
        </p:txBody>
      </p:sp>
      <p:sp>
        <p:nvSpPr>
          <p:cNvPr id="4" name="文本框 3"/>
          <p:cNvSpPr txBox="1"/>
          <p:nvPr/>
        </p:nvSpPr>
        <p:spPr>
          <a:xfrm>
            <a:off x="7786370" y="1729105"/>
            <a:ext cx="3359150" cy="368300"/>
          </a:xfrm>
          <a:prstGeom prst="rect">
            <a:avLst/>
          </a:prstGeom>
          <a:noFill/>
        </p:spPr>
        <p:txBody>
          <a:bodyPr wrap="square" rtlCol="0">
            <a:spAutoFit/>
          </a:bodyPr>
          <a:lstStyle>
            <a:defPPr>
              <a:defRPr lang="zh-CN"/>
            </a:defPPr>
            <a:lvl1pPr algn="dist">
              <a:defRPr>
                <a:latin typeface="华文仿宋" panose="02010600040101010101" pitchFamily="2" charset="-122"/>
                <a:ea typeface="华文仿宋" panose="02010600040101010101" pitchFamily="2" charset="-122"/>
              </a:defRPr>
            </a:lvl1pPr>
          </a:lstStyle>
          <a:p>
            <a:pPr algn="ctr">
              <a:lnSpc>
                <a:spcPct val="150000"/>
              </a:lnSpc>
            </a:pPr>
            <a:r>
              <a:rPr lang="zh-CN" altLang="en-US" sz="1200" dirty="0">
                <a:latin typeface="Noto Sans S Chinese Regular" panose="020B0500000000000000" pitchFamily="34" charset="-122"/>
                <a:ea typeface="Noto Sans S Chinese Regular" panose="020B0500000000000000" pitchFamily="34" charset="-122"/>
                <a:cs typeface="文泉驿等宽微米黑" panose="020B0606030804020204" pitchFamily="34" charset="-122"/>
              </a:rPr>
              <a:t>遍历读入地图中的每个地点的</a:t>
            </a:r>
            <a:r>
              <a:rPr lang="zh-CN" altLang="en-US" sz="1200" dirty="0">
                <a:latin typeface="Noto Sans S Chinese Regular" panose="020B0500000000000000" pitchFamily="34" charset="-122"/>
                <a:ea typeface="Noto Sans S Chinese Regular" panose="020B0500000000000000" pitchFamily="34" charset="-122"/>
                <a:cs typeface="文泉驿等宽微米黑" panose="020B0606030804020204" pitchFamily="34" charset="-122"/>
              </a:rPr>
              <a:t>可行路径数</a:t>
            </a:r>
            <a:endParaRPr lang="zh-CN" altLang="en-US" sz="1200" dirty="0">
              <a:latin typeface="Noto Sans S Chinese Regular" panose="020B0500000000000000" pitchFamily="34" charset="-122"/>
              <a:ea typeface="Noto Sans S Chinese Regular" panose="020B0500000000000000" pitchFamily="34" charset="-122"/>
              <a:cs typeface="文泉驿等宽微米黑" panose="020B0606030804020204" pitchFamily="34" charset="-122"/>
            </a:endParaRPr>
          </a:p>
        </p:txBody>
      </p:sp>
      <p:pic>
        <p:nvPicPr>
          <p:cNvPr id="5" name="图片 4"/>
          <p:cNvPicPr>
            <a:picLocks noChangeAspect="1"/>
          </p:cNvPicPr>
          <p:nvPr/>
        </p:nvPicPr>
        <p:blipFill>
          <a:blip r:embed="rId2"/>
          <a:stretch>
            <a:fillRect/>
          </a:stretch>
        </p:blipFill>
        <p:spPr>
          <a:xfrm>
            <a:off x="1019810" y="1825625"/>
            <a:ext cx="5681980" cy="4196715"/>
          </a:xfrm>
          <a:prstGeom prst="rect">
            <a:avLst/>
          </a:prstGeom>
        </p:spPr>
      </p:pic>
      <p:sp>
        <p:nvSpPr>
          <p:cNvPr id="6" name="文本框 5"/>
          <p:cNvSpPr txBox="1"/>
          <p:nvPr/>
        </p:nvSpPr>
        <p:spPr>
          <a:xfrm>
            <a:off x="8117209" y="3739585"/>
            <a:ext cx="2696940" cy="368300"/>
          </a:xfrm>
          <a:prstGeom prst="rect">
            <a:avLst/>
          </a:prstGeom>
          <a:noFill/>
        </p:spPr>
        <p:txBody>
          <a:bodyPr wrap="square" rtlCol="0">
            <a:spAutoFit/>
          </a:bodyPr>
          <a:lstStyle>
            <a:defPPr>
              <a:defRPr lang="zh-CN"/>
            </a:defPPr>
            <a:lvl1pPr algn="dist">
              <a:defRPr>
                <a:latin typeface="华文仿宋" panose="02010600040101010101" pitchFamily="2" charset="-122"/>
                <a:ea typeface="华文仿宋" panose="02010600040101010101" pitchFamily="2" charset="-122"/>
              </a:defRPr>
            </a:lvl1pPr>
          </a:lstStyle>
          <a:p>
            <a:pPr algn="ctr">
              <a:lnSpc>
                <a:spcPct val="150000"/>
              </a:lnSpc>
            </a:pPr>
            <a:r>
              <a:rPr lang="zh-CN" altLang="en-US" sz="1200" dirty="0">
                <a:latin typeface="Noto Sans S Chinese Regular" panose="020B0500000000000000" pitchFamily="34" charset="-122"/>
                <a:ea typeface="Noto Sans S Chinese Regular" panose="020B0500000000000000" pitchFamily="34" charset="-122"/>
                <a:cs typeface="文泉驿等宽微米黑" panose="020B0606030804020204" pitchFamily="34" charset="-122"/>
              </a:rPr>
              <a:t>重复调用递归函数进行路径规划</a:t>
            </a:r>
            <a:endParaRPr lang="zh-CN" altLang="en-US" sz="1200" dirty="0">
              <a:latin typeface="Noto Sans S Chinese Regular" panose="020B0500000000000000" pitchFamily="34" charset="-122"/>
              <a:ea typeface="Noto Sans S Chinese Regular" panose="020B0500000000000000" pitchFamily="34" charset="-122"/>
              <a:cs typeface="文泉驿等宽微米黑" panose="020B0606030804020204" pitchFamily="34" charset="-122"/>
            </a:endParaRPr>
          </a:p>
        </p:txBody>
      </p:sp>
      <p:sp>
        <p:nvSpPr>
          <p:cNvPr id="7" name="文本框 6"/>
          <p:cNvSpPr txBox="1"/>
          <p:nvPr/>
        </p:nvSpPr>
        <p:spPr>
          <a:xfrm>
            <a:off x="8117209" y="5440115"/>
            <a:ext cx="2696940" cy="368300"/>
          </a:xfrm>
          <a:prstGeom prst="rect">
            <a:avLst/>
          </a:prstGeom>
          <a:noFill/>
        </p:spPr>
        <p:txBody>
          <a:bodyPr wrap="square" rtlCol="0">
            <a:spAutoFit/>
          </a:bodyPr>
          <a:lstStyle>
            <a:defPPr>
              <a:defRPr lang="zh-CN"/>
            </a:defPPr>
            <a:lvl1pPr algn="dist">
              <a:defRPr>
                <a:latin typeface="华文仿宋" panose="02010600040101010101" pitchFamily="2" charset="-122"/>
                <a:ea typeface="华文仿宋" panose="02010600040101010101" pitchFamily="2" charset="-122"/>
              </a:defRPr>
            </a:lvl1pPr>
          </a:lstStyle>
          <a:p>
            <a:pPr algn="ctr">
              <a:lnSpc>
                <a:spcPct val="150000"/>
              </a:lnSpc>
            </a:pPr>
            <a:r>
              <a:rPr lang="zh-CN" altLang="en-US" sz="1200" dirty="0">
                <a:latin typeface="Noto Sans S Chinese Regular" panose="020B0500000000000000" pitchFamily="34" charset="-122"/>
                <a:ea typeface="Noto Sans S Chinese Regular" panose="020B0500000000000000" pitchFamily="34" charset="-122"/>
                <a:cs typeface="文泉驿等宽微米黑" panose="020B0606030804020204" pitchFamily="34" charset="-122"/>
              </a:rPr>
              <a:t>路径颠倒得出正确路</a:t>
            </a:r>
            <a:r>
              <a:rPr lang="zh-CN" altLang="en-US" sz="1200" dirty="0">
                <a:latin typeface="Noto Sans S Chinese Regular" panose="020B0500000000000000" pitchFamily="34" charset="-122"/>
                <a:ea typeface="Noto Sans S Chinese Regular" panose="020B0500000000000000" pitchFamily="34" charset="-122"/>
                <a:cs typeface="文泉驿等宽微米黑" panose="020B0606030804020204" pitchFamily="34" charset="-122"/>
              </a:rPr>
              <a:t>线</a:t>
            </a:r>
            <a:endParaRPr lang="zh-CN" altLang="en-US" sz="1200" dirty="0">
              <a:latin typeface="Noto Sans S Chinese Regular" panose="020B0500000000000000" pitchFamily="34" charset="-122"/>
              <a:ea typeface="Noto Sans S Chinese Regular" panose="020B0500000000000000" pitchFamily="34" charset="-122"/>
              <a:cs typeface="文泉驿等宽微米黑" panose="020B06060308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500">
        <p:push dir="u"/>
      </p:transition>
    </mc:Choice>
    <mc:Fallback>
      <p:transition>
        <p:push dir="u"/>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图片 16"/>
          <p:cNvPicPr>
            <a:picLocks noChangeAspect="1"/>
          </p:cNvPicPr>
          <p:nvPr/>
        </p:nvPicPr>
        <p:blipFill>
          <a:blip r:embed="rId1"/>
          <a:srcRect l="600" t="1475" r="483" b="887"/>
          <a:stretch>
            <a:fillRect/>
          </a:stretch>
        </p:blipFill>
        <p:spPr>
          <a:xfrm>
            <a:off x="0" y="0"/>
            <a:ext cx="12192000" cy="6858000"/>
          </a:xfrm>
          <a:custGeom>
            <a:avLst/>
            <a:gdLst>
              <a:gd name="connsiteX0" fmla="*/ 0 w 12060000"/>
              <a:gd name="connsiteY0" fmla="*/ 0 h 6696000"/>
              <a:gd name="connsiteX1" fmla="*/ 12060000 w 12060000"/>
              <a:gd name="connsiteY1" fmla="*/ 0 h 6696000"/>
              <a:gd name="connsiteX2" fmla="*/ 12060000 w 12060000"/>
              <a:gd name="connsiteY2" fmla="*/ 6696000 h 6696000"/>
              <a:gd name="connsiteX3" fmla="*/ 0 w 12060000"/>
              <a:gd name="connsiteY3" fmla="*/ 6696000 h 6696000"/>
            </a:gdLst>
            <a:ahLst/>
            <a:cxnLst>
              <a:cxn ang="0">
                <a:pos x="connsiteX0" y="connsiteY0"/>
              </a:cxn>
              <a:cxn ang="0">
                <a:pos x="connsiteX1" y="connsiteY1"/>
              </a:cxn>
              <a:cxn ang="0">
                <a:pos x="connsiteX2" y="connsiteY2"/>
              </a:cxn>
              <a:cxn ang="0">
                <a:pos x="connsiteX3" y="connsiteY3"/>
              </a:cxn>
            </a:cxnLst>
            <a:rect l="l" t="t" r="r" b="b"/>
            <a:pathLst>
              <a:path w="12060000" h="6696000">
                <a:moveTo>
                  <a:pt x="0" y="0"/>
                </a:moveTo>
                <a:lnTo>
                  <a:pt x="12060000" y="0"/>
                </a:lnTo>
                <a:lnTo>
                  <a:pt x="12060000" y="6696000"/>
                </a:lnTo>
                <a:lnTo>
                  <a:pt x="0" y="6696000"/>
                </a:lnTo>
                <a:close/>
              </a:path>
            </a:pathLst>
          </a:custGeom>
        </p:spPr>
      </p:pic>
      <p:sp>
        <p:nvSpPr>
          <p:cNvPr id="3" name="文本框 2"/>
          <p:cNvSpPr txBox="1"/>
          <p:nvPr/>
        </p:nvSpPr>
        <p:spPr>
          <a:xfrm>
            <a:off x="4615543" y="606026"/>
            <a:ext cx="2960914" cy="460375"/>
          </a:xfrm>
          <a:prstGeom prst="rect">
            <a:avLst/>
          </a:prstGeom>
          <a:noFill/>
        </p:spPr>
        <p:txBody>
          <a:bodyPr wrap="square" rtlCol="0">
            <a:spAutoFit/>
          </a:bodyPr>
          <a:lstStyle>
            <a:defPPr>
              <a:defRPr lang="zh-CN"/>
            </a:defPPr>
            <a:lvl1pPr algn="ctr">
              <a:defRPr sz="5400">
                <a:latin typeface="汉仪大宋简" panose="02010600000101010101" pitchFamily="49" charset="-122"/>
                <a:ea typeface="汉仪大宋简" panose="02010600000101010101" pitchFamily="49" charset="-122"/>
              </a:defRPr>
            </a:lvl1pPr>
          </a:lstStyle>
          <a:p>
            <a:r>
              <a:rPr lang="zh-CN" altLang="en-US" sz="2400" dirty="0">
                <a:sym typeface="+mn-ea"/>
              </a:rPr>
              <a:t>递归路径规划</a:t>
            </a:r>
            <a:endParaRPr lang="zh-CN" altLang="en-US" sz="2400" dirty="0"/>
          </a:p>
        </p:txBody>
      </p:sp>
      <p:sp>
        <p:nvSpPr>
          <p:cNvPr id="4" name="文本框 3"/>
          <p:cNvSpPr txBox="1"/>
          <p:nvPr/>
        </p:nvSpPr>
        <p:spPr>
          <a:xfrm>
            <a:off x="5010789" y="5476310"/>
            <a:ext cx="2696940" cy="645160"/>
          </a:xfrm>
          <a:prstGeom prst="rect">
            <a:avLst/>
          </a:prstGeom>
          <a:noFill/>
        </p:spPr>
        <p:txBody>
          <a:bodyPr wrap="square" rtlCol="0">
            <a:spAutoFit/>
          </a:bodyPr>
          <a:lstStyle>
            <a:defPPr>
              <a:defRPr lang="zh-CN"/>
            </a:defPPr>
            <a:lvl1pPr algn="dist">
              <a:defRPr>
                <a:latin typeface="华文仿宋" panose="02010600040101010101" pitchFamily="2" charset="-122"/>
                <a:ea typeface="华文仿宋" panose="02010600040101010101" pitchFamily="2" charset="-122"/>
              </a:defRPr>
            </a:lvl1pPr>
          </a:lstStyle>
          <a:p>
            <a:pPr algn="ctr">
              <a:lnSpc>
                <a:spcPct val="150000"/>
              </a:lnSpc>
            </a:pPr>
            <a:r>
              <a:rPr lang="zh-CN" altLang="en-US" sz="1200" dirty="0">
                <a:latin typeface="Noto Sans S Chinese Regular" panose="020B0500000000000000" pitchFamily="34" charset="-122"/>
                <a:ea typeface="Noto Sans S Chinese Regular" panose="020B0500000000000000" pitchFamily="34" charset="-122"/>
                <a:cs typeface="文泉驿等宽微米黑" panose="020B0606030804020204" pitchFamily="34" charset="-122"/>
              </a:rPr>
              <a:t>基于蒙特卡洛算法完成最短路径规划的基本代码</a:t>
            </a:r>
            <a:endParaRPr lang="zh-CN" altLang="en-US" sz="1200" dirty="0">
              <a:latin typeface="Noto Sans S Chinese Regular" panose="020B0500000000000000" pitchFamily="34" charset="-122"/>
              <a:ea typeface="Noto Sans S Chinese Regular" panose="020B0500000000000000" pitchFamily="34" charset="-122"/>
              <a:cs typeface="文泉驿等宽微米黑" panose="020B0606030804020204" pitchFamily="34" charset="-122"/>
            </a:endParaRPr>
          </a:p>
        </p:txBody>
      </p:sp>
      <p:pic>
        <p:nvPicPr>
          <p:cNvPr id="5" name="图片 4"/>
          <p:cNvPicPr>
            <a:picLocks noChangeAspect="1"/>
          </p:cNvPicPr>
          <p:nvPr/>
        </p:nvPicPr>
        <p:blipFill>
          <a:blip r:embed="rId2"/>
          <a:stretch>
            <a:fillRect/>
          </a:stretch>
        </p:blipFill>
        <p:spPr>
          <a:xfrm>
            <a:off x="849630" y="1374775"/>
            <a:ext cx="6858000" cy="4746625"/>
          </a:xfrm>
          <a:prstGeom prst="rect">
            <a:avLst/>
          </a:prstGeom>
        </p:spPr>
      </p:pic>
      <p:pic>
        <p:nvPicPr>
          <p:cNvPr id="6" name="图片 5"/>
          <p:cNvPicPr>
            <a:picLocks noChangeAspect="1"/>
          </p:cNvPicPr>
          <p:nvPr/>
        </p:nvPicPr>
        <p:blipFill>
          <a:blip r:embed="rId3"/>
          <a:stretch>
            <a:fillRect/>
          </a:stretch>
        </p:blipFill>
        <p:spPr>
          <a:xfrm>
            <a:off x="8331835" y="1066165"/>
            <a:ext cx="2085975" cy="1476375"/>
          </a:xfrm>
          <a:prstGeom prst="rect">
            <a:avLst/>
          </a:prstGeom>
        </p:spPr>
      </p:pic>
      <p:sp>
        <p:nvSpPr>
          <p:cNvPr id="7" name="文本框 6"/>
          <p:cNvSpPr txBox="1"/>
          <p:nvPr/>
        </p:nvSpPr>
        <p:spPr>
          <a:xfrm>
            <a:off x="7576185" y="697865"/>
            <a:ext cx="3359150" cy="368300"/>
          </a:xfrm>
          <a:prstGeom prst="rect">
            <a:avLst/>
          </a:prstGeom>
          <a:noFill/>
        </p:spPr>
        <p:txBody>
          <a:bodyPr wrap="square" rtlCol="0">
            <a:spAutoFit/>
          </a:bodyPr>
          <a:lstStyle>
            <a:defPPr>
              <a:defRPr lang="zh-CN"/>
            </a:defPPr>
            <a:lvl1pPr algn="dist">
              <a:defRPr>
                <a:latin typeface="华文仿宋" panose="02010600040101010101" pitchFamily="2" charset="-122"/>
                <a:ea typeface="华文仿宋" panose="02010600040101010101" pitchFamily="2" charset="-122"/>
              </a:defRPr>
            </a:lvl1pPr>
          </a:lstStyle>
          <a:p>
            <a:pPr algn="ctr">
              <a:lnSpc>
                <a:spcPct val="150000"/>
              </a:lnSpc>
            </a:pPr>
            <a:r>
              <a:rPr lang="en-US" altLang="zh-CN" sz="1200" dirty="0">
                <a:latin typeface="Noto Sans S Chinese Regular" panose="020B0500000000000000" pitchFamily="34" charset="-122"/>
                <a:ea typeface="Noto Sans S Chinese Regular" panose="020B0500000000000000" pitchFamily="34" charset="-122"/>
                <a:cs typeface="文泉驿等宽微米黑" panose="020B0606030804020204" pitchFamily="34" charset="-122"/>
              </a:rPr>
              <a:t>A</a:t>
            </a:r>
            <a:r>
              <a:rPr lang="en-US" altLang="zh-CN" sz="1200" dirty="0">
                <a:latin typeface="Noto Sans S Chinese Regular" panose="020B0500000000000000" pitchFamily="34" charset="-122"/>
                <a:ea typeface="Noto Sans S Chinese Regular" panose="020B0500000000000000" pitchFamily="34" charset="-122"/>
                <a:cs typeface="文泉驿等宽微米黑" panose="020B0606030804020204" pitchFamily="34" charset="-122"/>
                <a:sym typeface="+mn-ea"/>
              </a:rPr>
              <a:t>     </a:t>
            </a:r>
            <a:r>
              <a:rPr lang="en-US" altLang="zh-CN" sz="1200" dirty="0">
                <a:latin typeface="Noto Sans S Chinese Regular" panose="020B0500000000000000" pitchFamily="34" charset="-122"/>
                <a:ea typeface="Noto Sans S Chinese Regular" panose="020B0500000000000000" pitchFamily="34" charset="-122"/>
                <a:cs typeface="文泉驿等宽微米黑" panose="020B0606030804020204" pitchFamily="34" charset="-122"/>
              </a:rPr>
              <a:t>B    C</a:t>
            </a:r>
            <a:r>
              <a:rPr lang="en-US" altLang="zh-CN" sz="1200" dirty="0">
                <a:latin typeface="Noto Sans S Chinese Regular" panose="020B0500000000000000" pitchFamily="34" charset="-122"/>
                <a:ea typeface="Noto Sans S Chinese Regular" panose="020B0500000000000000" pitchFamily="34" charset="-122"/>
                <a:cs typeface="文泉驿等宽微米黑" panose="020B0606030804020204" pitchFamily="34" charset="-122"/>
                <a:sym typeface="+mn-ea"/>
              </a:rPr>
              <a:t>    </a:t>
            </a:r>
            <a:r>
              <a:rPr lang="en-US" altLang="zh-CN" sz="1200" dirty="0">
                <a:latin typeface="Noto Sans S Chinese Regular" panose="020B0500000000000000" pitchFamily="34" charset="-122"/>
                <a:ea typeface="Noto Sans S Chinese Regular" panose="020B0500000000000000" pitchFamily="34" charset="-122"/>
                <a:cs typeface="文泉驿等宽微米黑" panose="020B0606030804020204" pitchFamily="34" charset="-122"/>
              </a:rPr>
              <a:t>D</a:t>
            </a:r>
            <a:r>
              <a:rPr lang="en-US" altLang="zh-CN" sz="1200" dirty="0">
                <a:latin typeface="Noto Sans S Chinese Regular" panose="020B0500000000000000" pitchFamily="34" charset="-122"/>
                <a:ea typeface="Noto Sans S Chinese Regular" panose="020B0500000000000000" pitchFamily="34" charset="-122"/>
                <a:cs typeface="文泉驿等宽微米黑" panose="020B0606030804020204" pitchFamily="34" charset="-122"/>
                <a:sym typeface="+mn-ea"/>
              </a:rPr>
              <a:t>    </a:t>
            </a:r>
            <a:r>
              <a:rPr lang="en-US" altLang="zh-CN" sz="1200" dirty="0">
                <a:latin typeface="Noto Sans S Chinese Regular" panose="020B0500000000000000" pitchFamily="34" charset="-122"/>
                <a:ea typeface="Noto Sans S Chinese Regular" panose="020B0500000000000000" pitchFamily="34" charset="-122"/>
                <a:cs typeface="文泉驿等宽微米黑" panose="020B0606030804020204" pitchFamily="34" charset="-122"/>
              </a:rPr>
              <a:t>E</a:t>
            </a:r>
            <a:endParaRPr lang="en-US" altLang="zh-CN" sz="1200" dirty="0">
              <a:latin typeface="Noto Sans S Chinese Regular" panose="020B0500000000000000" pitchFamily="34" charset="-122"/>
              <a:ea typeface="Noto Sans S Chinese Regular" panose="020B0500000000000000" pitchFamily="34" charset="-122"/>
              <a:cs typeface="文泉驿等宽微米黑" panose="020B0606030804020204" pitchFamily="34" charset="-122"/>
            </a:endParaRPr>
          </a:p>
        </p:txBody>
      </p:sp>
      <p:sp>
        <p:nvSpPr>
          <p:cNvPr id="8" name="文本框 7"/>
          <p:cNvSpPr txBox="1"/>
          <p:nvPr/>
        </p:nvSpPr>
        <p:spPr>
          <a:xfrm>
            <a:off x="7954010" y="962660"/>
            <a:ext cx="377825" cy="1476375"/>
          </a:xfrm>
          <a:prstGeom prst="rect">
            <a:avLst/>
          </a:prstGeom>
          <a:noFill/>
        </p:spPr>
        <p:txBody>
          <a:bodyPr wrap="square" rtlCol="0">
            <a:spAutoFit/>
          </a:bodyPr>
          <a:lstStyle>
            <a:defPPr>
              <a:defRPr lang="zh-CN"/>
            </a:defPPr>
            <a:lvl1pPr algn="dist">
              <a:defRPr>
                <a:latin typeface="华文仿宋" panose="02010600040101010101" pitchFamily="2" charset="-122"/>
                <a:ea typeface="华文仿宋" panose="02010600040101010101" pitchFamily="2" charset="-122"/>
              </a:defRPr>
            </a:lvl1pPr>
          </a:lstStyle>
          <a:p>
            <a:pPr algn="ctr">
              <a:lnSpc>
                <a:spcPct val="150000"/>
              </a:lnSpc>
            </a:pPr>
            <a:r>
              <a:rPr lang="en-US" altLang="zh-CN" sz="1200" dirty="0">
                <a:latin typeface="Noto Sans S Chinese Regular" panose="020B0500000000000000" pitchFamily="34" charset="-122"/>
                <a:ea typeface="Noto Sans S Chinese Regular" panose="020B0500000000000000" pitchFamily="34" charset="-122"/>
                <a:cs typeface="文泉驿等宽微米黑" panose="020B0606030804020204" pitchFamily="34" charset="-122"/>
              </a:rPr>
              <a:t>A</a:t>
            </a:r>
            <a:r>
              <a:rPr lang="en-US" altLang="zh-CN" sz="1200" dirty="0">
                <a:latin typeface="Noto Sans S Chinese Regular" panose="020B0500000000000000" pitchFamily="34" charset="-122"/>
                <a:ea typeface="Noto Sans S Chinese Regular" panose="020B0500000000000000" pitchFamily="34" charset="-122"/>
                <a:cs typeface="文泉驿等宽微米黑" panose="020B0606030804020204" pitchFamily="34" charset="-122"/>
                <a:sym typeface="+mn-ea"/>
              </a:rPr>
              <a:t>   </a:t>
            </a:r>
            <a:r>
              <a:rPr lang="en-US" altLang="zh-CN" sz="1200" dirty="0">
                <a:latin typeface="Noto Sans S Chinese Regular" panose="020B0500000000000000" pitchFamily="34" charset="-122"/>
                <a:ea typeface="Noto Sans S Chinese Regular" panose="020B0500000000000000" pitchFamily="34" charset="-122"/>
                <a:cs typeface="文泉驿等宽微米黑" panose="020B0606030804020204" pitchFamily="34" charset="-122"/>
              </a:rPr>
              <a:t>B    C</a:t>
            </a:r>
            <a:r>
              <a:rPr lang="en-US" altLang="zh-CN" sz="1200" dirty="0">
                <a:latin typeface="Noto Sans S Chinese Regular" panose="020B0500000000000000" pitchFamily="34" charset="-122"/>
                <a:ea typeface="Noto Sans S Chinese Regular" panose="020B0500000000000000" pitchFamily="34" charset="-122"/>
                <a:cs typeface="文泉驿等宽微米黑" panose="020B0606030804020204" pitchFamily="34" charset="-122"/>
                <a:sym typeface="+mn-ea"/>
              </a:rPr>
              <a:t>    </a:t>
            </a:r>
            <a:r>
              <a:rPr lang="en-US" altLang="zh-CN" sz="1200" dirty="0">
                <a:latin typeface="Noto Sans S Chinese Regular" panose="020B0500000000000000" pitchFamily="34" charset="-122"/>
                <a:ea typeface="Noto Sans S Chinese Regular" panose="020B0500000000000000" pitchFamily="34" charset="-122"/>
                <a:cs typeface="文泉驿等宽微米黑" panose="020B0606030804020204" pitchFamily="34" charset="-122"/>
              </a:rPr>
              <a:t>D</a:t>
            </a:r>
            <a:r>
              <a:rPr lang="en-US" altLang="zh-CN" sz="1200" dirty="0">
                <a:latin typeface="Noto Sans S Chinese Regular" panose="020B0500000000000000" pitchFamily="34" charset="-122"/>
                <a:ea typeface="Noto Sans S Chinese Regular" panose="020B0500000000000000" pitchFamily="34" charset="-122"/>
                <a:cs typeface="文泉驿等宽微米黑" panose="020B0606030804020204" pitchFamily="34" charset="-122"/>
                <a:sym typeface="+mn-ea"/>
              </a:rPr>
              <a:t>    </a:t>
            </a:r>
            <a:r>
              <a:rPr lang="en-US" altLang="zh-CN" sz="1200" dirty="0">
                <a:latin typeface="Noto Sans S Chinese Regular" panose="020B0500000000000000" pitchFamily="34" charset="-122"/>
                <a:ea typeface="Noto Sans S Chinese Regular" panose="020B0500000000000000" pitchFamily="34" charset="-122"/>
                <a:cs typeface="文泉驿等宽微米黑" panose="020B0606030804020204" pitchFamily="34" charset="-122"/>
              </a:rPr>
              <a:t>E</a:t>
            </a:r>
            <a:endParaRPr lang="en-US" altLang="zh-CN" sz="1200" dirty="0">
              <a:latin typeface="Noto Sans S Chinese Regular" panose="020B0500000000000000" pitchFamily="34" charset="-122"/>
              <a:ea typeface="Noto Sans S Chinese Regular" panose="020B0500000000000000" pitchFamily="34" charset="-122"/>
              <a:cs typeface="文泉驿等宽微米黑" panose="020B0606030804020204" pitchFamily="34" charset="-122"/>
            </a:endParaRPr>
          </a:p>
        </p:txBody>
      </p:sp>
      <p:pic>
        <p:nvPicPr>
          <p:cNvPr id="9" name="图片 8"/>
          <p:cNvPicPr>
            <a:picLocks noChangeAspect="1"/>
          </p:cNvPicPr>
          <p:nvPr/>
        </p:nvPicPr>
        <p:blipFill>
          <a:blip r:embed="rId4"/>
          <a:stretch>
            <a:fillRect/>
          </a:stretch>
        </p:blipFill>
        <p:spPr>
          <a:xfrm>
            <a:off x="8051800" y="2542540"/>
            <a:ext cx="3297555" cy="438150"/>
          </a:xfrm>
          <a:prstGeom prst="rect">
            <a:avLst/>
          </a:prstGeom>
        </p:spPr>
      </p:pic>
      <p:sp>
        <p:nvSpPr>
          <p:cNvPr id="10" name="右箭头 9"/>
          <p:cNvSpPr/>
          <p:nvPr/>
        </p:nvSpPr>
        <p:spPr>
          <a:xfrm rot="16200000">
            <a:off x="8403590" y="3124835"/>
            <a:ext cx="443230" cy="36131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 name="文本框 11"/>
          <p:cNvSpPr txBox="1"/>
          <p:nvPr/>
        </p:nvSpPr>
        <p:spPr>
          <a:xfrm>
            <a:off x="8444865" y="3669665"/>
            <a:ext cx="1240155" cy="645160"/>
          </a:xfrm>
          <a:prstGeom prst="rect">
            <a:avLst/>
          </a:prstGeom>
          <a:noFill/>
        </p:spPr>
        <p:txBody>
          <a:bodyPr wrap="square" rtlCol="0">
            <a:spAutoFit/>
          </a:bodyPr>
          <a:lstStyle>
            <a:defPPr>
              <a:defRPr lang="zh-CN"/>
            </a:defPPr>
            <a:lvl1pPr algn="dist">
              <a:defRPr>
                <a:latin typeface="华文仿宋" panose="02010600040101010101" pitchFamily="2" charset="-122"/>
                <a:ea typeface="华文仿宋" panose="02010600040101010101" pitchFamily="2" charset="-122"/>
              </a:defRPr>
            </a:lvl1pPr>
          </a:lstStyle>
          <a:p>
            <a:pPr algn="ctr">
              <a:lnSpc>
                <a:spcPct val="150000"/>
              </a:lnSpc>
            </a:pPr>
            <a:r>
              <a:rPr lang="en-US" altLang="zh-CN" sz="1200" dirty="0">
                <a:latin typeface="Noto Sans S Chinese Regular" panose="020B0500000000000000" pitchFamily="34" charset="-122"/>
                <a:ea typeface="Noto Sans S Chinese Regular" panose="020B0500000000000000" pitchFamily="34" charset="-122"/>
                <a:cs typeface="文泉驿等宽微米黑" panose="020B0606030804020204" pitchFamily="34" charset="-122"/>
              </a:rPr>
              <a:t>real_number=1</a:t>
            </a:r>
            <a:endParaRPr lang="en-US" altLang="zh-CN" sz="1200" dirty="0">
              <a:latin typeface="Noto Sans S Chinese Regular" panose="020B0500000000000000" pitchFamily="34" charset="-122"/>
              <a:ea typeface="Noto Sans S Chinese Regular" panose="020B0500000000000000" pitchFamily="34" charset="-122"/>
              <a:cs typeface="文泉驿等宽微米黑" panose="020B0606030804020204" pitchFamily="34" charset="-122"/>
            </a:endParaRPr>
          </a:p>
          <a:p>
            <a:pPr marL="0" lvl="0" indent="0" algn="ctr">
              <a:lnSpc>
                <a:spcPct val="150000"/>
              </a:lnSpc>
              <a:buNone/>
            </a:pPr>
            <a:endParaRPr lang="en-US" altLang="zh-CN" sz="1200" dirty="0">
              <a:solidFill>
                <a:schemeClr val="tx1"/>
              </a:solidFill>
              <a:latin typeface="Noto Sans S Chinese Regular" panose="020B0500000000000000" pitchFamily="34" charset="-122"/>
              <a:ea typeface="Noto Sans S Chinese Regular" panose="020B0500000000000000" pitchFamily="34" charset="-122"/>
              <a:cs typeface="文泉驿等宽微米黑" panose="020B0606030804020204" pitchFamily="34" charset="-122"/>
            </a:endParaRPr>
          </a:p>
        </p:txBody>
      </p:sp>
      <p:sp>
        <p:nvSpPr>
          <p:cNvPr id="13" name="文本框 12"/>
          <p:cNvSpPr txBox="1"/>
          <p:nvPr/>
        </p:nvSpPr>
        <p:spPr>
          <a:xfrm>
            <a:off x="8263255" y="4157980"/>
            <a:ext cx="1240155" cy="645160"/>
          </a:xfrm>
          <a:prstGeom prst="rect">
            <a:avLst/>
          </a:prstGeom>
          <a:noFill/>
        </p:spPr>
        <p:txBody>
          <a:bodyPr wrap="square" rtlCol="0">
            <a:spAutoFit/>
          </a:bodyPr>
          <a:lstStyle>
            <a:defPPr>
              <a:defRPr lang="zh-CN"/>
            </a:defPPr>
            <a:lvl1pPr algn="dist">
              <a:defRPr>
                <a:latin typeface="华文仿宋" panose="02010600040101010101" pitchFamily="2" charset="-122"/>
                <a:ea typeface="华文仿宋" panose="02010600040101010101" pitchFamily="2" charset="-122"/>
              </a:defRPr>
            </a:lvl1pPr>
          </a:lstStyle>
          <a:p>
            <a:pPr algn="ctr">
              <a:lnSpc>
                <a:spcPct val="150000"/>
              </a:lnSpc>
            </a:pPr>
            <a:r>
              <a:rPr lang="en-US" altLang="zh-CN" sz="1200" dirty="0">
                <a:latin typeface="Noto Sans S Chinese Regular" panose="020B0500000000000000" pitchFamily="34" charset="-122"/>
                <a:ea typeface="Noto Sans S Chinese Regular" panose="020B0500000000000000" pitchFamily="34" charset="-122"/>
                <a:cs typeface="文泉驿等宽微米黑" panose="020B0606030804020204" pitchFamily="34" charset="-122"/>
              </a:rPr>
              <a:t>search=1</a:t>
            </a:r>
            <a:endParaRPr lang="en-US" altLang="zh-CN" sz="1200" dirty="0">
              <a:latin typeface="Noto Sans S Chinese Regular" panose="020B0500000000000000" pitchFamily="34" charset="-122"/>
              <a:ea typeface="Noto Sans S Chinese Regular" panose="020B0500000000000000" pitchFamily="34" charset="-122"/>
              <a:cs typeface="文泉驿等宽微米黑" panose="020B0606030804020204" pitchFamily="34" charset="-122"/>
            </a:endParaRPr>
          </a:p>
          <a:p>
            <a:pPr marL="0" lvl="0" indent="0" algn="ctr">
              <a:lnSpc>
                <a:spcPct val="150000"/>
              </a:lnSpc>
              <a:buNone/>
            </a:pPr>
            <a:endParaRPr lang="en-US" altLang="zh-CN" sz="1200" dirty="0">
              <a:solidFill>
                <a:schemeClr val="tx1"/>
              </a:solidFill>
              <a:latin typeface="Noto Sans S Chinese Regular" panose="020B0500000000000000" pitchFamily="34" charset="-122"/>
              <a:ea typeface="Noto Sans S Chinese Regular" panose="020B0500000000000000" pitchFamily="34" charset="-122"/>
              <a:cs typeface="文泉驿等宽微米黑" panose="020B0606030804020204" pitchFamily="34" charset="-122"/>
            </a:endParaRPr>
          </a:p>
        </p:txBody>
      </p:sp>
      <p:sp>
        <p:nvSpPr>
          <p:cNvPr id="14" name="文本框 13"/>
          <p:cNvSpPr txBox="1"/>
          <p:nvPr/>
        </p:nvSpPr>
        <p:spPr>
          <a:xfrm>
            <a:off x="8444865" y="4598035"/>
            <a:ext cx="1240155" cy="645160"/>
          </a:xfrm>
          <a:prstGeom prst="rect">
            <a:avLst/>
          </a:prstGeom>
          <a:noFill/>
        </p:spPr>
        <p:txBody>
          <a:bodyPr wrap="square" rtlCol="0">
            <a:spAutoFit/>
          </a:bodyPr>
          <a:lstStyle>
            <a:defPPr>
              <a:defRPr lang="zh-CN"/>
            </a:defPPr>
            <a:lvl1pPr algn="dist">
              <a:defRPr>
                <a:latin typeface="华文仿宋" panose="02010600040101010101" pitchFamily="2" charset="-122"/>
                <a:ea typeface="华文仿宋" panose="02010600040101010101" pitchFamily="2" charset="-122"/>
              </a:defRPr>
            </a:lvl1pPr>
          </a:lstStyle>
          <a:p>
            <a:pPr algn="ctr">
              <a:lnSpc>
                <a:spcPct val="150000"/>
              </a:lnSpc>
            </a:pPr>
            <a:r>
              <a:rPr lang="en-US" altLang="zh-CN" sz="1200" dirty="0">
                <a:latin typeface="Noto Sans S Chinese Regular" panose="020B0500000000000000" pitchFamily="34" charset="-122"/>
                <a:ea typeface="Noto Sans S Chinese Regular" panose="020B0500000000000000" pitchFamily="34" charset="-122"/>
                <a:cs typeface="文泉驿等宽微米黑" panose="020B0606030804020204" pitchFamily="34" charset="-122"/>
              </a:rPr>
              <a:t>mtkl_number=3</a:t>
            </a:r>
            <a:endParaRPr lang="en-US" altLang="zh-CN" sz="1200" dirty="0">
              <a:latin typeface="Noto Sans S Chinese Regular" panose="020B0500000000000000" pitchFamily="34" charset="-122"/>
              <a:ea typeface="Noto Sans S Chinese Regular" panose="020B0500000000000000" pitchFamily="34" charset="-122"/>
              <a:cs typeface="文泉驿等宽微米黑" panose="020B0606030804020204" pitchFamily="34" charset="-122"/>
            </a:endParaRPr>
          </a:p>
          <a:p>
            <a:pPr marL="0" lvl="0" indent="0" algn="ctr">
              <a:lnSpc>
                <a:spcPct val="150000"/>
              </a:lnSpc>
              <a:buNone/>
            </a:pPr>
            <a:endParaRPr lang="en-US" altLang="zh-CN" sz="1200" dirty="0">
              <a:solidFill>
                <a:schemeClr val="tx1"/>
              </a:solidFill>
              <a:latin typeface="Noto Sans S Chinese Regular" panose="020B0500000000000000" pitchFamily="34" charset="-122"/>
              <a:ea typeface="Noto Sans S Chinese Regular" panose="020B0500000000000000" pitchFamily="34" charset="-122"/>
              <a:cs typeface="文泉驿等宽微米黑" panose="020B06060308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500">
        <p:push dir="u"/>
      </p:transition>
    </mc:Choice>
    <mc:Fallback>
      <p:transition>
        <p:push dir="u"/>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图片 16"/>
          <p:cNvPicPr>
            <a:picLocks noChangeAspect="1"/>
          </p:cNvPicPr>
          <p:nvPr/>
        </p:nvPicPr>
        <p:blipFill>
          <a:blip r:embed="rId1"/>
          <a:srcRect l="600" t="1475" r="483" b="887"/>
          <a:stretch>
            <a:fillRect/>
          </a:stretch>
        </p:blipFill>
        <p:spPr>
          <a:xfrm>
            <a:off x="0" y="0"/>
            <a:ext cx="12192000" cy="6858000"/>
          </a:xfrm>
          <a:custGeom>
            <a:avLst/>
            <a:gdLst>
              <a:gd name="connsiteX0" fmla="*/ 0 w 12060000"/>
              <a:gd name="connsiteY0" fmla="*/ 0 h 6696000"/>
              <a:gd name="connsiteX1" fmla="*/ 12060000 w 12060000"/>
              <a:gd name="connsiteY1" fmla="*/ 0 h 6696000"/>
              <a:gd name="connsiteX2" fmla="*/ 12060000 w 12060000"/>
              <a:gd name="connsiteY2" fmla="*/ 6696000 h 6696000"/>
              <a:gd name="connsiteX3" fmla="*/ 0 w 12060000"/>
              <a:gd name="connsiteY3" fmla="*/ 6696000 h 6696000"/>
            </a:gdLst>
            <a:ahLst/>
            <a:cxnLst>
              <a:cxn ang="0">
                <a:pos x="connsiteX0" y="connsiteY0"/>
              </a:cxn>
              <a:cxn ang="0">
                <a:pos x="connsiteX1" y="connsiteY1"/>
              </a:cxn>
              <a:cxn ang="0">
                <a:pos x="connsiteX2" y="connsiteY2"/>
              </a:cxn>
              <a:cxn ang="0">
                <a:pos x="connsiteX3" y="connsiteY3"/>
              </a:cxn>
            </a:cxnLst>
            <a:rect l="l" t="t" r="r" b="b"/>
            <a:pathLst>
              <a:path w="12060000" h="6696000">
                <a:moveTo>
                  <a:pt x="0" y="0"/>
                </a:moveTo>
                <a:lnTo>
                  <a:pt x="12060000" y="0"/>
                </a:lnTo>
                <a:lnTo>
                  <a:pt x="12060000" y="6696000"/>
                </a:lnTo>
                <a:lnTo>
                  <a:pt x="0" y="6696000"/>
                </a:lnTo>
                <a:close/>
              </a:path>
            </a:pathLst>
          </a:custGeom>
        </p:spPr>
      </p:pic>
      <p:sp>
        <p:nvSpPr>
          <p:cNvPr id="3" name="文本框 2"/>
          <p:cNvSpPr txBox="1"/>
          <p:nvPr/>
        </p:nvSpPr>
        <p:spPr>
          <a:xfrm>
            <a:off x="4615543" y="606026"/>
            <a:ext cx="2960914" cy="460375"/>
          </a:xfrm>
          <a:prstGeom prst="rect">
            <a:avLst/>
          </a:prstGeom>
          <a:noFill/>
        </p:spPr>
        <p:txBody>
          <a:bodyPr wrap="square" rtlCol="0">
            <a:spAutoFit/>
          </a:bodyPr>
          <a:lstStyle>
            <a:defPPr>
              <a:defRPr lang="zh-CN"/>
            </a:defPPr>
            <a:lvl1pPr algn="ctr">
              <a:defRPr sz="5400">
                <a:latin typeface="汉仪大宋简" panose="02010600000101010101" pitchFamily="49" charset="-122"/>
                <a:ea typeface="汉仪大宋简" panose="02010600000101010101" pitchFamily="49" charset="-122"/>
              </a:defRPr>
            </a:lvl1pPr>
          </a:lstStyle>
          <a:p>
            <a:r>
              <a:rPr lang="zh-CN" altLang="en-US" sz="2400" dirty="0">
                <a:sym typeface="+mn-ea"/>
              </a:rPr>
              <a:t>递归路径规划</a:t>
            </a:r>
            <a:endParaRPr lang="zh-CN" altLang="en-US" sz="2400" dirty="0"/>
          </a:p>
        </p:txBody>
      </p:sp>
      <p:sp>
        <p:nvSpPr>
          <p:cNvPr id="4" name="文本框 3"/>
          <p:cNvSpPr txBox="1"/>
          <p:nvPr/>
        </p:nvSpPr>
        <p:spPr>
          <a:xfrm>
            <a:off x="5010789" y="5476310"/>
            <a:ext cx="2696940" cy="645160"/>
          </a:xfrm>
          <a:prstGeom prst="rect">
            <a:avLst/>
          </a:prstGeom>
          <a:noFill/>
        </p:spPr>
        <p:txBody>
          <a:bodyPr wrap="square" rtlCol="0">
            <a:spAutoFit/>
          </a:bodyPr>
          <a:lstStyle>
            <a:defPPr>
              <a:defRPr lang="zh-CN"/>
            </a:defPPr>
            <a:lvl1pPr algn="dist">
              <a:defRPr>
                <a:latin typeface="华文仿宋" panose="02010600040101010101" pitchFamily="2" charset="-122"/>
                <a:ea typeface="华文仿宋" panose="02010600040101010101" pitchFamily="2" charset="-122"/>
              </a:defRPr>
            </a:lvl1pPr>
          </a:lstStyle>
          <a:p>
            <a:pPr algn="ctr">
              <a:lnSpc>
                <a:spcPct val="150000"/>
              </a:lnSpc>
            </a:pPr>
            <a:r>
              <a:rPr lang="zh-CN" altLang="en-US" sz="1200" dirty="0">
                <a:latin typeface="Noto Sans S Chinese Regular" panose="020B0500000000000000" pitchFamily="34" charset="-122"/>
                <a:ea typeface="Noto Sans S Chinese Regular" panose="020B0500000000000000" pitchFamily="34" charset="-122"/>
                <a:cs typeface="文泉驿等宽微米黑" panose="020B0606030804020204" pitchFamily="34" charset="-122"/>
              </a:rPr>
              <a:t>基于蒙特卡洛算法完成最短路径规划的基本代码</a:t>
            </a:r>
            <a:endParaRPr lang="zh-CN" altLang="en-US" sz="1200" dirty="0">
              <a:latin typeface="Noto Sans S Chinese Regular" panose="020B0500000000000000" pitchFamily="34" charset="-122"/>
              <a:ea typeface="Noto Sans S Chinese Regular" panose="020B0500000000000000" pitchFamily="34" charset="-122"/>
              <a:cs typeface="文泉驿等宽微米黑" panose="020B0606030804020204" pitchFamily="34" charset="-122"/>
            </a:endParaRPr>
          </a:p>
        </p:txBody>
      </p:sp>
      <p:pic>
        <p:nvPicPr>
          <p:cNvPr id="5" name="图片 4"/>
          <p:cNvPicPr>
            <a:picLocks noChangeAspect="1"/>
          </p:cNvPicPr>
          <p:nvPr/>
        </p:nvPicPr>
        <p:blipFill>
          <a:blip r:embed="rId2"/>
          <a:stretch>
            <a:fillRect/>
          </a:stretch>
        </p:blipFill>
        <p:spPr>
          <a:xfrm>
            <a:off x="849630" y="1374775"/>
            <a:ext cx="6858000" cy="4746625"/>
          </a:xfrm>
          <a:prstGeom prst="rect">
            <a:avLst/>
          </a:prstGeom>
        </p:spPr>
      </p:pic>
      <p:pic>
        <p:nvPicPr>
          <p:cNvPr id="6" name="图片 5"/>
          <p:cNvPicPr>
            <a:picLocks noChangeAspect="1"/>
          </p:cNvPicPr>
          <p:nvPr/>
        </p:nvPicPr>
        <p:blipFill>
          <a:blip r:embed="rId3"/>
          <a:stretch>
            <a:fillRect/>
          </a:stretch>
        </p:blipFill>
        <p:spPr>
          <a:xfrm>
            <a:off x="8331835" y="1066165"/>
            <a:ext cx="2085975" cy="1476375"/>
          </a:xfrm>
          <a:prstGeom prst="rect">
            <a:avLst/>
          </a:prstGeom>
        </p:spPr>
      </p:pic>
      <p:sp>
        <p:nvSpPr>
          <p:cNvPr id="7" name="文本框 6"/>
          <p:cNvSpPr txBox="1"/>
          <p:nvPr/>
        </p:nvSpPr>
        <p:spPr>
          <a:xfrm>
            <a:off x="7576185" y="697865"/>
            <a:ext cx="3359150" cy="368300"/>
          </a:xfrm>
          <a:prstGeom prst="rect">
            <a:avLst/>
          </a:prstGeom>
          <a:noFill/>
        </p:spPr>
        <p:txBody>
          <a:bodyPr wrap="square" rtlCol="0">
            <a:spAutoFit/>
          </a:bodyPr>
          <a:lstStyle>
            <a:defPPr>
              <a:defRPr lang="zh-CN"/>
            </a:defPPr>
            <a:lvl1pPr algn="dist">
              <a:defRPr>
                <a:latin typeface="华文仿宋" panose="02010600040101010101" pitchFamily="2" charset="-122"/>
                <a:ea typeface="华文仿宋" panose="02010600040101010101" pitchFamily="2" charset="-122"/>
              </a:defRPr>
            </a:lvl1pPr>
          </a:lstStyle>
          <a:p>
            <a:pPr algn="ctr">
              <a:lnSpc>
                <a:spcPct val="150000"/>
              </a:lnSpc>
            </a:pPr>
            <a:r>
              <a:rPr lang="en-US" altLang="zh-CN" sz="1200" dirty="0">
                <a:latin typeface="Noto Sans S Chinese Regular" panose="020B0500000000000000" pitchFamily="34" charset="-122"/>
                <a:ea typeface="Noto Sans S Chinese Regular" panose="020B0500000000000000" pitchFamily="34" charset="-122"/>
                <a:cs typeface="文泉驿等宽微米黑" panose="020B0606030804020204" pitchFamily="34" charset="-122"/>
              </a:rPr>
              <a:t>A</a:t>
            </a:r>
            <a:r>
              <a:rPr lang="en-US" altLang="zh-CN" sz="1200" dirty="0">
                <a:latin typeface="Noto Sans S Chinese Regular" panose="020B0500000000000000" pitchFamily="34" charset="-122"/>
                <a:ea typeface="Noto Sans S Chinese Regular" panose="020B0500000000000000" pitchFamily="34" charset="-122"/>
                <a:cs typeface="文泉驿等宽微米黑" panose="020B0606030804020204" pitchFamily="34" charset="-122"/>
                <a:sym typeface="+mn-ea"/>
              </a:rPr>
              <a:t>     </a:t>
            </a:r>
            <a:r>
              <a:rPr lang="en-US" altLang="zh-CN" sz="1200" dirty="0">
                <a:latin typeface="Noto Sans S Chinese Regular" panose="020B0500000000000000" pitchFamily="34" charset="-122"/>
                <a:ea typeface="Noto Sans S Chinese Regular" panose="020B0500000000000000" pitchFamily="34" charset="-122"/>
                <a:cs typeface="文泉驿等宽微米黑" panose="020B0606030804020204" pitchFamily="34" charset="-122"/>
              </a:rPr>
              <a:t>B    C</a:t>
            </a:r>
            <a:r>
              <a:rPr lang="en-US" altLang="zh-CN" sz="1200" dirty="0">
                <a:latin typeface="Noto Sans S Chinese Regular" panose="020B0500000000000000" pitchFamily="34" charset="-122"/>
                <a:ea typeface="Noto Sans S Chinese Regular" panose="020B0500000000000000" pitchFamily="34" charset="-122"/>
                <a:cs typeface="文泉驿等宽微米黑" panose="020B0606030804020204" pitchFamily="34" charset="-122"/>
                <a:sym typeface="+mn-ea"/>
              </a:rPr>
              <a:t>    </a:t>
            </a:r>
            <a:r>
              <a:rPr lang="en-US" altLang="zh-CN" sz="1200" dirty="0">
                <a:latin typeface="Noto Sans S Chinese Regular" panose="020B0500000000000000" pitchFamily="34" charset="-122"/>
                <a:ea typeface="Noto Sans S Chinese Regular" panose="020B0500000000000000" pitchFamily="34" charset="-122"/>
                <a:cs typeface="文泉驿等宽微米黑" panose="020B0606030804020204" pitchFamily="34" charset="-122"/>
              </a:rPr>
              <a:t>D</a:t>
            </a:r>
            <a:r>
              <a:rPr lang="en-US" altLang="zh-CN" sz="1200" dirty="0">
                <a:latin typeface="Noto Sans S Chinese Regular" panose="020B0500000000000000" pitchFamily="34" charset="-122"/>
                <a:ea typeface="Noto Sans S Chinese Regular" panose="020B0500000000000000" pitchFamily="34" charset="-122"/>
                <a:cs typeface="文泉驿等宽微米黑" panose="020B0606030804020204" pitchFamily="34" charset="-122"/>
                <a:sym typeface="+mn-ea"/>
              </a:rPr>
              <a:t>    </a:t>
            </a:r>
            <a:r>
              <a:rPr lang="en-US" altLang="zh-CN" sz="1200" dirty="0">
                <a:latin typeface="Noto Sans S Chinese Regular" panose="020B0500000000000000" pitchFamily="34" charset="-122"/>
                <a:ea typeface="Noto Sans S Chinese Regular" panose="020B0500000000000000" pitchFamily="34" charset="-122"/>
                <a:cs typeface="文泉驿等宽微米黑" panose="020B0606030804020204" pitchFamily="34" charset="-122"/>
              </a:rPr>
              <a:t>E</a:t>
            </a:r>
            <a:endParaRPr lang="en-US" altLang="zh-CN" sz="1200" dirty="0">
              <a:latin typeface="Noto Sans S Chinese Regular" panose="020B0500000000000000" pitchFamily="34" charset="-122"/>
              <a:ea typeface="Noto Sans S Chinese Regular" panose="020B0500000000000000" pitchFamily="34" charset="-122"/>
              <a:cs typeface="文泉驿等宽微米黑" panose="020B0606030804020204" pitchFamily="34" charset="-122"/>
            </a:endParaRPr>
          </a:p>
        </p:txBody>
      </p:sp>
      <p:sp>
        <p:nvSpPr>
          <p:cNvPr id="8" name="文本框 7"/>
          <p:cNvSpPr txBox="1"/>
          <p:nvPr/>
        </p:nvSpPr>
        <p:spPr>
          <a:xfrm>
            <a:off x="7954010" y="962660"/>
            <a:ext cx="377825" cy="1476375"/>
          </a:xfrm>
          <a:prstGeom prst="rect">
            <a:avLst/>
          </a:prstGeom>
          <a:noFill/>
        </p:spPr>
        <p:txBody>
          <a:bodyPr wrap="square" rtlCol="0">
            <a:spAutoFit/>
          </a:bodyPr>
          <a:lstStyle>
            <a:defPPr>
              <a:defRPr lang="zh-CN"/>
            </a:defPPr>
            <a:lvl1pPr algn="dist">
              <a:defRPr>
                <a:latin typeface="华文仿宋" panose="02010600040101010101" pitchFamily="2" charset="-122"/>
                <a:ea typeface="华文仿宋" panose="02010600040101010101" pitchFamily="2" charset="-122"/>
              </a:defRPr>
            </a:lvl1pPr>
          </a:lstStyle>
          <a:p>
            <a:pPr algn="ctr">
              <a:lnSpc>
                <a:spcPct val="150000"/>
              </a:lnSpc>
            </a:pPr>
            <a:r>
              <a:rPr lang="en-US" altLang="zh-CN" sz="1200" dirty="0">
                <a:latin typeface="Noto Sans S Chinese Regular" panose="020B0500000000000000" pitchFamily="34" charset="-122"/>
                <a:ea typeface="Noto Sans S Chinese Regular" panose="020B0500000000000000" pitchFamily="34" charset="-122"/>
                <a:cs typeface="文泉驿等宽微米黑" panose="020B0606030804020204" pitchFamily="34" charset="-122"/>
              </a:rPr>
              <a:t>A</a:t>
            </a:r>
            <a:r>
              <a:rPr lang="en-US" altLang="zh-CN" sz="1200" dirty="0">
                <a:latin typeface="Noto Sans S Chinese Regular" panose="020B0500000000000000" pitchFamily="34" charset="-122"/>
                <a:ea typeface="Noto Sans S Chinese Regular" panose="020B0500000000000000" pitchFamily="34" charset="-122"/>
                <a:cs typeface="文泉驿等宽微米黑" panose="020B0606030804020204" pitchFamily="34" charset="-122"/>
                <a:sym typeface="+mn-ea"/>
              </a:rPr>
              <a:t>   </a:t>
            </a:r>
            <a:r>
              <a:rPr lang="en-US" altLang="zh-CN" sz="1200" dirty="0">
                <a:latin typeface="Noto Sans S Chinese Regular" panose="020B0500000000000000" pitchFamily="34" charset="-122"/>
                <a:ea typeface="Noto Sans S Chinese Regular" panose="020B0500000000000000" pitchFamily="34" charset="-122"/>
                <a:cs typeface="文泉驿等宽微米黑" panose="020B0606030804020204" pitchFamily="34" charset="-122"/>
              </a:rPr>
              <a:t>B    C</a:t>
            </a:r>
            <a:r>
              <a:rPr lang="en-US" altLang="zh-CN" sz="1200" dirty="0">
                <a:latin typeface="Noto Sans S Chinese Regular" panose="020B0500000000000000" pitchFamily="34" charset="-122"/>
                <a:ea typeface="Noto Sans S Chinese Regular" panose="020B0500000000000000" pitchFamily="34" charset="-122"/>
                <a:cs typeface="文泉驿等宽微米黑" panose="020B0606030804020204" pitchFamily="34" charset="-122"/>
                <a:sym typeface="+mn-ea"/>
              </a:rPr>
              <a:t>    </a:t>
            </a:r>
            <a:r>
              <a:rPr lang="en-US" altLang="zh-CN" sz="1200" dirty="0">
                <a:latin typeface="Noto Sans S Chinese Regular" panose="020B0500000000000000" pitchFamily="34" charset="-122"/>
                <a:ea typeface="Noto Sans S Chinese Regular" panose="020B0500000000000000" pitchFamily="34" charset="-122"/>
                <a:cs typeface="文泉驿等宽微米黑" panose="020B0606030804020204" pitchFamily="34" charset="-122"/>
              </a:rPr>
              <a:t>D</a:t>
            </a:r>
            <a:r>
              <a:rPr lang="en-US" altLang="zh-CN" sz="1200" dirty="0">
                <a:latin typeface="Noto Sans S Chinese Regular" panose="020B0500000000000000" pitchFamily="34" charset="-122"/>
                <a:ea typeface="Noto Sans S Chinese Regular" panose="020B0500000000000000" pitchFamily="34" charset="-122"/>
                <a:cs typeface="文泉驿等宽微米黑" panose="020B0606030804020204" pitchFamily="34" charset="-122"/>
                <a:sym typeface="+mn-ea"/>
              </a:rPr>
              <a:t>    </a:t>
            </a:r>
            <a:r>
              <a:rPr lang="en-US" altLang="zh-CN" sz="1200" dirty="0">
                <a:latin typeface="Noto Sans S Chinese Regular" panose="020B0500000000000000" pitchFamily="34" charset="-122"/>
                <a:ea typeface="Noto Sans S Chinese Regular" panose="020B0500000000000000" pitchFamily="34" charset="-122"/>
                <a:cs typeface="文泉驿等宽微米黑" panose="020B0606030804020204" pitchFamily="34" charset="-122"/>
              </a:rPr>
              <a:t>E</a:t>
            </a:r>
            <a:endParaRPr lang="en-US" altLang="zh-CN" sz="1200" dirty="0">
              <a:latin typeface="Noto Sans S Chinese Regular" panose="020B0500000000000000" pitchFamily="34" charset="-122"/>
              <a:ea typeface="Noto Sans S Chinese Regular" panose="020B0500000000000000" pitchFamily="34" charset="-122"/>
              <a:cs typeface="文泉驿等宽微米黑" panose="020B0606030804020204" pitchFamily="34" charset="-122"/>
            </a:endParaRPr>
          </a:p>
        </p:txBody>
      </p:sp>
      <p:pic>
        <p:nvPicPr>
          <p:cNvPr id="9" name="图片 8"/>
          <p:cNvPicPr>
            <a:picLocks noChangeAspect="1"/>
          </p:cNvPicPr>
          <p:nvPr/>
        </p:nvPicPr>
        <p:blipFill>
          <a:blip r:embed="rId4"/>
          <a:stretch>
            <a:fillRect/>
          </a:stretch>
        </p:blipFill>
        <p:spPr>
          <a:xfrm>
            <a:off x="8051800" y="2542540"/>
            <a:ext cx="3297555" cy="438150"/>
          </a:xfrm>
          <a:prstGeom prst="rect">
            <a:avLst/>
          </a:prstGeom>
        </p:spPr>
      </p:pic>
      <p:sp>
        <p:nvSpPr>
          <p:cNvPr id="10" name="右箭头 9"/>
          <p:cNvSpPr/>
          <p:nvPr/>
        </p:nvSpPr>
        <p:spPr>
          <a:xfrm rot="16200000">
            <a:off x="9100820" y="3143885"/>
            <a:ext cx="443230" cy="36131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 name="文本框 11"/>
          <p:cNvSpPr txBox="1"/>
          <p:nvPr/>
        </p:nvSpPr>
        <p:spPr>
          <a:xfrm>
            <a:off x="8444865" y="3669665"/>
            <a:ext cx="1240155" cy="645160"/>
          </a:xfrm>
          <a:prstGeom prst="rect">
            <a:avLst/>
          </a:prstGeom>
          <a:noFill/>
        </p:spPr>
        <p:txBody>
          <a:bodyPr wrap="square" rtlCol="0">
            <a:spAutoFit/>
          </a:bodyPr>
          <a:lstStyle>
            <a:defPPr>
              <a:defRPr lang="zh-CN"/>
            </a:defPPr>
            <a:lvl1pPr algn="dist">
              <a:defRPr>
                <a:latin typeface="华文仿宋" panose="02010600040101010101" pitchFamily="2" charset="-122"/>
                <a:ea typeface="华文仿宋" panose="02010600040101010101" pitchFamily="2" charset="-122"/>
              </a:defRPr>
            </a:lvl1pPr>
          </a:lstStyle>
          <a:p>
            <a:pPr algn="ctr">
              <a:lnSpc>
                <a:spcPct val="150000"/>
              </a:lnSpc>
            </a:pPr>
            <a:r>
              <a:rPr lang="en-US" altLang="zh-CN" sz="1200" dirty="0">
                <a:latin typeface="Noto Sans S Chinese Regular" panose="020B0500000000000000" pitchFamily="34" charset="-122"/>
                <a:ea typeface="Noto Sans S Chinese Regular" panose="020B0500000000000000" pitchFamily="34" charset="-122"/>
                <a:cs typeface="文泉驿等宽微米黑" panose="020B0606030804020204" pitchFamily="34" charset="-122"/>
              </a:rPr>
              <a:t>real_number=1</a:t>
            </a:r>
            <a:endParaRPr lang="en-US" altLang="zh-CN" sz="1200" dirty="0">
              <a:latin typeface="Noto Sans S Chinese Regular" panose="020B0500000000000000" pitchFamily="34" charset="-122"/>
              <a:ea typeface="Noto Sans S Chinese Regular" panose="020B0500000000000000" pitchFamily="34" charset="-122"/>
              <a:cs typeface="文泉驿等宽微米黑" panose="020B0606030804020204" pitchFamily="34" charset="-122"/>
            </a:endParaRPr>
          </a:p>
          <a:p>
            <a:pPr marL="0" lvl="0" indent="0" algn="ctr">
              <a:lnSpc>
                <a:spcPct val="150000"/>
              </a:lnSpc>
              <a:buNone/>
            </a:pPr>
            <a:endParaRPr lang="en-US" altLang="zh-CN" sz="1200" dirty="0">
              <a:solidFill>
                <a:schemeClr val="tx1"/>
              </a:solidFill>
              <a:latin typeface="Noto Sans S Chinese Regular" panose="020B0500000000000000" pitchFamily="34" charset="-122"/>
              <a:ea typeface="Noto Sans S Chinese Regular" panose="020B0500000000000000" pitchFamily="34" charset="-122"/>
              <a:cs typeface="文泉驿等宽微米黑" panose="020B0606030804020204" pitchFamily="34" charset="-122"/>
            </a:endParaRPr>
          </a:p>
        </p:txBody>
      </p:sp>
      <p:sp>
        <p:nvSpPr>
          <p:cNvPr id="13" name="文本框 12"/>
          <p:cNvSpPr txBox="1"/>
          <p:nvPr/>
        </p:nvSpPr>
        <p:spPr>
          <a:xfrm>
            <a:off x="8263255" y="4157980"/>
            <a:ext cx="1240155" cy="645160"/>
          </a:xfrm>
          <a:prstGeom prst="rect">
            <a:avLst/>
          </a:prstGeom>
          <a:noFill/>
        </p:spPr>
        <p:txBody>
          <a:bodyPr wrap="square" rtlCol="0">
            <a:spAutoFit/>
          </a:bodyPr>
          <a:lstStyle>
            <a:defPPr>
              <a:defRPr lang="zh-CN"/>
            </a:defPPr>
            <a:lvl1pPr algn="dist">
              <a:defRPr>
                <a:latin typeface="华文仿宋" panose="02010600040101010101" pitchFamily="2" charset="-122"/>
                <a:ea typeface="华文仿宋" panose="02010600040101010101" pitchFamily="2" charset="-122"/>
              </a:defRPr>
            </a:lvl1pPr>
          </a:lstStyle>
          <a:p>
            <a:pPr algn="ctr">
              <a:lnSpc>
                <a:spcPct val="150000"/>
              </a:lnSpc>
            </a:pPr>
            <a:r>
              <a:rPr lang="en-US" altLang="zh-CN" sz="1200" dirty="0">
                <a:latin typeface="Noto Sans S Chinese Regular" panose="020B0500000000000000" pitchFamily="34" charset="-122"/>
                <a:ea typeface="Noto Sans S Chinese Regular" panose="020B0500000000000000" pitchFamily="34" charset="-122"/>
                <a:cs typeface="文泉驿等宽微米黑" panose="020B0606030804020204" pitchFamily="34" charset="-122"/>
              </a:rPr>
              <a:t>search=2</a:t>
            </a:r>
            <a:endParaRPr lang="en-US" altLang="zh-CN" sz="1200" dirty="0">
              <a:latin typeface="Noto Sans S Chinese Regular" panose="020B0500000000000000" pitchFamily="34" charset="-122"/>
              <a:ea typeface="Noto Sans S Chinese Regular" panose="020B0500000000000000" pitchFamily="34" charset="-122"/>
              <a:cs typeface="文泉驿等宽微米黑" panose="020B0606030804020204" pitchFamily="34" charset="-122"/>
            </a:endParaRPr>
          </a:p>
          <a:p>
            <a:pPr marL="0" lvl="0" indent="0" algn="ctr">
              <a:lnSpc>
                <a:spcPct val="150000"/>
              </a:lnSpc>
              <a:buNone/>
            </a:pPr>
            <a:endParaRPr lang="en-US" altLang="zh-CN" sz="1200" dirty="0">
              <a:solidFill>
                <a:schemeClr val="tx1"/>
              </a:solidFill>
              <a:latin typeface="Noto Sans S Chinese Regular" panose="020B0500000000000000" pitchFamily="34" charset="-122"/>
              <a:ea typeface="Noto Sans S Chinese Regular" panose="020B0500000000000000" pitchFamily="34" charset="-122"/>
              <a:cs typeface="文泉驿等宽微米黑" panose="020B0606030804020204" pitchFamily="34" charset="-122"/>
            </a:endParaRPr>
          </a:p>
        </p:txBody>
      </p:sp>
      <p:sp>
        <p:nvSpPr>
          <p:cNvPr id="14" name="文本框 13"/>
          <p:cNvSpPr txBox="1"/>
          <p:nvPr/>
        </p:nvSpPr>
        <p:spPr>
          <a:xfrm>
            <a:off x="8444865" y="4598035"/>
            <a:ext cx="1240155" cy="645160"/>
          </a:xfrm>
          <a:prstGeom prst="rect">
            <a:avLst/>
          </a:prstGeom>
          <a:noFill/>
        </p:spPr>
        <p:txBody>
          <a:bodyPr wrap="square" rtlCol="0">
            <a:spAutoFit/>
          </a:bodyPr>
          <a:lstStyle>
            <a:defPPr>
              <a:defRPr lang="zh-CN"/>
            </a:defPPr>
            <a:lvl1pPr algn="dist">
              <a:defRPr>
                <a:latin typeface="华文仿宋" panose="02010600040101010101" pitchFamily="2" charset="-122"/>
                <a:ea typeface="华文仿宋" panose="02010600040101010101" pitchFamily="2" charset="-122"/>
              </a:defRPr>
            </a:lvl1pPr>
          </a:lstStyle>
          <a:p>
            <a:pPr algn="ctr">
              <a:lnSpc>
                <a:spcPct val="150000"/>
              </a:lnSpc>
            </a:pPr>
            <a:r>
              <a:rPr lang="en-US" altLang="zh-CN" sz="1200" dirty="0">
                <a:latin typeface="Noto Sans S Chinese Regular" panose="020B0500000000000000" pitchFamily="34" charset="-122"/>
                <a:ea typeface="Noto Sans S Chinese Regular" panose="020B0500000000000000" pitchFamily="34" charset="-122"/>
                <a:cs typeface="文泉驿等宽微米黑" panose="020B0606030804020204" pitchFamily="34" charset="-122"/>
              </a:rPr>
              <a:t>mtkl_number=3</a:t>
            </a:r>
            <a:endParaRPr lang="en-US" altLang="zh-CN" sz="1200" dirty="0">
              <a:latin typeface="Noto Sans S Chinese Regular" panose="020B0500000000000000" pitchFamily="34" charset="-122"/>
              <a:ea typeface="Noto Sans S Chinese Regular" panose="020B0500000000000000" pitchFamily="34" charset="-122"/>
              <a:cs typeface="文泉驿等宽微米黑" panose="020B0606030804020204" pitchFamily="34" charset="-122"/>
            </a:endParaRPr>
          </a:p>
          <a:p>
            <a:pPr marL="0" lvl="0" indent="0" algn="ctr">
              <a:lnSpc>
                <a:spcPct val="150000"/>
              </a:lnSpc>
              <a:buNone/>
            </a:pPr>
            <a:endParaRPr lang="en-US" altLang="zh-CN" sz="1200" dirty="0">
              <a:solidFill>
                <a:schemeClr val="tx1"/>
              </a:solidFill>
              <a:latin typeface="Noto Sans S Chinese Regular" panose="020B0500000000000000" pitchFamily="34" charset="-122"/>
              <a:ea typeface="Noto Sans S Chinese Regular" panose="020B0500000000000000" pitchFamily="34" charset="-122"/>
              <a:cs typeface="文泉驿等宽微米黑" panose="020B06060308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500">
        <p:push dir="u"/>
      </p:transition>
    </mc:Choice>
    <mc:Fallback>
      <p:transition>
        <p:push dir="u"/>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图片 16"/>
          <p:cNvPicPr>
            <a:picLocks noChangeAspect="1"/>
          </p:cNvPicPr>
          <p:nvPr/>
        </p:nvPicPr>
        <p:blipFill>
          <a:blip r:embed="rId1"/>
          <a:srcRect l="600" t="1475" r="483" b="887"/>
          <a:stretch>
            <a:fillRect/>
          </a:stretch>
        </p:blipFill>
        <p:spPr>
          <a:xfrm>
            <a:off x="0" y="0"/>
            <a:ext cx="12192000" cy="6858000"/>
          </a:xfrm>
          <a:custGeom>
            <a:avLst/>
            <a:gdLst>
              <a:gd name="connsiteX0" fmla="*/ 0 w 12060000"/>
              <a:gd name="connsiteY0" fmla="*/ 0 h 6696000"/>
              <a:gd name="connsiteX1" fmla="*/ 12060000 w 12060000"/>
              <a:gd name="connsiteY1" fmla="*/ 0 h 6696000"/>
              <a:gd name="connsiteX2" fmla="*/ 12060000 w 12060000"/>
              <a:gd name="connsiteY2" fmla="*/ 6696000 h 6696000"/>
              <a:gd name="connsiteX3" fmla="*/ 0 w 12060000"/>
              <a:gd name="connsiteY3" fmla="*/ 6696000 h 6696000"/>
            </a:gdLst>
            <a:ahLst/>
            <a:cxnLst>
              <a:cxn ang="0">
                <a:pos x="connsiteX0" y="connsiteY0"/>
              </a:cxn>
              <a:cxn ang="0">
                <a:pos x="connsiteX1" y="connsiteY1"/>
              </a:cxn>
              <a:cxn ang="0">
                <a:pos x="connsiteX2" y="connsiteY2"/>
              </a:cxn>
              <a:cxn ang="0">
                <a:pos x="connsiteX3" y="connsiteY3"/>
              </a:cxn>
            </a:cxnLst>
            <a:rect l="l" t="t" r="r" b="b"/>
            <a:pathLst>
              <a:path w="12060000" h="6696000">
                <a:moveTo>
                  <a:pt x="0" y="0"/>
                </a:moveTo>
                <a:lnTo>
                  <a:pt x="12060000" y="0"/>
                </a:lnTo>
                <a:lnTo>
                  <a:pt x="12060000" y="6696000"/>
                </a:lnTo>
                <a:lnTo>
                  <a:pt x="0" y="6696000"/>
                </a:lnTo>
                <a:close/>
              </a:path>
            </a:pathLst>
          </a:custGeom>
        </p:spPr>
      </p:pic>
      <p:sp>
        <p:nvSpPr>
          <p:cNvPr id="3" name="文本框 2"/>
          <p:cNvSpPr txBox="1"/>
          <p:nvPr/>
        </p:nvSpPr>
        <p:spPr>
          <a:xfrm>
            <a:off x="4615543" y="606026"/>
            <a:ext cx="2960914" cy="460375"/>
          </a:xfrm>
          <a:prstGeom prst="rect">
            <a:avLst/>
          </a:prstGeom>
          <a:noFill/>
        </p:spPr>
        <p:txBody>
          <a:bodyPr wrap="square" rtlCol="0">
            <a:spAutoFit/>
          </a:bodyPr>
          <a:lstStyle>
            <a:defPPr>
              <a:defRPr lang="zh-CN"/>
            </a:defPPr>
            <a:lvl1pPr algn="ctr">
              <a:defRPr sz="5400">
                <a:latin typeface="汉仪大宋简" panose="02010600000101010101" pitchFamily="49" charset="-122"/>
                <a:ea typeface="汉仪大宋简" panose="02010600000101010101" pitchFamily="49" charset="-122"/>
              </a:defRPr>
            </a:lvl1pPr>
          </a:lstStyle>
          <a:p>
            <a:r>
              <a:rPr lang="zh-CN" altLang="en-US" sz="2400" dirty="0">
                <a:sym typeface="+mn-ea"/>
              </a:rPr>
              <a:t>递归路径规划</a:t>
            </a:r>
            <a:endParaRPr lang="zh-CN" altLang="en-US" sz="2400" dirty="0"/>
          </a:p>
        </p:txBody>
      </p:sp>
      <p:sp>
        <p:nvSpPr>
          <p:cNvPr id="4" name="文本框 3"/>
          <p:cNvSpPr txBox="1"/>
          <p:nvPr/>
        </p:nvSpPr>
        <p:spPr>
          <a:xfrm>
            <a:off x="5010789" y="5476310"/>
            <a:ext cx="2696940" cy="645160"/>
          </a:xfrm>
          <a:prstGeom prst="rect">
            <a:avLst/>
          </a:prstGeom>
          <a:noFill/>
        </p:spPr>
        <p:txBody>
          <a:bodyPr wrap="square" rtlCol="0">
            <a:spAutoFit/>
          </a:bodyPr>
          <a:lstStyle>
            <a:defPPr>
              <a:defRPr lang="zh-CN"/>
            </a:defPPr>
            <a:lvl1pPr algn="dist">
              <a:defRPr>
                <a:latin typeface="华文仿宋" panose="02010600040101010101" pitchFamily="2" charset="-122"/>
                <a:ea typeface="华文仿宋" panose="02010600040101010101" pitchFamily="2" charset="-122"/>
              </a:defRPr>
            </a:lvl1pPr>
          </a:lstStyle>
          <a:p>
            <a:pPr algn="ctr">
              <a:lnSpc>
                <a:spcPct val="150000"/>
              </a:lnSpc>
            </a:pPr>
            <a:r>
              <a:rPr lang="zh-CN" altLang="en-US" sz="1200" dirty="0">
                <a:latin typeface="Noto Sans S Chinese Regular" panose="020B0500000000000000" pitchFamily="34" charset="-122"/>
                <a:ea typeface="Noto Sans S Chinese Regular" panose="020B0500000000000000" pitchFamily="34" charset="-122"/>
                <a:cs typeface="文泉驿等宽微米黑" panose="020B0606030804020204" pitchFamily="34" charset="-122"/>
              </a:rPr>
              <a:t>基于蒙特卡洛算法完成最短路径规划的基本代码</a:t>
            </a:r>
            <a:endParaRPr lang="zh-CN" altLang="en-US" sz="1200" dirty="0">
              <a:latin typeface="Noto Sans S Chinese Regular" panose="020B0500000000000000" pitchFamily="34" charset="-122"/>
              <a:ea typeface="Noto Sans S Chinese Regular" panose="020B0500000000000000" pitchFamily="34" charset="-122"/>
              <a:cs typeface="文泉驿等宽微米黑" panose="020B0606030804020204" pitchFamily="34" charset="-122"/>
            </a:endParaRPr>
          </a:p>
        </p:txBody>
      </p:sp>
      <p:pic>
        <p:nvPicPr>
          <p:cNvPr id="5" name="图片 4"/>
          <p:cNvPicPr>
            <a:picLocks noChangeAspect="1"/>
          </p:cNvPicPr>
          <p:nvPr/>
        </p:nvPicPr>
        <p:blipFill>
          <a:blip r:embed="rId2"/>
          <a:stretch>
            <a:fillRect/>
          </a:stretch>
        </p:blipFill>
        <p:spPr>
          <a:xfrm>
            <a:off x="849630" y="1374775"/>
            <a:ext cx="6858000" cy="4746625"/>
          </a:xfrm>
          <a:prstGeom prst="rect">
            <a:avLst/>
          </a:prstGeom>
        </p:spPr>
      </p:pic>
      <p:pic>
        <p:nvPicPr>
          <p:cNvPr id="6" name="图片 5"/>
          <p:cNvPicPr>
            <a:picLocks noChangeAspect="1"/>
          </p:cNvPicPr>
          <p:nvPr/>
        </p:nvPicPr>
        <p:blipFill>
          <a:blip r:embed="rId3"/>
          <a:stretch>
            <a:fillRect/>
          </a:stretch>
        </p:blipFill>
        <p:spPr>
          <a:xfrm>
            <a:off x="8331835" y="1066165"/>
            <a:ext cx="2085975" cy="1476375"/>
          </a:xfrm>
          <a:prstGeom prst="rect">
            <a:avLst/>
          </a:prstGeom>
        </p:spPr>
      </p:pic>
      <p:sp>
        <p:nvSpPr>
          <p:cNvPr id="7" name="文本框 6"/>
          <p:cNvSpPr txBox="1"/>
          <p:nvPr/>
        </p:nvSpPr>
        <p:spPr>
          <a:xfrm>
            <a:off x="7576185" y="697865"/>
            <a:ext cx="3359150" cy="368300"/>
          </a:xfrm>
          <a:prstGeom prst="rect">
            <a:avLst/>
          </a:prstGeom>
          <a:noFill/>
        </p:spPr>
        <p:txBody>
          <a:bodyPr wrap="square" rtlCol="0">
            <a:spAutoFit/>
          </a:bodyPr>
          <a:lstStyle>
            <a:defPPr>
              <a:defRPr lang="zh-CN"/>
            </a:defPPr>
            <a:lvl1pPr algn="dist">
              <a:defRPr>
                <a:latin typeface="华文仿宋" panose="02010600040101010101" pitchFamily="2" charset="-122"/>
                <a:ea typeface="华文仿宋" panose="02010600040101010101" pitchFamily="2" charset="-122"/>
              </a:defRPr>
            </a:lvl1pPr>
          </a:lstStyle>
          <a:p>
            <a:pPr algn="ctr">
              <a:lnSpc>
                <a:spcPct val="150000"/>
              </a:lnSpc>
            </a:pPr>
            <a:r>
              <a:rPr lang="en-US" altLang="zh-CN" sz="1200" dirty="0">
                <a:latin typeface="Noto Sans S Chinese Regular" panose="020B0500000000000000" pitchFamily="34" charset="-122"/>
                <a:ea typeface="Noto Sans S Chinese Regular" panose="020B0500000000000000" pitchFamily="34" charset="-122"/>
                <a:cs typeface="文泉驿等宽微米黑" panose="020B0606030804020204" pitchFamily="34" charset="-122"/>
              </a:rPr>
              <a:t>A</a:t>
            </a:r>
            <a:r>
              <a:rPr lang="en-US" altLang="zh-CN" sz="1200" dirty="0">
                <a:latin typeface="Noto Sans S Chinese Regular" panose="020B0500000000000000" pitchFamily="34" charset="-122"/>
                <a:ea typeface="Noto Sans S Chinese Regular" panose="020B0500000000000000" pitchFamily="34" charset="-122"/>
                <a:cs typeface="文泉驿等宽微米黑" panose="020B0606030804020204" pitchFamily="34" charset="-122"/>
                <a:sym typeface="+mn-ea"/>
              </a:rPr>
              <a:t>     </a:t>
            </a:r>
            <a:r>
              <a:rPr lang="en-US" altLang="zh-CN" sz="1200" dirty="0">
                <a:latin typeface="Noto Sans S Chinese Regular" panose="020B0500000000000000" pitchFamily="34" charset="-122"/>
                <a:ea typeface="Noto Sans S Chinese Regular" panose="020B0500000000000000" pitchFamily="34" charset="-122"/>
                <a:cs typeface="文泉驿等宽微米黑" panose="020B0606030804020204" pitchFamily="34" charset="-122"/>
              </a:rPr>
              <a:t>B    C</a:t>
            </a:r>
            <a:r>
              <a:rPr lang="en-US" altLang="zh-CN" sz="1200" dirty="0">
                <a:latin typeface="Noto Sans S Chinese Regular" panose="020B0500000000000000" pitchFamily="34" charset="-122"/>
                <a:ea typeface="Noto Sans S Chinese Regular" panose="020B0500000000000000" pitchFamily="34" charset="-122"/>
                <a:cs typeface="文泉驿等宽微米黑" panose="020B0606030804020204" pitchFamily="34" charset="-122"/>
                <a:sym typeface="+mn-ea"/>
              </a:rPr>
              <a:t>    </a:t>
            </a:r>
            <a:r>
              <a:rPr lang="en-US" altLang="zh-CN" sz="1200" dirty="0">
                <a:latin typeface="Noto Sans S Chinese Regular" panose="020B0500000000000000" pitchFamily="34" charset="-122"/>
                <a:ea typeface="Noto Sans S Chinese Regular" panose="020B0500000000000000" pitchFamily="34" charset="-122"/>
                <a:cs typeface="文泉驿等宽微米黑" panose="020B0606030804020204" pitchFamily="34" charset="-122"/>
              </a:rPr>
              <a:t>D</a:t>
            </a:r>
            <a:r>
              <a:rPr lang="en-US" altLang="zh-CN" sz="1200" dirty="0">
                <a:latin typeface="Noto Sans S Chinese Regular" panose="020B0500000000000000" pitchFamily="34" charset="-122"/>
                <a:ea typeface="Noto Sans S Chinese Regular" panose="020B0500000000000000" pitchFamily="34" charset="-122"/>
                <a:cs typeface="文泉驿等宽微米黑" panose="020B0606030804020204" pitchFamily="34" charset="-122"/>
                <a:sym typeface="+mn-ea"/>
              </a:rPr>
              <a:t>    </a:t>
            </a:r>
            <a:r>
              <a:rPr lang="en-US" altLang="zh-CN" sz="1200" dirty="0">
                <a:latin typeface="Noto Sans S Chinese Regular" panose="020B0500000000000000" pitchFamily="34" charset="-122"/>
                <a:ea typeface="Noto Sans S Chinese Regular" panose="020B0500000000000000" pitchFamily="34" charset="-122"/>
                <a:cs typeface="文泉驿等宽微米黑" panose="020B0606030804020204" pitchFamily="34" charset="-122"/>
              </a:rPr>
              <a:t>E</a:t>
            </a:r>
            <a:endParaRPr lang="en-US" altLang="zh-CN" sz="1200" dirty="0">
              <a:latin typeface="Noto Sans S Chinese Regular" panose="020B0500000000000000" pitchFamily="34" charset="-122"/>
              <a:ea typeface="Noto Sans S Chinese Regular" panose="020B0500000000000000" pitchFamily="34" charset="-122"/>
              <a:cs typeface="文泉驿等宽微米黑" panose="020B0606030804020204" pitchFamily="34" charset="-122"/>
            </a:endParaRPr>
          </a:p>
        </p:txBody>
      </p:sp>
      <p:sp>
        <p:nvSpPr>
          <p:cNvPr id="8" name="文本框 7"/>
          <p:cNvSpPr txBox="1"/>
          <p:nvPr/>
        </p:nvSpPr>
        <p:spPr>
          <a:xfrm>
            <a:off x="7954010" y="962660"/>
            <a:ext cx="377825" cy="1476375"/>
          </a:xfrm>
          <a:prstGeom prst="rect">
            <a:avLst/>
          </a:prstGeom>
          <a:noFill/>
        </p:spPr>
        <p:txBody>
          <a:bodyPr wrap="square" rtlCol="0">
            <a:spAutoFit/>
          </a:bodyPr>
          <a:lstStyle>
            <a:defPPr>
              <a:defRPr lang="zh-CN"/>
            </a:defPPr>
            <a:lvl1pPr algn="dist">
              <a:defRPr>
                <a:latin typeface="华文仿宋" panose="02010600040101010101" pitchFamily="2" charset="-122"/>
                <a:ea typeface="华文仿宋" panose="02010600040101010101" pitchFamily="2" charset="-122"/>
              </a:defRPr>
            </a:lvl1pPr>
          </a:lstStyle>
          <a:p>
            <a:pPr algn="ctr">
              <a:lnSpc>
                <a:spcPct val="150000"/>
              </a:lnSpc>
            </a:pPr>
            <a:r>
              <a:rPr lang="en-US" altLang="zh-CN" sz="1200" dirty="0">
                <a:latin typeface="Noto Sans S Chinese Regular" panose="020B0500000000000000" pitchFamily="34" charset="-122"/>
                <a:ea typeface="Noto Sans S Chinese Regular" panose="020B0500000000000000" pitchFamily="34" charset="-122"/>
                <a:cs typeface="文泉驿等宽微米黑" panose="020B0606030804020204" pitchFamily="34" charset="-122"/>
              </a:rPr>
              <a:t>A</a:t>
            </a:r>
            <a:r>
              <a:rPr lang="en-US" altLang="zh-CN" sz="1200" dirty="0">
                <a:latin typeface="Noto Sans S Chinese Regular" panose="020B0500000000000000" pitchFamily="34" charset="-122"/>
                <a:ea typeface="Noto Sans S Chinese Regular" panose="020B0500000000000000" pitchFamily="34" charset="-122"/>
                <a:cs typeface="文泉驿等宽微米黑" panose="020B0606030804020204" pitchFamily="34" charset="-122"/>
                <a:sym typeface="+mn-ea"/>
              </a:rPr>
              <a:t>   </a:t>
            </a:r>
            <a:r>
              <a:rPr lang="en-US" altLang="zh-CN" sz="1200" dirty="0">
                <a:latin typeface="Noto Sans S Chinese Regular" panose="020B0500000000000000" pitchFamily="34" charset="-122"/>
                <a:ea typeface="Noto Sans S Chinese Regular" panose="020B0500000000000000" pitchFamily="34" charset="-122"/>
                <a:cs typeface="文泉驿等宽微米黑" panose="020B0606030804020204" pitchFamily="34" charset="-122"/>
              </a:rPr>
              <a:t>B    C</a:t>
            </a:r>
            <a:r>
              <a:rPr lang="en-US" altLang="zh-CN" sz="1200" dirty="0">
                <a:latin typeface="Noto Sans S Chinese Regular" panose="020B0500000000000000" pitchFamily="34" charset="-122"/>
                <a:ea typeface="Noto Sans S Chinese Regular" panose="020B0500000000000000" pitchFamily="34" charset="-122"/>
                <a:cs typeface="文泉驿等宽微米黑" panose="020B0606030804020204" pitchFamily="34" charset="-122"/>
                <a:sym typeface="+mn-ea"/>
              </a:rPr>
              <a:t>    </a:t>
            </a:r>
            <a:r>
              <a:rPr lang="en-US" altLang="zh-CN" sz="1200" dirty="0">
                <a:latin typeface="Noto Sans S Chinese Regular" panose="020B0500000000000000" pitchFamily="34" charset="-122"/>
                <a:ea typeface="Noto Sans S Chinese Regular" panose="020B0500000000000000" pitchFamily="34" charset="-122"/>
                <a:cs typeface="文泉驿等宽微米黑" panose="020B0606030804020204" pitchFamily="34" charset="-122"/>
              </a:rPr>
              <a:t>D</a:t>
            </a:r>
            <a:r>
              <a:rPr lang="en-US" altLang="zh-CN" sz="1200" dirty="0">
                <a:latin typeface="Noto Sans S Chinese Regular" panose="020B0500000000000000" pitchFamily="34" charset="-122"/>
                <a:ea typeface="Noto Sans S Chinese Regular" panose="020B0500000000000000" pitchFamily="34" charset="-122"/>
                <a:cs typeface="文泉驿等宽微米黑" panose="020B0606030804020204" pitchFamily="34" charset="-122"/>
                <a:sym typeface="+mn-ea"/>
              </a:rPr>
              <a:t>    </a:t>
            </a:r>
            <a:r>
              <a:rPr lang="en-US" altLang="zh-CN" sz="1200" dirty="0">
                <a:latin typeface="Noto Sans S Chinese Regular" panose="020B0500000000000000" pitchFamily="34" charset="-122"/>
                <a:ea typeface="Noto Sans S Chinese Regular" panose="020B0500000000000000" pitchFamily="34" charset="-122"/>
                <a:cs typeface="文泉驿等宽微米黑" panose="020B0606030804020204" pitchFamily="34" charset="-122"/>
              </a:rPr>
              <a:t>E</a:t>
            </a:r>
            <a:endParaRPr lang="en-US" altLang="zh-CN" sz="1200" dirty="0">
              <a:latin typeface="Noto Sans S Chinese Regular" panose="020B0500000000000000" pitchFamily="34" charset="-122"/>
              <a:ea typeface="Noto Sans S Chinese Regular" panose="020B0500000000000000" pitchFamily="34" charset="-122"/>
              <a:cs typeface="文泉驿等宽微米黑" panose="020B0606030804020204" pitchFamily="34" charset="-122"/>
            </a:endParaRPr>
          </a:p>
        </p:txBody>
      </p:sp>
      <p:pic>
        <p:nvPicPr>
          <p:cNvPr id="9" name="图片 8"/>
          <p:cNvPicPr>
            <a:picLocks noChangeAspect="1"/>
          </p:cNvPicPr>
          <p:nvPr/>
        </p:nvPicPr>
        <p:blipFill>
          <a:blip r:embed="rId4"/>
          <a:stretch>
            <a:fillRect/>
          </a:stretch>
        </p:blipFill>
        <p:spPr>
          <a:xfrm>
            <a:off x="8051800" y="2542540"/>
            <a:ext cx="3297555" cy="438150"/>
          </a:xfrm>
          <a:prstGeom prst="rect">
            <a:avLst/>
          </a:prstGeom>
        </p:spPr>
      </p:pic>
      <p:sp>
        <p:nvSpPr>
          <p:cNvPr id="10" name="右箭头 9"/>
          <p:cNvSpPr/>
          <p:nvPr/>
        </p:nvSpPr>
        <p:spPr>
          <a:xfrm rot="16200000">
            <a:off x="9719310" y="3124835"/>
            <a:ext cx="443230" cy="36131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 name="文本框 11"/>
          <p:cNvSpPr txBox="1"/>
          <p:nvPr/>
        </p:nvSpPr>
        <p:spPr>
          <a:xfrm>
            <a:off x="8444865" y="3669665"/>
            <a:ext cx="1240155" cy="645160"/>
          </a:xfrm>
          <a:prstGeom prst="rect">
            <a:avLst/>
          </a:prstGeom>
          <a:noFill/>
        </p:spPr>
        <p:txBody>
          <a:bodyPr wrap="square" rtlCol="0">
            <a:spAutoFit/>
          </a:bodyPr>
          <a:lstStyle>
            <a:defPPr>
              <a:defRPr lang="zh-CN"/>
            </a:defPPr>
            <a:lvl1pPr algn="dist">
              <a:defRPr>
                <a:latin typeface="华文仿宋" panose="02010600040101010101" pitchFamily="2" charset="-122"/>
                <a:ea typeface="华文仿宋" panose="02010600040101010101" pitchFamily="2" charset="-122"/>
              </a:defRPr>
            </a:lvl1pPr>
          </a:lstStyle>
          <a:p>
            <a:pPr algn="ctr">
              <a:lnSpc>
                <a:spcPct val="150000"/>
              </a:lnSpc>
            </a:pPr>
            <a:r>
              <a:rPr lang="en-US" altLang="zh-CN" sz="1200" dirty="0">
                <a:latin typeface="Noto Sans S Chinese Regular" panose="020B0500000000000000" pitchFamily="34" charset="-122"/>
                <a:ea typeface="Noto Sans S Chinese Regular" panose="020B0500000000000000" pitchFamily="34" charset="-122"/>
                <a:cs typeface="文泉驿等宽微米黑" panose="020B0606030804020204" pitchFamily="34" charset="-122"/>
              </a:rPr>
              <a:t>real_number=2</a:t>
            </a:r>
            <a:endParaRPr lang="en-US" altLang="zh-CN" sz="1200" dirty="0">
              <a:latin typeface="Noto Sans S Chinese Regular" panose="020B0500000000000000" pitchFamily="34" charset="-122"/>
              <a:ea typeface="Noto Sans S Chinese Regular" panose="020B0500000000000000" pitchFamily="34" charset="-122"/>
              <a:cs typeface="文泉驿等宽微米黑" panose="020B0606030804020204" pitchFamily="34" charset="-122"/>
            </a:endParaRPr>
          </a:p>
          <a:p>
            <a:pPr marL="0" lvl="0" indent="0" algn="ctr">
              <a:lnSpc>
                <a:spcPct val="150000"/>
              </a:lnSpc>
              <a:buNone/>
            </a:pPr>
            <a:endParaRPr lang="en-US" altLang="zh-CN" sz="1200" dirty="0">
              <a:solidFill>
                <a:schemeClr val="tx1"/>
              </a:solidFill>
              <a:latin typeface="Noto Sans S Chinese Regular" panose="020B0500000000000000" pitchFamily="34" charset="-122"/>
              <a:ea typeface="Noto Sans S Chinese Regular" panose="020B0500000000000000" pitchFamily="34" charset="-122"/>
              <a:cs typeface="文泉驿等宽微米黑" panose="020B0606030804020204" pitchFamily="34" charset="-122"/>
            </a:endParaRPr>
          </a:p>
        </p:txBody>
      </p:sp>
      <p:sp>
        <p:nvSpPr>
          <p:cNvPr id="13" name="文本框 12"/>
          <p:cNvSpPr txBox="1"/>
          <p:nvPr/>
        </p:nvSpPr>
        <p:spPr>
          <a:xfrm>
            <a:off x="8263255" y="4157980"/>
            <a:ext cx="1240155" cy="645160"/>
          </a:xfrm>
          <a:prstGeom prst="rect">
            <a:avLst/>
          </a:prstGeom>
          <a:noFill/>
        </p:spPr>
        <p:txBody>
          <a:bodyPr wrap="square" rtlCol="0">
            <a:spAutoFit/>
          </a:bodyPr>
          <a:lstStyle>
            <a:defPPr>
              <a:defRPr lang="zh-CN"/>
            </a:defPPr>
            <a:lvl1pPr algn="dist">
              <a:defRPr>
                <a:latin typeface="华文仿宋" panose="02010600040101010101" pitchFamily="2" charset="-122"/>
                <a:ea typeface="华文仿宋" panose="02010600040101010101" pitchFamily="2" charset="-122"/>
              </a:defRPr>
            </a:lvl1pPr>
          </a:lstStyle>
          <a:p>
            <a:pPr algn="ctr">
              <a:lnSpc>
                <a:spcPct val="150000"/>
              </a:lnSpc>
            </a:pPr>
            <a:r>
              <a:rPr lang="en-US" altLang="zh-CN" sz="1200" dirty="0">
                <a:latin typeface="Noto Sans S Chinese Regular" panose="020B0500000000000000" pitchFamily="34" charset="-122"/>
                <a:ea typeface="Noto Sans S Chinese Regular" panose="020B0500000000000000" pitchFamily="34" charset="-122"/>
                <a:cs typeface="文泉驿等宽微米黑" panose="020B0606030804020204" pitchFamily="34" charset="-122"/>
              </a:rPr>
              <a:t>search=3</a:t>
            </a:r>
            <a:endParaRPr lang="en-US" altLang="zh-CN" sz="1200" dirty="0">
              <a:latin typeface="Noto Sans S Chinese Regular" panose="020B0500000000000000" pitchFamily="34" charset="-122"/>
              <a:ea typeface="Noto Sans S Chinese Regular" panose="020B0500000000000000" pitchFamily="34" charset="-122"/>
              <a:cs typeface="文泉驿等宽微米黑" panose="020B0606030804020204" pitchFamily="34" charset="-122"/>
            </a:endParaRPr>
          </a:p>
          <a:p>
            <a:pPr marL="0" lvl="0" indent="0" algn="ctr">
              <a:lnSpc>
                <a:spcPct val="150000"/>
              </a:lnSpc>
              <a:buNone/>
            </a:pPr>
            <a:endParaRPr lang="en-US" altLang="zh-CN" sz="1200" dirty="0">
              <a:solidFill>
                <a:schemeClr val="tx1"/>
              </a:solidFill>
              <a:latin typeface="Noto Sans S Chinese Regular" panose="020B0500000000000000" pitchFamily="34" charset="-122"/>
              <a:ea typeface="Noto Sans S Chinese Regular" panose="020B0500000000000000" pitchFamily="34" charset="-122"/>
              <a:cs typeface="文泉驿等宽微米黑" panose="020B0606030804020204" pitchFamily="34" charset="-122"/>
            </a:endParaRPr>
          </a:p>
        </p:txBody>
      </p:sp>
      <p:sp>
        <p:nvSpPr>
          <p:cNvPr id="14" name="文本框 13"/>
          <p:cNvSpPr txBox="1"/>
          <p:nvPr/>
        </p:nvSpPr>
        <p:spPr>
          <a:xfrm>
            <a:off x="8444865" y="4598035"/>
            <a:ext cx="1240155" cy="645160"/>
          </a:xfrm>
          <a:prstGeom prst="rect">
            <a:avLst/>
          </a:prstGeom>
          <a:noFill/>
        </p:spPr>
        <p:txBody>
          <a:bodyPr wrap="square" rtlCol="0">
            <a:spAutoFit/>
          </a:bodyPr>
          <a:lstStyle>
            <a:defPPr>
              <a:defRPr lang="zh-CN"/>
            </a:defPPr>
            <a:lvl1pPr algn="dist">
              <a:defRPr>
                <a:latin typeface="华文仿宋" panose="02010600040101010101" pitchFamily="2" charset="-122"/>
                <a:ea typeface="华文仿宋" panose="02010600040101010101" pitchFamily="2" charset="-122"/>
              </a:defRPr>
            </a:lvl1pPr>
          </a:lstStyle>
          <a:p>
            <a:pPr algn="ctr">
              <a:lnSpc>
                <a:spcPct val="150000"/>
              </a:lnSpc>
            </a:pPr>
            <a:r>
              <a:rPr lang="en-US" altLang="zh-CN" sz="1200" dirty="0">
                <a:latin typeface="Noto Sans S Chinese Regular" panose="020B0500000000000000" pitchFamily="34" charset="-122"/>
                <a:ea typeface="Noto Sans S Chinese Regular" panose="020B0500000000000000" pitchFamily="34" charset="-122"/>
                <a:cs typeface="文泉驿等宽微米黑" panose="020B0606030804020204" pitchFamily="34" charset="-122"/>
              </a:rPr>
              <a:t>mtkl_number=3</a:t>
            </a:r>
            <a:endParaRPr lang="en-US" altLang="zh-CN" sz="1200" dirty="0">
              <a:latin typeface="Noto Sans S Chinese Regular" panose="020B0500000000000000" pitchFamily="34" charset="-122"/>
              <a:ea typeface="Noto Sans S Chinese Regular" panose="020B0500000000000000" pitchFamily="34" charset="-122"/>
              <a:cs typeface="文泉驿等宽微米黑" panose="020B0606030804020204" pitchFamily="34" charset="-122"/>
            </a:endParaRPr>
          </a:p>
          <a:p>
            <a:pPr marL="0" lvl="0" indent="0" algn="ctr">
              <a:lnSpc>
                <a:spcPct val="150000"/>
              </a:lnSpc>
              <a:buNone/>
            </a:pPr>
            <a:endParaRPr lang="en-US" altLang="zh-CN" sz="1200" dirty="0">
              <a:solidFill>
                <a:schemeClr val="tx1"/>
              </a:solidFill>
              <a:latin typeface="Noto Sans S Chinese Regular" panose="020B0500000000000000" pitchFamily="34" charset="-122"/>
              <a:ea typeface="Noto Sans S Chinese Regular" panose="020B0500000000000000" pitchFamily="34" charset="-122"/>
              <a:cs typeface="文泉驿等宽微米黑" panose="020B06060308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500">
        <p:push dir="u"/>
      </p:transition>
    </mc:Choice>
    <mc:Fallback>
      <p:transition>
        <p:push dir="u"/>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图片 16"/>
          <p:cNvPicPr>
            <a:picLocks noChangeAspect="1"/>
          </p:cNvPicPr>
          <p:nvPr/>
        </p:nvPicPr>
        <p:blipFill>
          <a:blip r:embed="rId1"/>
          <a:srcRect l="600" t="1475" r="483" b="887"/>
          <a:stretch>
            <a:fillRect/>
          </a:stretch>
        </p:blipFill>
        <p:spPr>
          <a:xfrm>
            <a:off x="0" y="0"/>
            <a:ext cx="12192000" cy="6858000"/>
          </a:xfrm>
          <a:custGeom>
            <a:avLst/>
            <a:gdLst>
              <a:gd name="connsiteX0" fmla="*/ 0 w 12060000"/>
              <a:gd name="connsiteY0" fmla="*/ 0 h 6696000"/>
              <a:gd name="connsiteX1" fmla="*/ 12060000 w 12060000"/>
              <a:gd name="connsiteY1" fmla="*/ 0 h 6696000"/>
              <a:gd name="connsiteX2" fmla="*/ 12060000 w 12060000"/>
              <a:gd name="connsiteY2" fmla="*/ 6696000 h 6696000"/>
              <a:gd name="connsiteX3" fmla="*/ 0 w 12060000"/>
              <a:gd name="connsiteY3" fmla="*/ 6696000 h 6696000"/>
            </a:gdLst>
            <a:ahLst/>
            <a:cxnLst>
              <a:cxn ang="0">
                <a:pos x="connsiteX0" y="connsiteY0"/>
              </a:cxn>
              <a:cxn ang="0">
                <a:pos x="connsiteX1" y="connsiteY1"/>
              </a:cxn>
              <a:cxn ang="0">
                <a:pos x="connsiteX2" y="connsiteY2"/>
              </a:cxn>
              <a:cxn ang="0">
                <a:pos x="connsiteX3" y="connsiteY3"/>
              </a:cxn>
            </a:cxnLst>
            <a:rect l="l" t="t" r="r" b="b"/>
            <a:pathLst>
              <a:path w="12060000" h="6696000">
                <a:moveTo>
                  <a:pt x="0" y="0"/>
                </a:moveTo>
                <a:lnTo>
                  <a:pt x="12060000" y="0"/>
                </a:lnTo>
                <a:lnTo>
                  <a:pt x="12060000" y="6696000"/>
                </a:lnTo>
                <a:lnTo>
                  <a:pt x="0" y="6696000"/>
                </a:lnTo>
                <a:close/>
              </a:path>
            </a:pathLst>
          </a:custGeom>
        </p:spPr>
      </p:pic>
      <p:sp>
        <p:nvSpPr>
          <p:cNvPr id="3" name="文本框 2"/>
          <p:cNvSpPr txBox="1"/>
          <p:nvPr/>
        </p:nvSpPr>
        <p:spPr>
          <a:xfrm>
            <a:off x="4615543" y="606026"/>
            <a:ext cx="2960914" cy="460375"/>
          </a:xfrm>
          <a:prstGeom prst="rect">
            <a:avLst/>
          </a:prstGeom>
          <a:noFill/>
        </p:spPr>
        <p:txBody>
          <a:bodyPr wrap="square" rtlCol="0">
            <a:spAutoFit/>
          </a:bodyPr>
          <a:lstStyle>
            <a:defPPr>
              <a:defRPr lang="zh-CN"/>
            </a:defPPr>
            <a:lvl1pPr algn="ctr">
              <a:defRPr sz="5400">
                <a:latin typeface="汉仪大宋简" panose="02010600000101010101" pitchFamily="49" charset="-122"/>
                <a:ea typeface="汉仪大宋简" panose="02010600000101010101" pitchFamily="49" charset="-122"/>
              </a:defRPr>
            </a:lvl1pPr>
          </a:lstStyle>
          <a:p>
            <a:r>
              <a:rPr lang="zh-CN" altLang="en-US" sz="2400" dirty="0">
                <a:sym typeface="+mn-ea"/>
              </a:rPr>
              <a:t>递归路径规划</a:t>
            </a:r>
            <a:endParaRPr lang="zh-CN" altLang="en-US" sz="2400" dirty="0"/>
          </a:p>
        </p:txBody>
      </p:sp>
      <p:sp>
        <p:nvSpPr>
          <p:cNvPr id="4" name="文本框 3"/>
          <p:cNvSpPr txBox="1"/>
          <p:nvPr/>
        </p:nvSpPr>
        <p:spPr>
          <a:xfrm>
            <a:off x="5010789" y="5476310"/>
            <a:ext cx="2696940" cy="645160"/>
          </a:xfrm>
          <a:prstGeom prst="rect">
            <a:avLst/>
          </a:prstGeom>
          <a:noFill/>
        </p:spPr>
        <p:txBody>
          <a:bodyPr wrap="square" rtlCol="0">
            <a:spAutoFit/>
          </a:bodyPr>
          <a:lstStyle>
            <a:defPPr>
              <a:defRPr lang="zh-CN"/>
            </a:defPPr>
            <a:lvl1pPr algn="dist">
              <a:defRPr>
                <a:latin typeface="华文仿宋" panose="02010600040101010101" pitchFamily="2" charset="-122"/>
                <a:ea typeface="华文仿宋" panose="02010600040101010101" pitchFamily="2" charset="-122"/>
              </a:defRPr>
            </a:lvl1pPr>
          </a:lstStyle>
          <a:p>
            <a:pPr algn="ctr">
              <a:lnSpc>
                <a:spcPct val="150000"/>
              </a:lnSpc>
            </a:pPr>
            <a:r>
              <a:rPr lang="zh-CN" altLang="en-US" sz="1200" dirty="0">
                <a:latin typeface="Noto Sans S Chinese Regular" panose="020B0500000000000000" pitchFamily="34" charset="-122"/>
                <a:ea typeface="Noto Sans S Chinese Regular" panose="020B0500000000000000" pitchFamily="34" charset="-122"/>
                <a:cs typeface="文泉驿等宽微米黑" panose="020B0606030804020204" pitchFamily="34" charset="-122"/>
              </a:rPr>
              <a:t>基于蒙特卡洛算法完成最短路径规划的基本代码</a:t>
            </a:r>
            <a:endParaRPr lang="zh-CN" altLang="en-US" sz="1200" dirty="0">
              <a:latin typeface="Noto Sans S Chinese Regular" panose="020B0500000000000000" pitchFamily="34" charset="-122"/>
              <a:ea typeface="Noto Sans S Chinese Regular" panose="020B0500000000000000" pitchFamily="34" charset="-122"/>
              <a:cs typeface="文泉驿等宽微米黑" panose="020B0606030804020204" pitchFamily="34" charset="-122"/>
            </a:endParaRPr>
          </a:p>
        </p:txBody>
      </p:sp>
      <p:pic>
        <p:nvPicPr>
          <p:cNvPr id="5" name="图片 4"/>
          <p:cNvPicPr>
            <a:picLocks noChangeAspect="1"/>
          </p:cNvPicPr>
          <p:nvPr/>
        </p:nvPicPr>
        <p:blipFill>
          <a:blip r:embed="rId2"/>
          <a:stretch>
            <a:fillRect/>
          </a:stretch>
        </p:blipFill>
        <p:spPr>
          <a:xfrm>
            <a:off x="849630" y="1374775"/>
            <a:ext cx="6858000" cy="4746625"/>
          </a:xfrm>
          <a:prstGeom prst="rect">
            <a:avLst/>
          </a:prstGeom>
        </p:spPr>
      </p:pic>
      <p:pic>
        <p:nvPicPr>
          <p:cNvPr id="6" name="图片 5"/>
          <p:cNvPicPr>
            <a:picLocks noChangeAspect="1"/>
          </p:cNvPicPr>
          <p:nvPr/>
        </p:nvPicPr>
        <p:blipFill>
          <a:blip r:embed="rId3"/>
          <a:stretch>
            <a:fillRect/>
          </a:stretch>
        </p:blipFill>
        <p:spPr>
          <a:xfrm>
            <a:off x="8331835" y="1066165"/>
            <a:ext cx="2085975" cy="1476375"/>
          </a:xfrm>
          <a:prstGeom prst="rect">
            <a:avLst/>
          </a:prstGeom>
        </p:spPr>
      </p:pic>
      <p:sp>
        <p:nvSpPr>
          <p:cNvPr id="7" name="文本框 6"/>
          <p:cNvSpPr txBox="1"/>
          <p:nvPr/>
        </p:nvSpPr>
        <p:spPr>
          <a:xfrm>
            <a:off x="7576185" y="697865"/>
            <a:ext cx="3359150" cy="368300"/>
          </a:xfrm>
          <a:prstGeom prst="rect">
            <a:avLst/>
          </a:prstGeom>
          <a:noFill/>
        </p:spPr>
        <p:txBody>
          <a:bodyPr wrap="square" rtlCol="0">
            <a:spAutoFit/>
          </a:bodyPr>
          <a:lstStyle>
            <a:defPPr>
              <a:defRPr lang="zh-CN"/>
            </a:defPPr>
            <a:lvl1pPr algn="dist">
              <a:defRPr>
                <a:latin typeface="华文仿宋" panose="02010600040101010101" pitchFamily="2" charset="-122"/>
                <a:ea typeface="华文仿宋" panose="02010600040101010101" pitchFamily="2" charset="-122"/>
              </a:defRPr>
            </a:lvl1pPr>
          </a:lstStyle>
          <a:p>
            <a:pPr algn="ctr">
              <a:lnSpc>
                <a:spcPct val="150000"/>
              </a:lnSpc>
            </a:pPr>
            <a:r>
              <a:rPr lang="en-US" altLang="zh-CN" sz="1200" dirty="0">
                <a:latin typeface="Noto Sans S Chinese Regular" panose="020B0500000000000000" pitchFamily="34" charset="-122"/>
                <a:ea typeface="Noto Sans S Chinese Regular" panose="020B0500000000000000" pitchFamily="34" charset="-122"/>
                <a:cs typeface="文泉驿等宽微米黑" panose="020B0606030804020204" pitchFamily="34" charset="-122"/>
              </a:rPr>
              <a:t>A</a:t>
            </a:r>
            <a:r>
              <a:rPr lang="en-US" altLang="zh-CN" sz="1200" dirty="0">
                <a:latin typeface="Noto Sans S Chinese Regular" panose="020B0500000000000000" pitchFamily="34" charset="-122"/>
                <a:ea typeface="Noto Sans S Chinese Regular" panose="020B0500000000000000" pitchFamily="34" charset="-122"/>
                <a:cs typeface="文泉驿等宽微米黑" panose="020B0606030804020204" pitchFamily="34" charset="-122"/>
                <a:sym typeface="+mn-ea"/>
              </a:rPr>
              <a:t>     </a:t>
            </a:r>
            <a:r>
              <a:rPr lang="en-US" altLang="zh-CN" sz="1200" dirty="0">
                <a:latin typeface="Noto Sans S Chinese Regular" panose="020B0500000000000000" pitchFamily="34" charset="-122"/>
                <a:ea typeface="Noto Sans S Chinese Regular" panose="020B0500000000000000" pitchFamily="34" charset="-122"/>
                <a:cs typeface="文泉驿等宽微米黑" panose="020B0606030804020204" pitchFamily="34" charset="-122"/>
              </a:rPr>
              <a:t>B    C</a:t>
            </a:r>
            <a:r>
              <a:rPr lang="en-US" altLang="zh-CN" sz="1200" dirty="0">
                <a:latin typeface="Noto Sans S Chinese Regular" panose="020B0500000000000000" pitchFamily="34" charset="-122"/>
                <a:ea typeface="Noto Sans S Chinese Regular" panose="020B0500000000000000" pitchFamily="34" charset="-122"/>
                <a:cs typeface="文泉驿等宽微米黑" panose="020B0606030804020204" pitchFamily="34" charset="-122"/>
                <a:sym typeface="+mn-ea"/>
              </a:rPr>
              <a:t>    </a:t>
            </a:r>
            <a:r>
              <a:rPr lang="en-US" altLang="zh-CN" sz="1200" dirty="0">
                <a:latin typeface="Noto Sans S Chinese Regular" panose="020B0500000000000000" pitchFamily="34" charset="-122"/>
                <a:ea typeface="Noto Sans S Chinese Regular" panose="020B0500000000000000" pitchFamily="34" charset="-122"/>
                <a:cs typeface="文泉驿等宽微米黑" panose="020B0606030804020204" pitchFamily="34" charset="-122"/>
              </a:rPr>
              <a:t>D</a:t>
            </a:r>
            <a:r>
              <a:rPr lang="en-US" altLang="zh-CN" sz="1200" dirty="0">
                <a:latin typeface="Noto Sans S Chinese Regular" panose="020B0500000000000000" pitchFamily="34" charset="-122"/>
                <a:ea typeface="Noto Sans S Chinese Regular" panose="020B0500000000000000" pitchFamily="34" charset="-122"/>
                <a:cs typeface="文泉驿等宽微米黑" panose="020B0606030804020204" pitchFamily="34" charset="-122"/>
                <a:sym typeface="+mn-ea"/>
              </a:rPr>
              <a:t>    </a:t>
            </a:r>
            <a:r>
              <a:rPr lang="en-US" altLang="zh-CN" sz="1200" dirty="0">
                <a:latin typeface="Noto Sans S Chinese Regular" panose="020B0500000000000000" pitchFamily="34" charset="-122"/>
                <a:ea typeface="Noto Sans S Chinese Regular" panose="020B0500000000000000" pitchFamily="34" charset="-122"/>
                <a:cs typeface="文泉驿等宽微米黑" panose="020B0606030804020204" pitchFamily="34" charset="-122"/>
              </a:rPr>
              <a:t>E</a:t>
            </a:r>
            <a:endParaRPr lang="en-US" altLang="zh-CN" sz="1200" dirty="0">
              <a:latin typeface="Noto Sans S Chinese Regular" panose="020B0500000000000000" pitchFamily="34" charset="-122"/>
              <a:ea typeface="Noto Sans S Chinese Regular" panose="020B0500000000000000" pitchFamily="34" charset="-122"/>
              <a:cs typeface="文泉驿等宽微米黑" panose="020B0606030804020204" pitchFamily="34" charset="-122"/>
            </a:endParaRPr>
          </a:p>
        </p:txBody>
      </p:sp>
      <p:sp>
        <p:nvSpPr>
          <p:cNvPr id="8" name="文本框 7"/>
          <p:cNvSpPr txBox="1"/>
          <p:nvPr/>
        </p:nvSpPr>
        <p:spPr>
          <a:xfrm>
            <a:off x="7954010" y="962660"/>
            <a:ext cx="377825" cy="1476375"/>
          </a:xfrm>
          <a:prstGeom prst="rect">
            <a:avLst/>
          </a:prstGeom>
          <a:noFill/>
        </p:spPr>
        <p:txBody>
          <a:bodyPr wrap="square" rtlCol="0">
            <a:spAutoFit/>
          </a:bodyPr>
          <a:lstStyle>
            <a:defPPr>
              <a:defRPr lang="zh-CN"/>
            </a:defPPr>
            <a:lvl1pPr algn="dist">
              <a:defRPr>
                <a:latin typeface="华文仿宋" panose="02010600040101010101" pitchFamily="2" charset="-122"/>
                <a:ea typeface="华文仿宋" panose="02010600040101010101" pitchFamily="2" charset="-122"/>
              </a:defRPr>
            </a:lvl1pPr>
          </a:lstStyle>
          <a:p>
            <a:pPr algn="ctr">
              <a:lnSpc>
                <a:spcPct val="150000"/>
              </a:lnSpc>
            </a:pPr>
            <a:r>
              <a:rPr lang="en-US" altLang="zh-CN" sz="1200" dirty="0">
                <a:latin typeface="Noto Sans S Chinese Regular" panose="020B0500000000000000" pitchFamily="34" charset="-122"/>
                <a:ea typeface="Noto Sans S Chinese Regular" panose="020B0500000000000000" pitchFamily="34" charset="-122"/>
                <a:cs typeface="文泉驿等宽微米黑" panose="020B0606030804020204" pitchFamily="34" charset="-122"/>
              </a:rPr>
              <a:t>A</a:t>
            </a:r>
            <a:r>
              <a:rPr lang="en-US" altLang="zh-CN" sz="1200" dirty="0">
                <a:latin typeface="Noto Sans S Chinese Regular" panose="020B0500000000000000" pitchFamily="34" charset="-122"/>
                <a:ea typeface="Noto Sans S Chinese Regular" panose="020B0500000000000000" pitchFamily="34" charset="-122"/>
                <a:cs typeface="文泉驿等宽微米黑" panose="020B0606030804020204" pitchFamily="34" charset="-122"/>
                <a:sym typeface="+mn-ea"/>
              </a:rPr>
              <a:t>   </a:t>
            </a:r>
            <a:r>
              <a:rPr lang="en-US" altLang="zh-CN" sz="1200" dirty="0">
                <a:latin typeface="Noto Sans S Chinese Regular" panose="020B0500000000000000" pitchFamily="34" charset="-122"/>
                <a:ea typeface="Noto Sans S Chinese Regular" panose="020B0500000000000000" pitchFamily="34" charset="-122"/>
                <a:cs typeface="文泉驿等宽微米黑" panose="020B0606030804020204" pitchFamily="34" charset="-122"/>
              </a:rPr>
              <a:t>B    C</a:t>
            </a:r>
            <a:r>
              <a:rPr lang="en-US" altLang="zh-CN" sz="1200" dirty="0">
                <a:latin typeface="Noto Sans S Chinese Regular" panose="020B0500000000000000" pitchFamily="34" charset="-122"/>
                <a:ea typeface="Noto Sans S Chinese Regular" panose="020B0500000000000000" pitchFamily="34" charset="-122"/>
                <a:cs typeface="文泉驿等宽微米黑" panose="020B0606030804020204" pitchFamily="34" charset="-122"/>
                <a:sym typeface="+mn-ea"/>
              </a:rPr>
              <a:t>    </a:t>
            </a:r>
            <a:r>
              <a:rPr lang="en-US" altLang="zh-CN" sz="1200" dirty="0">
                <a:latin typeface="Noto Sans S Chinese Regular" panose="020B0500000000000000" pitchFamily="34" charset="-122"/>
                <a:ea typeface="Noto Sans S Chinese Regular" panose="020B0500000000000000" pitchFamily="34" charset="-122"/>
                <a:cs typeface="文泉驿等宽微米黑" panose="020B0606030804020204" pitchFamily="34" charset="-122"/>
              </a:rPr>
              <a:t>D</a:t>
            </a:r>
            <a:r>
              <a:rPr lang="en-US" altLang="zh-CN" sz="1200" dirty="0">
                <a:latin typeface="Noto Sans S Chinese Regular" panose="020B0500000000000000" pitchFamily="34" charset="-122"/>
                <a:ea typeface="Noto Sans S Chinese Regular" panose="020B0500000000000000" pitchFamily="34" charset="-122"/>
                <a:cs typeface="文泉驿等宽微米黑" panose="020B0606030804020204" pitchFamily="34" charset="-122"/>
                <a:sym typeface="+mn-ea"/>
              </a:rPr>
              <a:t>    </a:t>
            </a:r>
            <a:r>
              <a:rPr lang="en-US" altLang="zh-CN" sz="1200" dirty="0">
                <a:latin typeface="Noto Sans S Chinese Regular" panose="020B0500000000000000" pitchFamily="34" charset="-122"/>
                <a:ea typeface="Noto Sans S Chinese Regular" panose="020B0500000000000000" pitchFamily="34" charset="-122"/>
                <a:cs typeface="文泉驿等宽微米黑" panose="020B0606030804020204" pitchFamily="34" charset="-122"/>
              </a:rPr>
              <a:t>E</a:t>
            </a:r>
            <a:endParaRPr lang="en-US" altLang="zh-CN" sz="1200" dirty="0">
              <a:latin typeface="Noto Sans S Chinese Regular" panose="020B0500000000000000" pitchFamily="34" charset="-122"/>
              <a:ea typeface="Noto Sans S Chinese Regular" panose="020B0500000000000000" pitchFamily="34" charset="-122"/>
              <a:cs typeface="文泉驿等宽微米黑" panose="020B0606030804020204" pitchFamily="34" charset="-122"/>
            </a:endParaRPr>
          </a:p>
        </p:txBody>
      </p:sp>
      <p:pic>
        <p:nvPicPr>
          <p:cNvPr id="9" name="图片 8"/>
          <p:cNvPicPr>
            <a:picLocks noChangeAspect="1"/>
          </p:cNvPicPr>
          <p:nvPr/>
        </p:nvPicPr>
        <p:blipFill>
          <a:blip r:embed="rId4"/>
          <a:stretch>
            <a:fillRect/>
          </a:stretch>
        </p:blipFill>
        <p:spPr>
          <a:xfrm>
            <a:off x="8051800" y="2542540"/>
            <a:ext cx="3297555" cy="438150"/>
          </a:xfrm>
          <a:prstGeom prst="rect">
            <a:avLst/>
          </a:prstGeom>
        </p:spPr>
      </p:pic>
      <p:sp>
        <p:nvSpPr>
          <p:cNvPr id="10" name="右箭头 9"/>
          <p:cNvSpPr/>
          <p:nvPr/>
        </p:nvSpPr>
        <p:spPr>
          <a:xfrm rot="16200000">
            <a:off x="10376535" y="3124835"/>
            <a:ext cx="443230" cy="36131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 name="文本框 11"/>
          <p:cNvSpPr txBox="1"/>
          <p:nvPr/>
        </p:nvSpPr>
        <p:spPr>
          <a:xfrm>
            <a:off x="8444865" y="3669665"/>
            <a:ext cx="1240155" cy="645160"/>
          </a:xfrm>
          <a:prstGeom prst="rect">
            <a:avLst/>
          </a:prstGeom>
          <a:noFill/>
        </p:spPr>
        <p:txBody>
          <a:bodyPr wrap="square" rtlCol="0">
            <a:spAutoFit/>
          </a:bodyPr>
          <a:lstStyle>
            <a:defPPr>
              <a:defRPr lang="zh-CN"/>
            </a:defPPr>
            <a:lvl1pPr algn="dist">
              <a:defRPr>
                <a:latin typeface="华文仿宋" panose="02010600040101010101" pitchFamily="2" charset="-122"/>
                <a:ea typeface="华文仿宋" panose="02010600040101010101" pitchFamily="2" charset="-122"/>
              </a:defRPr>
            </a:lvl1pPr>
          </a:lstStyle>
          <a:p>
            <a:pPr algn="ctr">
              <a:lnSpc>
                <a:spcPct val="150000"/>
              </a:lnSpc>
            </a:pPr>
            <a:r>
              <a:rPr lang="en-US" altLang="zh-CN" sz="1200" dirty="0">
                <a:latin typeface="Noto Sans S Chinese Regular" panose="020B0500000000000000" pitchFamily="34" charset="-122"/>
                <a:ea typeface="Noto Sans S Chinese Regular" panose="020B0500000000000000" pitchFamily="34" charset="-122"/>
                <a:cs typeface="文泉驿等宽微米黑" panose="020B0606030804020204" pitchFamily="34" charset="-122"/>
              </a:rPr>
              <a:t>real_number=3</a:t>
            </a:r>
            <a:endParaRPr lang="en-US" altLang="zh-CN" sz="1200" dirty="0">
              <a:latin typeface="Noto Sans S Chinese Regular" panose="020B0500000000000000" pitchFamily="34" charset="-122"/>
              <a:ea typeface="Noto Sans S Chinese Regular" panose="020B0500000000000000" pitchFamily="34" charset="-122"/>
              <a:cs typeface="文泉驿等宽微米黑" panose="020B0606030804020204" pitchFamily="34" charset="-122"/>
            </a:endParaRPr>
          </a:p>
          <a:p>
            <a:pPr marL="0" lvl="0" indent="0" algn="ctr">
              <a:lnSpc>
                <a:spcPct val="150000"/>
              </a:lnSpc>
              <a:buNone/>
            </a:pPr>
            <a:endParaRPr lang="en-US" altLang="zh-CN" sz="1200" dirty="0">
              <a:solidFill>
                <a:schemeClr val="tx1"/>
              </a:solidFill>
              <a:latin typeface="Noto Sans S Chinese Regular" panose="020B0500000000000000" pitchFamily="34" charset="-122"/>
              <a:ea typeface="Noto Sans S Chinese Regular" panose="020B0500000000000000" pitchFamily="34" charset="-122"/>
              <a:cs typeface="文泉驿等宽微米黑" panose="020B0606030804020204" pitchFamily="34" charset="-122"/>
            </a:endParaRPr>
          </a:p>
        </p:txBody>
      </p:sp>
      <p:sp>
        <p:nvSpPr>
          <p:cNvPr id="13" name="文本框 12"/>
          <p:cNvSpPr txBox="1"/>
          <p:nvPr/>
        </p:nvSpPr>
        <p:spPr>
          <a:xfrm>
            <a:off x="8263255" y="4157980"/>
            <a:ext cx="1240155" cy="645160"/>
          </a:xfrm>
          <a:prstGeom prst="rect">
            <a:avLst/>
          </a:prstGeom>
          <a:noFill/>
        </p:spPr>
        <p:txBody>
          <a:bodyPr wrap="square" rtlCol="0">
            <a:spAutoFit/>
          </a:bodyPr>
          <a:lstStyle>
            <a:defPPr>
              <a:defRPr lang="zh-CN"/>
            </a:defPPr>
            <a:lvl1pPr algn="dist">
              <a:defRPr>
                <a:latin typeface="华文仿宋" panose="02010600040101010101" pitchFamily="2" charset="-122"/>
                <a:ea typeface="华文仿宋" panose="02010600040101010101" pitchFamily="2" charset="-122"/>
              </a:defRPr>
            </a:lvl1pPr>
          </a:lstStyle>
          <a:p>
            <a:pPr algn="ctr">
              <a:lnSpc>
                <a:spcPct val="150000"/>
              </a:lnSpc>
            </a:pPr>
            <a:r>
              <a:rPr lang="en-US" altLang="zh-CN" sz="1200" dirty="0">
                <a:latin typeface="Noto Sans S Chinese Regular" panose="020B0500000000000000" pitchFamily="34" charset="-122"/>
                <a:ea typeface="Noto Sans S Chinese Regular" panose="020B0500000000000000" pitchFamily="34" charset="-122"/>
                <a:cs typeface="文泉驿等宽微米黑" panose="020B0606030804020204" pitchFamily="34" charset="-122"/>
              </a:rPr>
              <a:t>search=4</a:t>
            </a:r>
            <a:endParaRPr lang="en-US" altLang="zh-CN" sz="1200" dirty="0">
              <a:latin typeface="Noto Sans S Chinese Regular" panose="020B0500000000000000" pitchFamily="34" charset="-122"/>
              <a:ea typeface="Noto Sans S Chinese Regular" panose="020B0500000000000000" pitchFamily="34" charset="-122"/>
              <a:cs typeface="文泉驿等宽微米黑" panose="020B0606030804020204" pitchFamily="34" charset="-122"/>
            </a:endParaRPr>
          </a:p>
          <a:p>
            <a:pPr marL="0" lvl="0" indent="0" algn="ctr">
              <a:lnSpc>
                <a:spcPct val="150000"/>
              </a:lnSpc>
              <a:buNone/>
            </a:pPr>
            <a:endParaRPr lang="en-US" altLang="zh-CN" sz="1200" dirty="0">
              <a:solidFill>
                <a:schemeClr val="tx1"/>
              </a:solidFill>
              <a:latin typeface="Noto Sans S Chinese Regular" panose="020B0500000000000000" pitchFamily="34" charset="-122"/>
              <a:ea typeface="Noto Sans S Chinese Regular" panose="020B0500000000000000" pitchFamily="34" charset="-122"/>
              <a:cs typeface="文泉驿等宽微米黑" panose="020B0606030804020204" pitchFamily="34" charset="-122"/>
            </a:endParaRPr>
          </a:p>
        </p:txBody>
      </p:sp>
      <p:sp>
        <p:nvSpPr>
          <p:cNvPr id="14" name="文本框 13"/>
          <p:cNvSpPr txBox="1"/>
          <p:nvPr/>
        </p:nvSpPr>
        <p:spPr>
          <a:xfrm>
            <a:off x="8444865" y="4598035"/>
            <a:ext cx="1240155" cy="645160"/>
          </a:xfrm>
          <a:prstGeom prst="rect">
            <a:avLst/>
          </a:prstGeom>
          <a:noFill/>
        </p:spPr>
        <p:txBody>
          <a:bodyPr wrap="square" rtlCol="0">
            <a:spAutoFit/>
          </a:bodyPr>
          <a:lstStyle>
            <a:defPPr>
              <a:defRPr lang="zh-CN"/>
            </a:defPPr>
            <a:lvl1pPr algn="dist">
              <a:defRPr>
                <a:latin typeface="华文仿宋" panose="02010600040101010101" pitchFamily="2" charset="-122"/>
                <a:ea typeface="华文仿宋" panose="02010600040101010101" pitchFamily="2" charset="-122"/>
              </a:defRPr>
            </a:lvl1pPr>
          </a:lstStyle>
          <a:p>
            <a:pPr algn="ctr">
              <a:lnSpc>
                <a:spcPct val="150000"/>
              </a:lnSpc>
            </a:pPr>
            <a:r>
              <a:rPr lang="en-US" altLang="zh-CN" sz="1200" dirty="0">
                <a:latin typeface="Noto Sans S Chinese Regular" panose="020B0500000000000000" pitchFamily="34" charset="-122"/>
                <a:ea typeface="Noto Sans S Chinese Regular" panose="020B0500000000000000" pitchFamily="34" charset="-122"/>
                <a:cs typeface="文泉驿等宽微米黑" panose="020B0606030804020204" pitchFamily="34" charset="-122"/>
              </a:rPr>
              <a:t>mtkl_number=3</a:t>
            </a:r>
            <a:endParaRPr lang="en-US" altLang="zh-CN" sz="1200" dirty="0">
              <a:latin typeface="Noto Sans S Chinese Regular" panose="020B0500000000000000" pitchFamily="34" charset="-122"/>
              <a:ea typeface="Noto Sans S Chinese Regular" panose="020B0500000000000000" pitchFamily="34" charset="-122"/>
              <a:cs typeface="文泉驿等宽微米黑" panose="020B0606030804020204" pitchFamily="34" charset="-122"/>
            </a:endParaRPr>
          </a:p>
          <a:p>
            <a:pPr marL="0" lvl="0" indent="0" algn="ctr">
              <a:lnSpc>
                <a:spcPct val="150000"/>
              </a:lnSpc>
              <a:buNone/>
            </a:pPr>
            <a:endParaRPr lang="en-US" altLang="zh-CN" sz="1200" dirty="0">
              <a:solidFill>
                <a:schemeClr val="tx1"/>
              </a:solidFill>
              <a:latin typeface="Noto Sans S Chinese Regular" panose="020B0500000000000000" pitchFamily="34" charset="-122"/>
              <a:ea typeface="Noto Sans S Chinese Regular" panose="020B0500000000000000" pitchFamily="34" charset="-122"/>
              <a:cs typeface="文泉驿等宽微米黑" panose="020B06060308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500">
        <p:push dir="u"/>
      </p:transition>
    </mc:Choice>
    <mc:Fallback>
      <p:transition>
        <p:push dir="u"/>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图片 16"/>
          <p:cNvPicPr>
            <a:picLocks noChangeAspect="1"/>
          </p:cNvPicPr>
          <p:nvPr/>
        </p:nvPicPr>
        <p:blipFill>
          <a:blip r:embed="rId1"/>
          <a:srcRect l="600" t="1475" r="483" b="887"/>
          <a:stretch>
            <a:fillRect/>
          </a:stretch>
        </p:blipFill>
        <p:spPr>
          <a:xfrm>
            <a:off x="0" y="0"/>
            <a:ext cx="12192000" cy="6858000"/>
          </a:xfrm>
          <a:custGeom>
            <a:avLst/>
            <a:gdLst>
              <a:gd name="connsiteX0" fmla="*/ 0 w 12060000"/>
              <a:gd name="connsiteY0" fmla="*/ 0 h 6696000"/>
              <a:gd name="connsiteX1" fmla="*/ 12060000 w 12060000"/>
              <a:gd name="connsiteY1" fmla="*/ 0 h 6696000"/>
              <a:gd name="connsiteX2" fmla="*/ 12060000 w 12060000"/>
              <a:gd name="connsiteY2" fmla="*/ 6696000 h 6696000"/>
              <a:gd name="connsiteX3" fmla="*/ 0 w 12060000"/>
              <a:gd name="connsiteY3" fmla="*/ 6696000 h 6696000"/>
            </a:gdLst>
            <a:ahLst/>
            <a:cxnLst>
              <a:cxn ang="0">
                <a:pos x="connsiteX0" y="connsiteY0"/>
              </a:cxn>
              <a:cxn ang="0">
                <a:pos x="connsiteX1" y="connsiteY1"/>
              </a:cxn>
              <a:cxn ang="0">
                <a:pos x="connsiteX2" y="connsiteY2"/>
              </a:cxn>
              <a:cxn ang="0">
                <a:pos x="connsiteX3" y="connsiteY3"/>
              </a:cxn>
            </a:cxnLst>
            <a:rect l="l" t="t" r="r" b="b"/>
            <a:pathLst>
              <a:path w="12060000" h="6696000">
                <a:moveTo>
                  <a:pt x="0" y="0"/>
                </a:moveTo>
                <a:lnTo>
                  <a:pt x="12060000" y="0"/>
                </a:lnTo>
                <a:lnTo>
                  <a:pt x="12060000" y="6696000"/>
                </a:lnTo>
                <a:lnTo>
                  <a:pt x="0" y="6696000"/>
                </a:lnTo>
                <a:close/>
              </a:path>
            </a:pathLst>
          </a:custGeom>
          <a:ln>
            <a:solidFill>
              <a:srgbClr val="1E1E20"/>
            </a:solidFill>
          </a:ln>
        </p:spPr>
      </p:pic>
      <p:sp>
        <p:nvSpPr>
          <p:cNvPr id="3" name="文本框 2"/>
          <p:cNvSpPr txBox="1"/>
          <p:nvPr/>
        </p:nvSpPr>
        <p:spPr>
          <a:xfrm>
            <a:off x="4615543" y="606026"/>
            <a:ext cx="2960914" cy="460375"/>
          </a:xfrm>
          <a:prstGeom prst="rect">
            <a:avLst/>
          </a:prstGeom>
          <a:noFill/>
        </p:spPr>
        <p:txBody>
          <a:bodyPr wrap="square" rtlCol="0">
            <a:spAutoFit/>
          </a:bodyPr>
          <a:lstStyle>
            <a:defPPr>
              <a:defRPr lang="zh-CN"/>
            </a:defPPr>
            <a:lvl1pPr algn="ctr">
              <a:defRPr sz="5400">
                <a:latin typeface="汉仪大宋简" panose="02010600000101010101" pitchFamily="49" charset="-122"/>
                <a:ea typeface="汉仪大宋简" panose="02010600000101010101" pitchFamily="49" charset="-122"/>
              </a:defRPr>
            </a:lvl1pPr>
          </a:lstStyle>
          <a:p>
            <a:r>
              <a:rPr lang="zh-CN" altLang="en-US" sz="2400" dirty="0">
                <a:sym typeface="+mn-ea"/>
              </a:rPr>
              <a:t>循环路径规划</a:t>
            </a:r>
            <a:endParaRPr lang="zh-CN" altLang="en-US" sz="2400" dirty="0">
              <a:sym typeface="+mn-ea"/>
            </a:endParaRPr>
          </a:p>
        </p:txBody>
      </p:sp>
      <p:pic>
        <p:nvPicPr>
          <p:cNvPr id="2" name="图片 1"/>
          <p:cNvPicPr>
            <a:picLocks noChangeAspect="1"/>
          </p:cNvPicPr>
          <p:nvPr/>
        </p:nvPicPr>
        <p:blipFill>
          <a:blip r:embed="rId2"/>
          <a:stretch>
            <a:fillRect/>
          </a:stretch>
        </p:blipFill>
        <p:spPr>
          <a:xfrm>
            <a:off x="730250" y="1066165"/>
            <a:ext cx="6667500" cy="5090160"/>
          </a:xfrm>
          <a:prstGeom prst="rect">
            <a:avLst/>
          </a:prstGeom>
        </p:spPr>
      </p:pic>
      <p:sp>
        <p:nvSpPr>
          <p:cNvPr id="12" name="文本框 11"/>
          <p:cNvSpPr txBox="1"/>
          <p:nvPr/>
        </p:nvSpPr>
        <p:spPr>
          <a:xfrm>
            <a:off x="8415020" y="2393315"/>
            <a:ext cx="2595245" cy="1753235"/>
          </a:xfrm>
          <a:prstGeom prst="rect">
            <a:avLst/>
          </a:prstGeom>
          <a:noFill/>
        </p:spPr>
        <p:txBody>
          <a:bodyPr wrap="square" rtlCol="0">
            <a:spAutoFit/>
          </a:bodyPr>
          <a:lstStyle>
            <a:defPPr>
              <a:defRPr lang="zh-CN"/>
            </a:defPPr>
            <a:lvl1pPr algn="dist">
              <a:defRPr>
                <a:latin typeface="华文仿宋" panose="02010600040101010101" pitchFamily="2" charset="-122"/>
                <a:ea typeface="华文仿宋" panose="02010600040101010101" pitchFamily="2" charset="-122"/>
              </a:defRPr>
            </a:lvl1pPr>
          </a:lstStyle>
          <a:p>
            <a:pPr algn="ctr">
              <a:lnSpc>
                <a:spcPct val="150000"/>
              </a:lnSpc>
            </a:pPr>
            <a:r>
              <a:rPr lang="zh-CN" altLang="en-US" sz="1200" dirty="0">
                <a:latin typeface="Noto Sans S Chinese Regular" panose="020B0500000000000000" pitchFamily="34" charset="-122"/>
                <a:ea typeface="Noto Sans S Chinese Regular" panose="020B0500000000000000" pitchFamily="34" charset="-122"/>
                <a:cs typeface="文泉驿等宽微米黑" panose="020B0606030804020204" pitchFamily="34" charset="-122"/>
              </a:rPr>
              <a:t>由于递归路径规划在每一次递归时，会重新分配内存定义变量。所以当地图较大时，递归算法的空间复杂度较高，改为循环语句来替换它，而计算时间不会有太大变化。</a:t>
            </a:r>
            <a:endParaRPr lang="en-US" altLang="zh-CN" sz="1200" dirty="0">
              <a:latin typeface="Noto Sans S Chinese Regular" panose="020B0500000000000000" pitchFamily="34" charset="-122"/>
              <a:ea typeface="Noto Sans S Chinese Regular" panose="020B0500000000000000" pitchFamily="34" charset="-122"/>
              <a:cs typeface="文泉驿等宽微米黑" panose="020B0606030804020204" pitchFamily="34" charset="-122"/>
            </a:endParaRPr>
          </a:p>
          <a:p>
            <a:pPr marL="0" lvl="0" indent="0" algn="ctr">
              <a:lnSpc>
                <a:spcPct val="150000"/>
              </a:lnSpc>
              <a:buNone/>
            </a:pPr>
            <a:endParaRPr lang="en-US" altLang="zh-CN" sz="1200" dirty="0">
              <a:solidFill>
                <a:schemeClr val="tx1"/>
              </a:solidFill>
              <a:latin typeface="Noto Sans S Chinese Regular" panose="020B0500000000000000" pitchFamily="34" charset="-122"/>
              <a:ea typeface="Noto Sans S Chinese Regular" panose="020B0500000000000000" pitchFamily="34" charset="-122"/>
              <a:cs typeface="文泉驿等宽微米黑" panose="020B06060308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500">
        <p:push dir="u"/>
      </p:transition>
    </mc:Choice>
    <mc:Fallback>
      <p:transition>
        <p:push dir="u"/>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图片 16"/>
          <p:cNvPicPr>
            <a:picLocks noChangeAspect="1"/>
          </p:cNvPicPr>
          <p:nvPr/>
        </p:nvPicPr>
        <p:blipFill>
          <a:blip r:embed="rId1"/>
          <a:srcRect l="600" t="1475" r="483" b="887"/>
          <a:stretch>
            <a:fillRect/>
          </a:stretch>
        </p:blipFill>
        <p:spPr>
          <a:xfrm>
            <a:off x="0" y="0"/>
            <a:ext cx="12192000" cy="6858000"/>
          </a:xfrm>
          <a:custGeom>
            <a:avLst/>
            <a:gdLst>
              <a:gd name="connsiteX0" fmla="*/ 0 w 12060000"/>
              <a:gd name="connsiteY0" fmla="*/ 0 h 6696000"/>
              <a:gd name="connsiteX1" fmla="*/ 12060000 w 12060000"/>
              <a:gd name="connsiteY1" fmla="*/ 0 h 6696000"/>
              <a:gd name="connsiteX2" fmla="*/ 12060000 w 12060000"/>
              <a:gd name="connsiteY2" fmla="*/ 6696000 h 6696000"/>
              <a:gd name="connsiteX3" fmla="*/ 0 w 12060000"/>
              <a:gd name="connsiteY3" fmla="*/ 6696000 h 6696000"/>
            </a:gdLst>
            <a:ahLst/>
            <a:cxnLst>
              <a:cxn ang="0">
                <a:pos x="connsiteX0" y="connsiteY0"/>
              </a:cxn>
              <a:cxn ang="0">
                <a:pos x="connsiteX1" y="connsiteY1"/>
              </a:cxn>
              <a:cxn ang="0">
                <a:pos x="connsiteX2" y="connsiteY2"/>
              </a:cxn>
              <a:cxn ang="0">
                <a:pos x="connsiteX3" y="connsiteY3"/>
              </a:cxn>
            </a:cxnLst>
            <a:rect l="l" t="t" r="r" b="b"/>
            <a:pathLst>
              <a:path w="12060000" h="6696000">
                <a:moveTo>
                  <a:pt x="0" y="0"/>
                </a:moveTo>
                <a:lnTo>
                  <a:pt x="12060000" y="0"/>
                </a:lnTo>
                <a:lnTo>
                  <a:pt x="12060000" y="6696000"/>
                </a:lnTo>
                <a:lnTo>
                  <a:pt x="0" y="6696000"/>
                </a:lnTo>
                <a:close/>
              </a:path>
            </a:pathLst>
          </a:custGeom>
          <a:ln>
            <a:solidFill>
              <a:srgbClr val="1E1E20"/>
            </a:solidFill>
          </a:ln>
        </p:spPr>
      </p:pic>
      <p:sp>
        <p:nvSpPr>
          <p:cNvPr id="3" name="文本框 2"/>
          <p:cNvSpPr txBox="1"/>
          <p:nvPr/>
        </p:nvSpPr>
        <p:spPr>
          <a:xfrm>
            <a:off x="4615543" y="606026"/>
            <a:ext cx="2960914" cy="460375"/>
          </a:xfrm>
          <a:prstGeom prst="rect">
            <a:avLst/>
          </a:prstGeom>
          <a:noFill/>
        </p:spPr>
        <p:txBody>
          <a:bodyPr wrap="square" rtlCol="0">
            <a:spAutoFit/>
          </a:bodyPr>
          <a:lstStyle>
            <a:defPPr>
              <a:defRPr lang="zh-CN"/>
            </a:defPPr>
            <a:lvl1pPr algn="ctr">
              <a:defRPr sz="5400">
                <a:latin typeface="汉仪大宋简" panose="02010600000101010101" pitchFamily="49" charset="-122"/>
                <a:ea typeface="汉仪大宋简" panose="02010600000101010101" pitchFamily="49" charset="-122"/>
              </a:defRPr>
            </a:lvl1pPr>
          </a:lstStyle>
          <a:p>
            <a:r>
              <a:rPr lang="zh-CN" altLang="en-US" sz="2400" dirty="0">
                <a:sym typeface="+mn-ea"/>
              </a:rPr>
              <a:t>前置地图</a:t>
            </a:r>
            <a:r>
              <a:rPr lang="zh-CN" altLang="en-US" sz="2400" dirty="0">
                <a:sym typeface="+mn-ea"/>
              </a:rPr>
              <a:t>预载</a:t>
            </a:r>
            <a:endParaRPr lang="zh-CN" altLang="en-US" sz="2400" dirty="0">
              <a:sym typeface="+mn-ea"/>
            </a:endParaRPr>
          </a:p>
        </p:txBody>
      </p:sp>
      <p:sp>
        <p:nvSpPr>
          <p:cNvPr id="12" name="文本框 11"/>
          <p:cNvSpPr txBox="1"/>
          <p:nvPr/>
        </p:nvSpPr>
        <p:spPr>
          <a:xfrm>
            <a:off x="7576185" y="2731770"/>
            <a:ext cx="2595245" cy="922020"/>
          </a:xfrm>
          <a:prstGeom prst="rect">
            <a:avLst/>
          </a:prstGeom>
          <a:noFill/>
        </p:spPr>
        <p:txBody>
          <a:bodyPr wrap="square" rtlCol="0">
            <a:spAutoFit/>
          </a:bodyPr>
          <a:lstStyle>
            <a:defPPr>
              <a:defRPr lang="zh-CN"/>
            </a:defPPr>
            <a:lvl1pPr algn="dist">
              <a:defRPr>
                <a:latin typeface="华文仿宋" panose="02010600040101010101" pitchFamily="2" charset="-122"/>
                <a:ea typeface="华文仿宋" panose="02010600040101010101" pitchFamily="2" charset="-122"/>
              </a:defRPr>
            </a:lvl1pPr>
          </a:lstStyle>
          <a:p>
            <a:pPr marL="0" lvl="0" indent="0" algn="ctr">
              <a:lnSpc>
                <a:spcPct val="150000"/>
              </a:lnSpc>
              <a:buNone/>
            </a:pPr>
            <a:r>
              <a:rPr lang="zh-CN" altLang="en-US" sz="1200" dirty="0">
                <a:solidFill>
                  <a:schemeClr val="tx1"/>
                </a:solidFill>
                <a:latin typeface="Noto Sans S Chinese Regular" panose="020B0500000000000000" pitchFamily="34" charset="-122"/>
                <a:ea typeface="Noto Sans S Chinese Regular" panose="020B0500000000000000" pitchFamily="34" charset="-122"/>
                <a:cs typeface="文泉驿等宽微米黑" panose="020B0606030804020204" pitchFamily="34" charset="-122"/>
              </a:rPr>
              <a:t>把算法中的遍历地图中的可</a:t>
            </a:r>
            <a:r>
              <a:rPr lang="zh-CN" altLang="en-US" sz="1200" dirty="0">
                <a:solidFill>
                  <a:schemeClr val="tx1"/>
                </a:solidFill>
                <a:latin typeface="Noto Sans S Chinese Regular" panose="020B0500000000000000" pitchFamily="34" charset="-122"/>
                <a:ea typeface="Noto Sans S Chinese Regular" panose="020B0500000000000000" pitchFamily="34" charset="-122"/>
                <a:cs typeface="文泉驿等宽微米黑" panose="020B0606030804020204" pitchFamily="34" charset="-122"/>
              </a:rPr>
              <a:t>行路径数代码移出来，并在遍历时把每个地点的可行路径准确道路</a:t>
            </a:r>
            <a:r>
              <a:rPr lang="zh-CN" altLang="en-US" sz="1200" dirty="0">
                <a:solidFill>
                  <a:schemeClr val="tx1"/>
                </a:solidFill>
                <a:latin typeface="Noto Sans S Chinese Regular" panose="020B0500000000000000" pitchFamily="34" charset="-122"/>
                <a:ea typeface="Noto Sans S Chinese Regular" panose="020B0500000000000000" pitchFamily="34" charset="-122"/>
                <a:cs typeface="文泉驿等宽微米黑" panose="020B0606030804020204" pitchFamily="34" charset="-122"/>
              </a:rPr>
              <a:t>记录下来</a:t>
            </a:r>
            <a:endParaRPr lang="zh-CN" altLang="en-US" sz="1200" dirty="0">
              <a:solidFill>
                <a:schemeClr val="tx1"/>
              </a:solidFill>
              <a:latin typeface="Noto Sans S Chinese Regular" panose="020B0500000000000000" pitchFamily="34" charset="-122"/>
              <a:ea typeface="Noto Sans S Chinese Regular" panose="020B0500000000000000" pitchFamily="34" charset="-122"/>
              <a:cs typeface="文泉驿等宽微米黑" panose="020B0606030804020204" pitchFamily="34" charset="-122"/>
            </a:endParaRPr>
          </a:p>
        </p:txBody>
      </p:sp>
      <p:pic>
        <p:nvPicPr>
          <p:cNvPr id="5" name="图片 4"/>
          <p:cNvPicPr>
            <a:picLocks noChangeAspect="1"/>
          </p:cNvPicPr>
          <p:nvPr/>
        </p:nvPicPr>
        <p:blipFill>
          <a:blip r:embed="rId2"/>
          <a:stretch>
            <a:fillRect/>
          </a:stretch>
        </p:blipFill>
        <p:spPr>
          <a:xfrm>
            <a:off x="925195" y="1442720"/>
            <a:ext cx="5924550" cy="397192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500">
        <p:push dir="u"/>
      </p:transition>
    </mc:Choice>
    <mc:Fallback>
      <p:transition>
        <p:push dir="u"/>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图片 16"/>
          <p:cNvPicPr>
            <a:picLocks noChangeAspect="1"/>
          </p:cNvPicPr>
          <p:nvPr/>
        </p:nvPicPr>
        <p:blipFill>
          <a:blip r:embed="rId1"/>
          <a:srcRect l="600" t="1475" r="483" b="887"/>
          <a:stretch>
            <a:fillRect/>
          </a:stretch>
        </p:blipFill>
        <p:spPr>
          <a:xfrm>
            <a:off x="0" y="0"/>
            <a:ext cx="12192000" cy="6858000"/>
          </a:xfrm>
          <a:custGeom>
            <a:avLst/>
            <a:gdLst>
              <a:gd name="connsiteX0" fmla="*/ 0 w 12060000"/>
              <a:gd name="connsiteY0" fmla="*/ 0 h 6696000"/>
              <a:gd name="connsiteX1" fmla="*/ 12060000 w 12060000"/>
              <a:gd name="connsiteY1" fmla="*/ 0 h 6696000"/>
              <a:gd name="connsiteX2" fmla="*/ 12060000 w 12060000"/>
              <a:gd name="connsiteY2" fmla="*/ 6696000 h 6696000"/>
              <a:gd name="connsiteX3" fmla="*/ 0 w 12060000"/>
              <a:gd name="connsiteY3" fmla="*/ 6696000 h 6696000"/>
            </a:gdLst>
            <a:ahLst/>
            <a:cxnLst>
              <a:cxn ang="0">
                <a:pos x="connsiteX0" y="connsiteY0"/>
              </a:cxn>
              <a:cxn ang="0">
                <a:pos x="connsiteX1" y="connsiteY1"/>
              </a:cxn>
              <a:cxn ang="0">
                <a:pos x="connsiteX2" y="connsiteY2"/>
              </a:cxn>
              <a:cxn ang="0">
                <a:pos x="connsiteX3" y="connsiteY3"/>
              </a:cxn>
            </a:cxnLst>
            <a:rect l="l" t="t" r="r" b="b"/>
            <a:pathLst>
              <a:path w="12060000" h="6696000">
                <a:moveTo>
                  <a:pt x="0" y="0"/>
                </a:moveTo>
                <a:lnTo>
                  <a:pt x="12060000" y="0"/>
                </a:lnTo>
                <a:lnTo>
                  <a:pt x="12060000" y="6696000"/>
                </a:lnTo>
                <a:lnTo>
                  <a:pt x="0" y="6696000"/>
                </a:lnTo>
                <a:close/>
              </a:path>
            </a:pathLst>
          </a:custGeom>
          <a:ln>
            <a:solidFill>
              <a:srgbClr val="1E1E20"/>
            </a:solidFill>
          </a:ln>
        </p:spPr>
      </p:pic>
      <p:sp>
        <p:nvSpPr>
          <p:cNvPr id="3" name="文本框 2"/>
          <p:cNvSpPr txBox="1"/>
          <p:nvPr/>
        </p:nvSpPr>
        <p:spPr>
          <a:xfrm>
            <a:off x="4615543" y="606026"/>
            <a:ext cx="2960914" cy="460375"/>
          </a:xfrm>
          <a:prstGeom prst="rect">
            <a:avLst/>
          </a:prstGeom>
          <a:noFill/>
        </p:spPr>
        <p:txBody>
          <a:bodyPr wrap="square" rtlCol="0">
            <a:spAutoFit/>
          </a:bodyPr>
          <a:lstStyle>
            <a:defPPr>
              <a:defRPr lang="zh-CN"/>
            </a:defPPr>
            <a:lvl1pPr algn="ctr">
              <a:defRPr sz="5400">
                <a:latin typeface="汉仪大宋简" panose="02010600000101010101" pitchFamily="49" charset="-122"/>
                <a:ea typeface="汉仪大宋简" panose="02010600000101010101" pitchFamily="49" charset="-122"/>
              </a:defRPr>
            </a:lvl1pPr>
          </a:lstStyle>
          <a:p>
            <a:r>
              <a:rPr lang="zh-CN" altLang="en-US" sz="2400" dirty="0">
                <a:sym typeface="+mn-ea"/>
              </a:rPr>
              <a:t>前置地图</a:t>
            </a:r>
            <a:r>
              <a:rPr lang="zh-CN" altLang="en-US" sz="2400" dirty="0">
                <a:sym typeface="+mn-ea"/>
              </a:rPr>
              <a:t>预载</a:t>
            </a:r>
            <a:endParaRPr lang="zh-CN" altLang="en-US" sz="2400" dirty="0">
              <a:sym typeface="+mn-ea"/>
            </a:endParaRPr>
          </a:p>
        </p:txBody>
      </p:sp>
      <p:sp>
        <p:nvSpPr>
          <p:cNvPr id="12" name="文本框 11"/>
          <p:cNvSpPr txBox="1"/>
          <p:nvPr/>
        </p:nvSpPr>
        <p:spPr>
          <a:xfrm>
            <a:off x="7743190" y="2787650"/>
            <a:ext cx="2595245" cy="922020"/>
          </a:xfrm>
          <a:prstGeom prst="rect">
            <a:avLst/>
          </a:prstGeom>
          <a:noFill/>
        </p:spPr>
        <p:txBody>
          <a:bodyPr wrap="square" rtlCol="0">
            <a:spAutoFit/>
          </a:bodyPr>
          <a:lstStyle>
            <a:defPPr>
              <a:defRPr lang="zh-CN"/>
            </a:defPPr>
            <a:lvl1pPr algn="dist">
              <a:defRPr>
                <a:latin typeface="华文仿宋" panose="02010600040101010101" pitchFamily="2" charset="-122"/>
                <a:ea typeface="华文仿宋" panose="02010600040101010101" pitchFamily="2" charset="-122"/>
              </a:defRPr>
            </a:lvl1pPr>
          </a:lstStyle>
          <a:p>
            <a:pPr marL="0" lvl="0" indent="0" algn="ctr">
              <a:lnSpc>
                <a:spcPct val="150000"/>
              </a:lnSpc>
              <a:buNone/>
            </a:pPr>
            <a:r>
              <a:rPr lang="zh-CN" altLang="en-US" sz="1200" dirty="0">
                <a:solidFill>
                  <a:schemeClr val="tx1"/>
                </a:solidFill>
                <a:latin typeface="Noto Sans S Chinese Regular" panose="020B0500000000000000" pitchFamily="34" charset="-122"/>
                <a:ea typeface="Noto Sans S Chinese Regular" panose="020B0500000000000000" pitchFamily="34" charset="-122"/>
                <a:cs typeface="文泉驿等宽微米黑" panose="020B0606030804020204" pitchFamily="34" charset="-122"/>
              </a:rPr>
              <a:t>中间的</a:t>
            </a:r>
            <a:r>
              <a:rPr lang="en-US" altLang="zh-CN" sz="1200" dirty="0">
                <a:solidFill>
                  <a:schemeClr val="tx1"/>
                </a:solidFill>
                <a:latin typeface="Noto Sans S Chinese Regular" panose="020B0500000000000000" pitchFamily="34" charset="-122"/>
                <a:ea typeface="Noto Sans S Chinese Regular" panose="020B0500000000000000" pitchFamily="34" charset="-122"/>
                <a:cs typeface="文泉驿等宽微米黑" panose="020B0606030804020204" pitchFamily="34" charset="-122"/>
              </a:rPr>
              <a:t>for</a:t>
            </a:r>
            <a:r>
              <a:rPr lang="zh-CN" altLang="en-US" sz="1200" dirty="0">
                <a:solidFill>
                  <a:schemeClr val="tx1"/>
                </a:solidFill>
                <a:latin typeface="Noto Sans S Chinese Regular" panose="020B0500000000000000" pitchFamily="34" charset="-122"/>
                <a:ea typeface="Noto Sans S Chinese Regular" panose="020B0500000000000000" pitchFamily="34" charset="-122"/>
                <a:cs typeface="文泉驿等宽微米黑" panose="020B0606030804020204" pitchFamily="34" charset="-122"/>
              </a:rPr>
              <a:t>循环被迁至地图与在函数中的可行路径矩阵代替了减少了</a:t>
            </a:r>
            <a:r>
              <a:rPr lang="zh-CN" altLang="en-US" sz="1200" dirty="0">
                <a:solidFill>
                  <a:schemeClr val="tx1"/>
                </a:solidFill>
                <a:latin typeface="Noto Sans S Chinese Regular" panose="020B0500000000000000" pitchFamily="34" charset="-122"/>
                <a:ea typeface="Noto Sans S Chinese Regular" panose="020B0500000000000000" pitchFamily="34" charset="-122"/>
                <a:cs typeface="文泉驿等宽微米黑" panose="020B0606030804020204" pitchFamily="34" charset="-122"/>
              </a:rPr>
              <a:t>时间复杂度</a:t>
            </a:r>
            <a:endParaRPr lang="zh-CN" altLang="en-US" sz="1200" dirty="0">
              <a:solidFill>
                <a:schemeClr val="tx1"/>
              </a:solidFill>
              <a:latin typeface="Noto Sans S Chinese Regular" panose="020B0500000000000000" pitchFamily="34" charset="-122"/>
              <a:ea typeface="Noto Sans S Chinese Regular" panose="020B0500000000000000" pitchFamily="34" charset="-122"/>
              <a:cs typeface="文泉驿等宽微米黑" panose="020B0606030804020204" pitchFamily="34" charset="-122"/>
            </a:endParaRPr>
          </a:p>
        </p:txBody>
      </p:sp>
      <p:pic>
        <p:nvPicPr>
          <p:cNvPr id="2" name="图片 1"/>
          <p:cNvPicPr>
            <a:picLocks noChangeAspect="1"/>
          </p:cNvPicPr>
          <p:nvPr/>
        </p:nvPicPr>
        <p:blipFill>
          <a:blip r:embed="rId2"/>
          <a:stretch>
            <a:fillRect/>
          </a:stretch>
        </p:blipFill>
        <p:spPr>
          <a:xfrm>
            <a:off x="570230" y="4112260"/>
            <a:ext cx="7005955" cy="2011045"/>
          </a:xfrm>
          <a:prstGeom prst="rect">
            <a:avLst/>
          </a:prstGeom>
        </p:spPr>
      </p:pic>
      <p:pic>
        <p:nvPicPr>
          <p:cNvPr id="4" name="图片 3"/>
          <p:cNvPicPr>
            <a:picLocks noChangeAspect="1"/>
          </p:cNvPicPr>
          <p:nvPr/>
        </p:nvPicPr>
        <p:blipFill>
          <a:blip r:embed="rId3"/>
          <a:stretch>
            <a:fillRect/>
          </a:stretch>
        </p:blipFill>
        <p:spPr>
          <a:xfrm>
            <a:off x="710565" y="1066165"/>
            <a:ext cx="6725285" cy="2694940"/>
          </a:xfrm>
          <a:prstGeom prst="rect">
            <a:avLst/>
          </a:prstGeom>
        </p:spPr>
      </p:pic>
      <p:sp>
        <p:nvSpPr>
          <p:cNvPr id="10" name="右箭头 9"/>
          <p:cNvSpPr/>
          <p:nvPr/>
        </p:nvSpPr>
        <p:spPr>
          <a:xfrm rot="5400000">
            <a:off x="3250565" y="3473450"/>
            <a:ext cx="443230" cy="36131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p:push dir="u"/>
      </p:transition>
    </mc:Choice>
    <mc:Fallback>
      <p:transition>
        <p:push dir="u"/>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图片 16"/>
          <p:cNvPicPr>
            <a:picLocks noChangeAspect="1"/>
          </p:cNvPicPr>
          <p:nvPr/>
        </p:nvPicPr>
        <p:blipFill>
          <a:blip r:embed="rId1"/>
          <a:srcRect l="600" t="1475" r="483" b="887"/>
          <a:stretch>
            <a:fillRect/>
          </a:stretch>
        </p:blipFill>
        <p:spPr>
          <a:xfrm>
            <a:off x="0" y="0"/>
            <a:ext cx="12192000" cy="6858000"/>
          </a:xfrm>
          <a:custGeom>
            <a:avLst/>
            <a:gdLst>
              <a:gd name="connsiteX0" fmla="*/ 0 w 12060000"/>
              <a:gd name="connsiteY0" fmla="*/ 0 h 6696000"/>
              <a:gd name="connsiteX1" fmla="*/ 12060000 w 12060000"/>
              <a:gd name="connsiteY1" fmla="*/ 0 h 6696000"/>
              <a:gd name="connsiteX2" fmla="*/ 12060000 w 12060000"/>
              <a:gd name="connsiteY2" fmla="*/ 6696000 h 6696000"/>
              <a:gd name="connsiteX3" fmla="*/ 0 w 12060000"/>
              <a:gd name="connsiteY3" fmla="*/ 6696000 h 6696000"/>
            </a:gdLst>
            <a:ahLst/>
            <a:cxnLst>
              <a:cxn ang="0">
                <a:pos x="connsiteX0" y="connsiteY0"/>
              </a:cxn>
              <a:cxn ang="0">
                <a:pos x="connsiteX1" y="connsiteY1"/>
              </a:cxn>
              <a:cxn ang="0">
                <a:pos x="connsiteX2" y="connsiteY2"/>
              </a:cxn>
              <a:cxn ang="0">
                <a:pos x="connsiteX3" y="connsiteY3"/>
              </a:cxn>
            </a:cxnLst>
            <a:rect l="l" t="t" r="r" b="b"/>
            <a:pathLst>
              <a:path w="12060000" h="6696000">
                <a:moveTo>
                  <a:pt x="0" y="0"/>
                </a:moveTo>
                <a:lnTo>
                  <a:pt x="12060000" y="0"/>
                </a:lnTo>
                <a:lnTo>
                  <a:pt x="12060000" y="6696000"/>
                </a:lnTo>
                <a:lnTo>
                  <a:pt x="0" y="6696000"/>
                </a:lnTo>
                <a:close/>
              </a:path>
            </a:pathLst>
          </a:custGeom>
          <a:ln>
            <a:solidFill>
              <a:srgbClr val="1E1E20"/>
            </a:solidFill>
          </a:ln>
        </p:spPr>
      </p:pic>
      <p:sp>
        <p:nvSpPr>
          <p:cNvPr id="3" name="文本框 2"/>
          <p:cNvSpPr txBox="1"/>
          <p:nvPr/>
        </p:nvSpPr>
        <p:spPr>
          <a:xfrm>
            <a:off x="4615543" y="606026"/>
            <a:ext cx="2960914" cy="460375"/>
          </a:xfrm>
          <a:prstGeom prst="rect">
            <a:avLst/>
          </a:prstGeom>
          <a:noFill/>
        </p:spPr>
        <p:txBody>
          <a:bodyPr wrap="square" rtlCol="0">
            <a:spAutoFit/>
          </a:bodyPr>
          <a:lstStyle>
            <a:defPPr>
              <a:defRPr lang="zh-CN"/>
            </a:defPPr>
            <a:lvl1pPr algn="ctr">
              <a:defRPr sz="5400">
                <a:latin typeface="汉仪大宋简" panose="02010600000101010101" pitchFamily="49" charset="-122"/>
                <a:ea typeface="汉仪大宋简" panose="02010600000101010101" pitchFamily="49" charset="-122"/>
              </a:defRPr>
            </a:lvl1pPr>
          </a:lstStyle>
          <a:p>
            <a:r>
              <a:rPr lang="zh-CN" altLang="en-US" sz="2400" dirty="0">
                <a:sym typeface="+mn-ea"/>
              </a:rPr>
              <a:t>内存预分配</a:t>
            </a:r>
            <a:endParaRPr lang="zh-CN" altLang="en-US" sz="2400" dirty="0">
              <a:sym typeface="+mn-ea"/>
            </a:endParaRPr>
          </a:p>
        </p:txBody>
      </p:sp>
      <p:sp>
        <p:nvSpPr>
          <p:cNvPr id="12" name="文本框 11"/>
          <p:cNvSpPr txBox="1"/>
          <p:nvPr/>
        </p:nvSpPr>
        <p:spPr>
          <a:xfrm>
            <a:off x="8350250" y="2670175"/>
            <a:ext cx="2595245" cy="1753235"/>
          </a:xfrm>
          <a:prstGeom prst="rect">
            <a:avLst/>
          </a:prstGeom>
          <a:noFill/>
        </p:spPr>
        <p:txBody>
          <a:bodyPr wrap="square" rtlCol="0">
            <a:spAutoFit/>
          </a:bodyPr>
          <a:lstStyle>
            <a:defPPr>
              <a:defRPr lang="zh-CN"/>
            </a:defPPr>
            <a:lvl1pPr algn="dist">
              <a:defRPr>
                <a:latin typeface="华文仿宋" panose="02010600040101010101" pitchFamily="2" charset="-122"/>
                <a:ea typeface="华文仿宋" panose="02010600040101010101" pitchFamily="2" charset="-122"/>
              </a:defRPr>
            </a:lvl1pPr>
          </a:lstStyle>
          <a:p>
            <a:pPr marL="0" lvl="0" indent="0" algn="ctr">
              <a:lnSpc>
                <a:spcPct val="150000"/>
              </a:lnSpc>
              <a:buNone/>
            </a:pPr>
            <a:r>
              <a:rPr lang="zh-CN" altLang="en-US" sz="1200" dirty="0">
                <a:solidFill>
                  <a:schemeClr val="tx1"/>
                </a:solidFill>
                <a:latin typeface="Noto Sans S Chinese Regular" panose="020B0500000000000000" pitchFamily="34" charset="-122"/>
                <a:ea typeface="Noto Sans S Chinese Regular" panose="020B0500000000000000" pitchFamily="34" charset="-122"/>
                <a:cs typeface="文泉驿等宽微米黑" panose="020B0606030804020204" pitchFamily="34" charset="-122"/>
              </a:rPr>
              <a:t>由于</a:t>
            </a:r>
            <a:r>
              <a:rPr lang="en-US" altLang="zh-CN" sz="1200" dirty="0">
                <a:solidFill>
                  <a:schemeClr val="tx1"/>
                </a:solidFill>
                <a:latin typeface="Noto Sans S Chinese Regular" panose="020B0500000000000000" pitchFamily="34" charset="-122"/>
                <a:ea typeface="Noto Sans S Chinese Regular" panose="020B0500000000000000" pitchFamily="34" charset="-122"/>
                <a:cs typeface="文泉驿等宽微米黑" panose="020B0606030804020204" pitchFamily="34" charset="-122"/>
              </a:rPr>
              <a:t>matlab</a:t>
            </a:r>
            <a:r>
              <a:rPr lang="zh-CN" altLang="en-US" sz="1200" dirty="0">
                <a:solidFill>
                  <a:schemeClr val="tx1"/>
                </a:solidFill>
                <a:latin typeface="Noto Sans S Chinese Regular" panose="020B0500000000000000" pitchFamily="34" charset="-122"/>
                <a:ea typeface="Noto Sans S Chinese Regular" panose="020B0500000000000000" pitchFamily="34" charset="-122"/>
                <a:cs typeface="文泉驿等宽微米黑" panose="020B0606030804020204" pitchFamily="34" charset="-122"/>
              </a:rPr>
              <a:t>不能定义没有数值的数组，所以原本的是直接在数组后添加路径，但大量的分配内存会浪费大量的时间，下面定义长度为</a:t>
            </a:r>
            <a:r>
              <a:rPr lang="en-US" altLang="zh-CN" sz="1200" dirty="0">
                <a:solidFill>
                  <a:schemeClr val="tx1"/>
                </a:solidFill>
                <a:latin typeface="Noto Sans S Chinese Regular" panose="020B0500000000000000" pitchFamily="34" charset="-122"/>
                <a:ea typeface="Noto Sans S Chinese Regular" panose="020B0500000000000000" pitchFamily="34" charset="-122"/>
                <a:cs typeface="文泉驿等宽微米黑" panose="020B0606030804020204" pitchFamily="34" charset="-122"/>
              </a:rPr>
              <a:t>50</a:t>
            </a:r>
            <a:r>
              <a:rPr lang="zh-CN" altLang="en-US" sz="1200" dirty="0">
                <a:solidFill>
                  <a:schemeClr val="tx1"/>
                </a:solidFill>
                <a:latin typeface="Noto Sans S Chinese Regular" panose="020B0500000000000000" pitchFamily="34" charset="-122"/>
                <a:ea typeface="Noto Sans S Chinese Regular" panose="020B0500000000000000" pitchFamily="34" charset="-122"/>
                <a:cs typeface="文泉驿等宽微米黑" panose="020B0606030804020204" pitchFamily="34" charset="-122"/>
              </a:rPr>
              <a:t>的数组，每一次的寻路，存储下标会重新从</a:t>
            </a:r>
            <a:r>
              <a:rPr lang="en-US" altLang="zh-CN" sz="1200" dirty="0">
                <a:solidFill>
                  <a:schemeClr val="tx1"/>
                </a:solidFill>
                <a:latin typeface="Noto Sans S Chinese Regular" panose="020B0500000000000000" pitchFamily="34" charset="-122"/>
                <a:ea typeface="Noto Sans S Chinese Regular" panose="020B0500000000000000" pitchFamily="34" charset="-122"/>
                <a:cs typeface="文泉驿等宽微米黑" panose="020B0606030804020204" pitchFamily="34" charset="-122"/>
              </a:rPr>
              <a:t>1</a:t>
            </a:r>
            <a:r>
              <a:rPr lang="zh-CN" altLang="en-US" sz="1200" dirty="0">
                <a:solidFill>
                  <a:schemeClr val="tx1"/>
                </a:solidFill>
                <a:latin typeface="Noto Sans S Chinese Regular" panose="020B0500000000000000" pitchFamily="34" charset="-122"/>
                <a:ea typeface="Noto Sans S Chinese Regular" panose="020B0500000000000000" pitchFamily="34" charset="-122"/>
                <a:cs typeface="文泉驿等宽微米黑" panose="020B0606030804020204" pitchFamily="34" charset="-122"/>
              </a:rPr>
              <a:t>开始</a:t>
            </a:r>
            <a:endParaRPr lang="zh-CN" altLang="en-US" sz="1200" dirty="0">
              <a:solidFill>
                <a:schemeClr val="tx1"/>
              </a:solidFill>
              <a:latin typeface="Noto Sans S Chinese Regular" panose="020B0500000000000000" pitchFamily="34" charset="-122"/>
              <a:ea typeface="Noto Sans S Chinese Regular" panose="020B0500000000000000" pitchFamily="34" charset="-122"/>
              <a:cs typeface="文泉驿等宽微米黑" panose="020B0606030804020204" pitchFamily="34" charset="-122"/>
            </a:endParaRPr>
          </a:p>
        </p:txBody>
      </p:sp>
      <p:pic>
        <p:nvPicPr>
          <p:cNvPr id="2" name="图片 1"/>
          <p:cNvPicPr>
            <a:picLocks noChangeAspect="1"/>
          </p:cNvPicPr>
          <p:nvPr/>
        </p:nvPicPr>
        <p:blipFill>
          <a:blip r:embed="rId2"/>
          <a:stretch>
            <a:fillRect/>
          </a:stretch>
        </p:blipFill>
        <p:spPr>
          <a:xfrm>
            <a:off x="668655" y="1275080"/>
            <a:ext cx="7005955" cy="2011045"/>
          </a:xfrm>
          <a:prstGeom prst="rect">
            <a:avLst/>
          </a:prstGeom>
        </p:spPr>
      </p:pic>
      <p:sp>
        <p:nvSpPr>
          <p:cNvPr id="10" name="右箭头 9"/>
          <p:cNvSpPr/>
          <p:nvPr/>
        </p:nvSpPr>
        <p:spPr>
          <a:xfrm rot="5400000">
            <a:off x="3348990" y="3248025"/>
            <a:ext cx="443230" cy="36131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5" name="图片 4"/>
          <p:cNvPicPr>
            <a:picLocks noChangeAspect="1"/>
          </p:cNvPicPr>
          <p:nvPr/>
        </p:nvPicPr>
        <p:blipFill>
          <a:blip r:embed="rId3"/>
          <a:stretch>
            <a:fillRect/>
          </a:stretch>
        </p:blipFill>
        <p:spPr>
          <a:xfrm>
            <a:off x="482600" y="3846830"/>
            <a:ext cx="7867650" cy="184785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500">
        <p:push dir="u"/>
      </p:transition>
    </mc:Choice>
    <mc:Fallback>
      <p:transition>
        <p:push dir="u"/>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图片 16"/>
          <p:cNvPicPr>
            <a:picLocks noChangeAspect="1"/>
          </p:cNvPicPr>
          <p:nvPr/>
        </p:nvPicPr>
        <p:blipFill>
          <a:blip r:embed="rId1"/>
          <a:srcRect l="600" t="1475" r="483" b="887"/>
          <a:stretch>
            <a:fillRect/>
          </a:stretch>
        </p:blipFill>
        <p:spPr>
          <a:xfrm>
            <a:off x="0" y="0"/>
            <a:ext cx="12192000" cy="6858000"/>
          </a:xfrm>
          <a:custGeom>
            <a:avLst/>
            <a:gdLst>
              <a:gd name="connsiteX0" fmla="*/ 0 w 12060000"/>
              <a:gd name="connsiteY0" fmla="*/ 0 h 6696000"/>
              <a:gd name="connsiteX1" fmla="*/ 12060000 w 12060000"/>
              <a:gd name="connsiteY1" fmla="*/ 0 h 6696000"/>
              <a:gd name="connsiteX2" fmla="*/ 12060000 w 12060000"/>
              <a:gd name="connsiteY2" fmla="*/ 6696000 h 6696000"/>
              <a:gd name="connsiteX3" fmla="*/ 0 w 12060000"/>
              <a:gd name="connsiteY3" fmla="*/ 6696000 h 6696000"/>
            </a:gdLst>
            <a:ahLst/>
            <a:cxnLst>
              <a:cxn ang="0">
                <a:pos x="connsiteX0" y="connsiteY0"/>
              </a:cxn>
              <a:cxn ang="0">
                <a:pos x="connsiteX1" y="connsiteY1"/>
              </a:cxn>
              <a:cxn ang="0">
                <a:pos x="connsiteX2" y="connsiteY2"/>
              </a:cxn>
              <a:cxn ang="0">
                <a:pos x="connsiteX3" y="connsiteY3"/>
              </a:cxn>
            </a:cxnLst>
            <a:rect l="l" t="t" r="r" b="b"/>
            <a:pathLst>
              <a:path w="12060000" h="6696000">
                <a:moveTo>
                  <a:pt x="0" y="0"/>
                </a:moveTo>
                <a:lnTo>
                  <a:pt x="12060000" y="0"/>
                </a:lnTo>
                <a:lnTo>
                  <a:pt x="12060000" y="6696000"/>
                </a:lnTo>
                <a:lnTo>
                  <a:pt x="0" y="6696000"/>
                </a:lnTo>
                <a:close/>
              </a:path>
            </a:pathLst>
          </a:custGeom>
          <a:ln>
            <a:solidFill>
              <a:srgbClr val="1E1E20"/>
            </a:solidFill>
          </a:ln>
        </p:spPr>
      </p:pic>
      <p:sp>
        <p:nvSpPr>
          <p:cNvPr id="3" name="文本框 2"/>
          <p:cNvSpPr txBox="1"/>
          <p:nvPr/>
        </p:nvSpPr>
        <p:spPr>
          <a:xfrm>
            <a:off x="4615543" y="606026"/>
            <a:ext cx="2960914" cy="460375"/>
          </a:xfrm>
          <a:prstGeom prst="rect">
            <a:avLst/>
          </a:prstGeom>
          <a:noFill/>
        </p:spPr>
        <p:txBody>
          <a:bodyPr wrap="square" rtlCol="0">
            <a:spAutoFit/>
          </a:bodyPr>
          <a:lstStyle>
            <a:defPPr>
              <a:defRPr lang="zh-CN"/>
            </a:defPPr>
            <a:lvl1pPr algn="ctr">
              <a:defRPr sz="5400">
                <a:latin typeface="汉仪大宋简" panose="02010600000101010101" pitchFamily="49" charset="-122"/>
                <a:ea typeface="汉仪大宋简" panose="02010600000101010101" pitchFamily="49" charset="-122"/>
              </a:defRPr>
            </a:lvl1pPr>
          </a:lstStyle>
          <a:p>
            <a:r>
              <a:rPr lang="zh-CN" altLang="en-US" sz="2400" dirty="0">
                <a:sym typeface="+mn-ea"/>
              </a:rPr>
              <a:t>搜索范围</a:t>
            </a:r>
            <a:r>
              <a:rPr lang="zh-CN" altLang="en-US" sz="2400" dirty="0">
                <a:sym typeface="+mn-ea"/>
              </a:rPr>
              <a:t>优化</a:t>
            </a:r>
            <a:endParaRPr lang="zh-CN" altLang="en-US" sz="2400" dirty="0">
              <a:sym typeface="+mn-ea"/>
            </a:endParaRPr>
          </a:p>
        </p:txBody>
      </p:sp>
      <p:sp>
        <p:nvSpPr>
          <p:cNvPr id="12" name="文本框 11"/>
          <p:cNvSpPr txBox="1"/>
          <p:nvPr/>
        </p:nvSpPr>
        <p:spPr>
          <a:xfrm>
            <a:off x="8350250" y="2670175"/>
            <a:ext cx="2595245" cy="922020"/>
          </a:xfrm>
          <a:prstGeom prst="rect">
            <a:avLst/>
          </a:prstGeom>
          <a:noFill/>
        </p:spPr>
        <p:txBody>
          <a:bodyPr wrap="square" rtlCol="0">
            <a:spAutoFit/>
          </a:bodyPr>
          <a:lstStyle>
            <a:defPPr>
              <a:defRPr lang="zh-CN"/>
            </a:defPPr>
            <a:lvl1pPr algn="dist">
              <a:defRPr>
                <a:latin typeface="华文仿宋" panose="02010600040101010101" pitchFamily="2" charset="-122"/>
                <a:ea typeface="华文仿宋" panose="02010600040101010101" pitchFamily="2" charset="-122"/>
              </a:defRPr>
            </a:lvl1pPr>
          </a:lstStyle>
          <a:p>
            <a:pPr marL="0" lvl="0" indent="0" algn="ctr">
              <a:lnSpc>
                <a:spcPct val="150000"/>
              </a:lnSpc>
              <a:buNone/>
            </a:pPr>
            <a:r>
              <a:rPr lang="zh-CN" altLang="en-US" sz="1200" dirty="0">
                <a:solidFill>
                  <a:schemeClr val="tx1"/>
                </a:solidFill>
                <a:latin typeface="Noto Sans S Chinese Regular" panose="020B0500000000000000" pitchFamily="34" charset="-122"/>
                <a:ea typeface="Noto Sans S Chinese Regular" panose="020B0500000000000000" pitchFamily="34" charset="-122"/>
                <a:cs typeface="文泉驿等宽微米黑" panose="020B0606030804020204" pitchFamily="34" charset="-122"/>
              </a:rPr>
              <a:t>前置地图预载函数里新添加两个小范围的可行路径数和可行路径矩阵，范围为原地图最长路径的</a:t>
            </a:r>
            <a:r>
              <a:rPr lang="zh-CN" altLang="en-US" sz="1200" dirty="0">
                <a:solidFill>
                  <a:schemeClr val="tx1"/>
                </a:solidFill>
                <a:latin typeface="Noto Sans S Chinese Regular" panose="020B0500000000000000" pitchFamily="34" charset="-122"/>
                <a:ea typeface="Noto Sans S Chinese Regular" panose="020B0500000000000000" pitchFamily="34" charset="-122"/>
                <a:cs typeface="文泉驿等宽微米黑" panose="020B0606030804020204" pitchFamily="34" charset="-122"/>
              </a:rPr>
              <a:t>一半。</a:t>
            </a:r>
            <a:endParaRPr lang="zh-CN" altLang="en-US" sz="1200" dirty="0">
              <a:solidFill>
                <a:schemeClr val="tx1"/>
              </a:solidFill>
              <a:latin typeface="Noto Sans S Chinese Regular" panose="020B0500000000000000" pitchFamily="34" charset="-122"/>
              <a:ea typeface="Noto Sans S Chinese Regular" panose="020B0500000000000000" pitchFamily="34" charset="-122"/>
              <a:cs typeface="文泉驿等宽微米黑" panose="020B0606030804020204" pitchFamily="34" charset="-122"/>
            </a:endParaRPr>
          </a:p>
        </p:txBody>
      </p:sp>
      <p:pic>
        <p:nvPicPr>
          <p:cNvPr id="4" name="图片 3"/>
          <p:cNvPicPr>
            <a:picLocks noChangeAspect="1"/>
          </p:cNvPicPr>
          <p:nvPr/>
        </p:nvPicPr>
        <p:blipFill>
          <a:blip r:embed="rId2"/>
          <a:stretch>
            <a:fillRect/>
          </a:stretch>
        </p:blipFill>
        <p:spPr>
          <a:xfrm>
            <a:off x="700405" y="1066165"/>
            <a:ext cx="6629400" cy="512445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500">
        <p:push dir="u"/>
      </p:transition>
    </mc:Choice>
    <mc:Fallback>
      <p:transition>
        <p:push dir="u"/>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图片 16"/>
          <p:cNvPicPr>
            <a:picLocks noChangeAspect="1"/>
          </p:cNvPicPr>
          <p:nvPr/>
        </p:nvPicPr>
        <p:blipFill>
          <a:blip r:embed="rId1"/>
          <a:srcRect l="600" t="1475" r="483" b="887"/>
          <a:stretch>
            <a:fillRect/>
          </a:stretch>
        </p:blipFill>
        <p:spPr>
          <a:xfrm>
            <a:off x="0" y="0"/>
            <a:ext cx="12192000" cy="6858000"/>
          </a:xfrm>
          <a:custGeom>
            <a:avLst/>
            <a:gdLst>
              <a:gd name="connsiteX0" fmla="*/ 0 w 12060000"/>
              <a:gd name="connsiteY0" fmla="*/ 0 h 6696000"/>
              <a:gd name="connsiteX1" fmla="*/ 12060000 w 12060000"/>
              <a:gd name="connsiteY1" fmla="*/ 0 h 6696000"/>
              <a:gd name="connsiteX2" fmla="*/ 12060000 w 12060000"/>
              <a:gd name="connsiteY2" fmla="*/ 6696000 h 6696000"/>
              <a:gd name="connsiteX3" fmla="*/ 0 w 12060000"/>
              <a:gd name="connsiteY3" fmla="*/ 6696000 h 6696000"/>
            </a:gdLst>
            <a:ahLst/>
            <a:cxnLst>
              <a:cxn ang="0">
                <a:pos x="connsiteX0" y="connsiteY0"/>
              </a:cxn>
              <a:cxn ang="0">
                <a:pos x="connsiteX1" y="connsiteY1"/>
              </a:cxn>
              <a:cxn ang="0">
                <a:pos x="connsiteX2" y="connsiteY2"/>
              </a:cxn>
              <a:cxn ang="0">
                <a:pos x="connsiteX3" y="connsiteY3"/>
              </a:cxn>
            </a:cxnLst>
            <a:rect l="l" t="t" r="r" b="b"/>
            <a:pathLst>
              <a:path w="12060000" h="6696000">
                <a:moveTo>
                  <a:pt x="0" y="0"/>
                </a:moveTo>
                <a:lnTo>
                  <a:pt x="12060000" y="0"/>
                </a:lnTo>
                <a:lnTo>
                  <a:pt x="12060000" y="6696000"/>
                </a:lnTo>
                <a:lnTo>
                  <a:pt x="0" y="6696000"/>
                </a:lnTo>
                <a:close/>
              </a:path>
            </a:pathLst>
          </a:custGeom>
          <a:ln>
            <a:solidFill>
              <a:srgbClr val="1E1E20"/>
            </a:solidFill>
          </a:ln>
        </p:spPr>
      </p:pic>
      <p:sp>
        <p:nvSpPr>
          <p:cNvPr id="3" name="文本框 2"/>
          <p:cNvSpPr txBox="1"/>
          <p:nvPr/>
        </p:nvSpPr>
        <p:spPr>
          <a:xfrm>
            <a:off x="4615543" y="606026"/>
            <a:ext cx="2960914" cy="460375"/>
          </a:xfrm>
          <a:prstGeom prst="rect">
            <a:avLst/>
          </a:prstGeom>
          <a:noFill/>
        </p:spPr>
        <p:txBody>
          <a:bodyPr wrap="square" rtlCol="0">
            <a:spAutoFit/>
          </a:bodyPr>
          <a:lstStyle>
            <a:defPPr>
              <a:defRPr lang="zh-CN"/>
            </a:defPPr>
            <a:lvl1pPr algn="ctr">
              <a:defRPr sz="5400">
                <a:latin typeface="汉仪大宋简" panose="02010600000101010101" pitchFamily="49" charset="-122"/>
                <a:ea typeface="汉仪大宋简" panose="02010600000101010101" pitchFamily="49" charset="-122"/>
              </a:defRPr>
            </a:lvl1pPr>
          </a:lstStyle>
          <a:p>
            <a:r>
              <a:rPr lang="zh-CN" altLang="en-US" sz="2400" dirty="0">
                <a:sym typeface="+mn-ea"/>
              </a:rPr>
              <a:t>搜索范围</a:t>
            </a:r>
            <a:r>
              <a:rPr lang="zh-CN" altLang="en-US" sz="2400" dirty="0">
                <a:sym typeface="+mn-ea"/>
              </a:rPr>
              <a:t>优化</a:t>
            </a:r>
            <a:endParaRPr lang="zh-CN" altLang="en-US" sz="2400" dirty="0">
              <a:sym typeface="+mn-ea"/>
            </a:endParaRPr>
          </a:p>
        </p:txBody>
      </p:sp>
      <p:sp>
        <p:nvSpPr>
          <p:cNvPr id="12" name="文本框 11"/>
          <p:cNvSpPr txBox="1"/>
          <p:nvPr/>
        </p:nvSpPr>
        <p:spPr>
          <a:xfrm>
            <a:off x="8350250" y="2670175"/>
            <a:ext cx="2595245" cy="922020"/>
          </a:xfrm>
          <a:prstGeom prst="rect">
            <a:avLst/>
          </a:prstGeom>
          <a:noFill/>
        </p:spPr>
        <p:txBody>
          <a:bodyPr wrap="square" rtlCol="0">
            <a:spAutoFit/>
          </a:bodyPr>
          <a:lstStyle>
            <a:defPPr>
              <a:defRPr lang="zh-CN"/>
            </a:defPPr>
            <a:lvl1pPr algn="dist">
              <a:defRPr>
                <a:latin typeface="华文仿宋" panose="02010600040101010101" pitchFamily="2" charset="-122"/>
                <a:ea typeface="华文仿宋" panose="02010600040101010101" pitchFamily="2" charset="-122"/>
              </a:defRPr>
            </a:lvl1pPr>
          </a:lstStyle>
          <a:p>
            <a:pPr marL="0" lvl="0" indent="0" algn="ctr">
              <a:lnSpc>
                <a:spcPct val="150000"/>
              </a:lnSpc>
              <a:buNone/>
            </a:pPr>
            <a:r>
              <a:rPr lang="zh-CN" altLang="en-US" sz="1200" dirty="0">
                <a:solidFill>
                  <a:schemeClr val="tx1"/>
                </a:solidFill>
                <a:latin typeface="Noto Sans S Chinese Regular" panose="020B0500000000000000" pitchFamily="34" charset="-122"/>
                <a:ea typeface="Noto Sans S Chinese Regular" panose="020B0500000000000000" pitchFamily="34" charset="-122"/>
                <a:cs typeface="文泉驿等宽微米黑" panose="020B0606030804020204" pitchFamily="34" charset="-122"/>
              </a:rPr>
              <a:t>先从小范围进行路径规划，如果没有达到应有的条件，便重新从完整地图中重新进行</a:t>
            </a:r>
            <a:r>
              <a:rPr lang="zh-CN" altLang="en-US" sz="1200" dirty="0">
                <a:solidFill>
                  <a:schemeClr val="tx1"/>
                </a:solidFill>
                <a:latin typeface="Noto Sans S Chinese Regular" panose="020B0500000000000000" pitchFamily="34" charset="-122"/>
                <a:ea typeface="Noto Sans S Chinese Regular" panose="020B0500000000000000" pitchFamily="34" charset="-122"/>
                <a:cs typeface="文泉驿等宽微米黑" panose="020B0606030804020204" pitchFamily="34" charset="-122"/>
              </a:rPr>
              <a:t>路径规划</a:t>
            </a:r>
            <a:endParaRPr lang="zh-CN" altLang="en-US" sz="1200" dirty="0">
              <a:solidFill>
                <a:schemeClr val="tx1"/>
              </a:solidFill>
              <a:latin typeface="Noto Sans S Chinese Regular" panose="020B0500000000000000" pitchFamily="34" charset="-122"/>
              <a:ea typeface="Noto Sans S Chinese Regular" panose="020B0500000000000000" pitchFamily="34" charset="-122"/>
              <a:cs typeface="文泉驿等宽微米黑" panose="020B0606030804020204" pitchFamily="34" charset="-122"/>
            </a:endParaRPr>
          </a:p>
        </p:txBody>
      </p:sp>
      <p:pic>
        <p:nvPicPr>
          <p:cNvPr id="2" name="图片 1"/>
          <p:cNvPicPr>
            <a:picLocks noChangeAspect="1"/>
          </p:cNvPicPr>
          <p:nvPr/>
        </p:nvPicPr>
        <p:blipFill>
          <a:blip r:embed="rId2"/>
          <a:stretch>
            <a:fillRect/>
          </a:stretch>
        </p:blipFill>
        <p:spPr>
          <a:xfrm>
            <a:off x="680085" y="1186180"/>
            <a:ext cx="6896100" cy="481965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500">
        <p:push dir="u"/>
      </p:transition>
    </mc:Choice>
    <mc:Fallback>
      <p:transition>
        <p:push dir="u"/>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0" y="0"/>
            <a:ext cx="12192000" cy="6858000"/>
            <a:chOff x="0" y="0"/>
            <a:chExt cx="12192000" cy="6858000"/>
          </a:xfrm>
        </p:grpSpPr>
        <p:pic>
          <p:nvPicPr>
            <p:cNvPr id="9" name="图片 8" descr="图片包含 形状&#10;&#10;描述已自动生成"/>
            <p:cNvPicPr>
              <a:picLocks noChangeAspect="1"/>
            </p:cNvPicPr>
            <p:nvPr/>
          </p:nvPicPr>
          <p:blipFill>
            <a:blip r:embed="rId1">
              <a:extLst>
                <a:ext uri="{28A0092B-C50C-407E-A947-70E740481C1C}">
                  <a14:useLocalDpi xmlns:a14="http://schemas.microsoft.com/office/drawing/2010/main" val="0"/>
                </a:ext>
              </a:extLst>
            </a:blip>
            <a:srcRect l="1641" t="2291" b="2559"/>
            <a:stretch>
              <a:fillRect/>
            </a:stretch>
          </p:blipFill>
          <p:spPr>
            <a:xfrm>
              <a:off x="0" y="0"/>
              <a:ext cx="9893301" cy="6858000"/>
            </a:xfrm>
            <a:custGeom>
              <a:avLst/>
              <a:gdLst>
                <a:gd name="connsiteX0" fmla="*/ 0 w 9893301"/>
                <a:gd name="connsiteY0" fmla="*/ 0 h 6858000"/>
                <a:gd name="connsiteX1" fmla="*/ 9893301 w 9893301"/>
                <a:gd name="connsiteY1" fmla="*/ 0 h 6858000"/>
                <a:gd name="connsiteX2" fmla="*/ 9893301 w 9893301"/>
                <a:gd name="connsiteY2" fmla="*/ 6858000 h 6858000"/>
                <a:gd name="connsiteX3" fmla="*/ 0 w 989330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9893301" h="6858000">
                  <a:moveTo>
                    <a:pt x="0" y="0"/>
                  </a:moveTo>
                  <a:lnTo>
                    <a:pt x="9893301" y="0"/>
                  </a:lnTo>
                  <a:lnTo>
                    <a:pt x="9893301" y="6858000"/>
                  </a:lnTo>
                  <a:lnTo>
                    <a:pt x="0" y="6858000"/>
                  </a:lnTo>
                  <a:close/>
                </a:path>
              </a:pathLst>
            </a:custGeom>
          </p:spPr>
        </p:pic>
        <p:pic>
          <p:nvPicPr>
            <p:cNvPr id="16" name="图片 15" descr="图片包含 形状&#10;&#10;描述已自动生成"/>
            <p:cNvPicPr>
              <a:picLocks noChangeAspect="1"/>
            </p:cNvPicPr>
            <p:nvPr/>
          </p:nvPicPr>
          <p:blipFill>
            <a:blip r:embed="rId1">
              <a:extLst>
                <a:ext uri="{28A0092B-C50C-407E-A947-70E740481C1C}">
                  <a14:useLocalDpi xmlns:a14="http://schemas.microsoft.com/office/drawing/2010/main" val="0"/>
                </a:ext>
              </a:extLst>
            </a:blip>
            <a:srcRect l="40278" t="2291" r="1768" b="2559"/>
            <a:stretch>
              <a:fillRect/>
            </a:stretch>
          </p:blipFill>
          <p:spPr>
            <a:xfrm>
              <a:off x="6362700" y="0"/>
              <a:ext cx="5829300" cy="6858000"/>
            </a:xfrm>
            <a:custGeom>
              <a:avLst/>
              <a:gdLst>
                <a:gd name="connsiteX0" fmla="*/ 0 w 5829300"/>
                <a:gd name="connsiteY0" fmla="*/ 0 h 6858000"/>
                <a:gd name="connsiteX1" fmla="*/ 5829300 w 5829300"/>
                <a:gd name="connsiteY1" fmla="*/ 0 h 6858000"/>
                <a:gd name="connsiteX2" fmla="*/ 5829300 w 5829300"/>
                <a:gd name="connsiteY2" fmla="*/ 6858000 h 6858000"/>
                <a:gd name="connsiteX3" fmla="*/ 0 w 58293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829300" h="6858000">
                  <a:moveTo>
                    <a:pt x="0" y="0"/>
                  </a:moveTo>
                  <a:lnTo>
                    <a:pt x="5829300" y="0"/>
                  </a:lnTo>
                  <a:lnTo>
                    <a:pt x="5829300" y="6858000"/>
                  </a:lnTo>
                  <a:lnTo>
                    <a:pt x="0" y="6858000"/>
                  </a:lnTo>
                  <a:close/>
                </a:path>
              </a:pathLst>
            </a:custGeom>
          </p:spPr>
        </p:pic>
      </p:grpSp>
      <p:sp>
        <p:nvSpPr>
          <p:cNvPr id="19" name="文本框 18"/>
          <p:cNvSpPr txBox="1"/>
          <p:nvPr/>
        </p:nvSpPr>
        <p:spPr>
          <a:xfrm>
            <a:off x="1946861" y="3297535"/>
            <a:ext cx="8280400" cy="923330"/>
          </a:xfrm>
          <a:prstGeom prst="rect">
            <a:avLst/>
          </a:prstGeom>
          <a:noFill/>
        </p:spPr>
        <p:txBody>
          <a:bodyPr wrap="square" rtlCol="0">
            <a:spAutoFit/>
          </a:bodyPr>
          <a:lstStyle/>
          <a:p>
            <a:pPr algn="ctr"/>
            <a:r>
              <a:rPr lang="zh-CN" altLang="en-US" sz="5400" dirty="0">
                <a:latin typeface="汉仪大宋简" panose="02010600000101010101" pitchFamily="49" charset="-122"/>
                <a:ea typeface="汉仪大宋简" panose="02010600000101010101" pitchFamily="49" charset="-122"/>
              </a:rPr>
              <a:t>研究结论与安排</a:t>
            </a:r>
            <a:endParaRPr lang="zh-CN" altLang="en-US" sz="5400" dirty="0">
              <a:latin typeface="汉仪大宋简" panose="02010600000101010101" pitchFamily="49" charset="-122"/>
              <a:ea typeface="汉仪大宋简" panose="02010600000101010101" pitchFamily="49" charset="-122"/>
            </a:endParaRPr>
          </a:p>
        </p:txBody>
      </p:sp>
      <p:sp>
        <p:nvSpPr>
          <p:cNvPr id="21" name="文本框 20"/>
          <p:cNvSpPr txBox="1"/>
          <p:nvPr/>
        </p:nvSpPr>
        <p:spPr>
          <a:xfrm>
            <a:off x="3048000" y="4351687"/>
            <a:ext cx="6096000" cy="369332"/>
          </a:xfrm>
          <a:prstGeom prst="rect">
            <a:avLst/>
          </a:prstGeom>
          <a:noFill/>
        </p:spPr>
        <p:txBody>
          <a:bodyPr wrap="square">
            <a:spAutoFit/>
          </a:bodyPr>
          <a:lstStyle>
            <a:defPPr>
              <a:defRPr lang="zh-CN"/>
            </a:defPPr>
            <a:lvl1pPr algn="dist">
              <a:defRPr>
                <a:latin typeface="Kozuka Gothic Pr6N R" panose="020B0400000000000000" pitchFamily="34" charset="-128"/>
                <a:ea typeface="Kozuka Gothic Pr6N R" panose="020B0400000000000000" pitchFamily="34" charset="-128"/>
              </a:defRPr>
            </a:lvl1pPr>
          </a:lstStyle>
          <a:p>
            <a:r>
              <a:rPr lang="en-US" altLang="zh-CN" dirty="0"/>
              <a:t>The conclusion and arrangement of the paper</a:t>
            </a:r>
            <a:endParaRPr lang="zh-CN" altLang="en-US" dirty="0"/>
          </a:p>
        </p:txBody>
      </p:sp>
      <p:sp>
        <p:nvSpPr>
          <p:cNvPr id="22" name="Freeform 5"/>
          <p:cNvSpPr/>
          <p:nvPr/>
        </p:nvSpPr>
        <p:spPr>
          <a:xfrm>
            <a:off x="5293174" y="1897206"/>
            <a:ext cx="1587774" cy="923330"/>
          </a:xfrm>
          <a:custGeom>
            <a:avLst/>
            <a:gdLst/>
            <a:ahLst/>
            <a:cxnLst>
              <a:cxn ang="0">
                <a:pos x="wd2" y="hd2"/>
              </a:cxn>
              <a:cxn ang="5400000">
                <a:pos x="wd2" y="hd2"/>
              </a:cxn>
              <a:cxn ang="10800000">
                <a:pos x="wd2" y="hd2"/>
              </a:cxn>
              <a:cxn ang="16200000">
                <a:pos x="wd2" y="hd2"/>
              </a:cxn>
            </a:cxnLst>
            <a:rect l="0" t="0" r="r" b="b"/>
            <a:pathLst>
              <a:path w="21600" h="21600" extrusionOk="0">
                <a:moveTo>
                  <a:pt x="20978" y="16267"/>
                </a:moveTo>
                <a:cubicBezTo>
                  <a:pt x="20978" y="15467"/>
                  <a:pt x="20823" y="14933"/>
                  <a:pt x="20357" y="14933"/>
                </a:cubicBezTo>
                <a:cubicBezTo>
                  <a:pt x="20357" y="7200"/>
                  <a:pt x="20357" y="7200"/>
                  <a:pt x="20357" y="7200"/>
                </a:cubicBezTo>
                <a:cubicBezTo>
                  <a:pt x="21600" y="6400"/>
                  <a:pt x="21600" y="6400"/>
                  <a:pt x="21600" y="6400"/>
                </a:cubicBezTo>
                <a:cubicBezTo>
                  <a:pt x="10878" y="0"/>
                  <a:pt x="10878" y="0"/>
                  <a:pt x="10878" y="0"/>
                </a:cubicBezTo>
                <a:cubicBezTo>
                  <a:pt x="0" y="6400"/>
                  <a:pt x="0" y="6400"/>
                  <a:pt x="0" y="6400"/>
                </a:cubicBezTo>
                <a:cubicBezTo>
                  <a:pt x="10878" y="12800"/>
                  <a:pt x="10878" y="12800"/>
                  <a:pt x="10878" y="12800"/>
                </a:cubicBezTo>
                <a:cubicBezTo>
                  <a:pt x="19735" y="7467"/>
                  <a:pt x="19735" y="7467"/>
                  <a:pt x="19735" y="7467"/>
                </a:cubicBezTo>
                <a:cubicBezTo>
                  <a:pt x="19735" y="14933"/>
                  <a:pt x="19735" y="14933"/>
                  <a:pt x="19735" y="14933"/>
                </a:cubicBezTo>
                <a:cubicBezTo>
                  <a:pt x="19424" y="14933"/>
                  <a:pt x="19114" y="15467"/>
                  <a:pt x="19114" y="16267"/>
                </a:cubicBezTo>
                <a:cubicBezTo>
                  <a:pt x="19114" y="16800"/>
                  <a:pt x="19424" y="17067"/>
                  <a:pt x="19580" y="17067"/>
                </a:cubicBezTo>
                <a:cubicBezTo>
                  <a:pt x="19114" y="21600"/>
                  <a:pt x="19114" y="21600"/>
                  <a:pt x="19114" y="21600"/>
                </a:cubicBezTo>
                <a:cubicBezTo>
                  <a:pt x="20978" y="21600"/>
                  <a:pt x="20978" y="21600"/>
                  <a:pt x="20978" y="21600"/>
                </a:cubicBezTo>
                <a:cubicBezTo>
                  <a:pt x="20512" y="17067"/>
                  <a:pt x="20512" y="17067"/>
                  <a:pt x="20512" y="17067"/>
                </a:cubicBezTo>
                <a:cubicBezTo>
                  <a:pt x="20823" y="17067"/>
                  <a:pt x="20978" y="16800"/>
                  <a:pt x="20978" y="16267"/>
                </a:cubicBezTo>
                <a:close/>
                <a:moveTo>
                  <a:pt x="4351" y="11200"/>
                </a:moveTo>
                <a:cubicBezTo>
                  <a:pt x="4351" y="18400"/>
                  <a:pt x="4351" y="18400"/>
                  <a:pt x="4351" y="18400"/>
                </a:cubicBezTo>
                <a:cubicBezTo>
                  <a:pt x="4351" y="20267"/>
                  <a:pt x="7304" y="21600"/>
                  <a:pt x="10878" y="21600"/>
                </a:cubicBezTo>
                <a:cubicBezTo>
                  <a:pt x="14296" y="21600"/>
                  <a:pt x="17249" y="20267"/>
                  <a:pt x="17249" y="18400"/>
                </a:cubicBezTo>
                <a:cubicBezTo>
                  <a:pt x="17249" y="11200"/>
                  <a:pt x="17249" y="11200"/>
                  <a:pt x="17249" y="11200"/>
                </a:cubicBezTo>
                <a:cubicBezTo>
                  <a:pt x="10878" y="14933"/>
                  <a:pt x="10878" y="14933"/>
                  <a:pt x="10878" y="14933"/>
                </a:cubicBezTo>
                <a:lnTo>
                  <a:pt x="4351" y="11200"/>
                </a:lnTo>
                <a:close/>
              </a:path>
            </a:pathLst>
          </a:custGeom>
          <a:solidFill>
            <a:srgbClr val="1E1E20"/>
          </a:solidFill>
          <a:ln w="12700" cap="flat">
            <a:noFill/>
            <a:miter lim="400000"/>
          </a:ln>
          <a:effectLst/>
        </p:spPr>
        <p:txBody>
          <a:bodyPr wrap="square" lIns="91439" tIns="91439" rIns="91439" bIns="91439" numCol="1" anchor="t">
            <a:noAutofit/>
          </a:bodyPr>
          <a:lstStyle/>
          <a:p/>
        </p:txBody>
      </p:sp>
    </p:spTree>
  </p:cSld>
  <p:clrMapOvr>
    <a:masterClrMapping/>
  </p:clrMapOvr>
  <mc:AlternateContent xmlns:mc="http://schemas.openxmlformats.org/markup-compatibility/2006">
    <mc:Choice xmlns:p14="http://schemas.microsoft.com/office/powerpoint/2010/main" Requires="p14">
      <p:transition p14:dur="500">
        <p:push dir="u"/>
      </p:transition>
    </mc:Choice>
    <mc:Fallback>
      <p:transition>
        <p:push dir="u"/>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 name="图片 39"/>
          <p:cNvPicPr>
            <a:picLocks noChangeAspect="1"/>
          </p:cNvPicPr>
          <p:nvPr/>
        </p:nvPicPr>
        <p:blipFill>
          <a:blip r:embed="rId1"/>
          <a:srcRect l="600" t="1475" r="483" b="887"/>
          <a:stretch>
            <a:fillRect/>
          </a:stretch>
        </p:blipFill>
        <p:spPr>
          <a:xfrm>
            <a:off x="0" y="0"/>
            <a:ext cx="12192000" cy="6858000"/>
          </a:xfrm>
          <a:custGeom>
            <a:avLst/>
            <a:gdLst>
              <a:gd name="connsiteX0" fmla="*/ 0 w 12060000"/>
              <a:gd name="connsiteY0" fmla="*/ 0 h 6696000"/>
              <a:gd name="connsiteX1" fmla="*/ 12060000 w 12060000"/>
              <a:gd name="connsiteY1" fmla="*/ 0 h 6696000"/>
              <a:gd name="connsiteX2" fmla="*/ 12060000 w 12060000"/>
              <a:gd name="connsiteY2" fmla="*/ 6696000 h 6696000"/>
              <a:gd name="connsiteX3" fmla="*/ 0 w 12060000"/>
              <a:gd name="connsiteY3" fmla="*/ 6696000 h 6696000"/>
            </a:gdLst>
            <a:ahLst/>
            <a:cxnLst>
              <a:cxn ang="0">
                <a:pos x="connsiteX0" y="connsiteY0"/>
              </a:cxn>
              <a:cxn ang="0">
                <a:pos x="connsiteX1" y="connsiteY1"/>
              </a:cxn>
              <a:cxn ang="0">
                <a:pos x="connsiteX2" y="connsiteY2"/>
              </a:cxn>
              <a:cxn ang="0">
                <a:pos x="connsiteX3" y="connsiteY3"/>
              </a:cxn>
            </a:cxnLst>
            <a:rect l="l" t="t" r="r" b="b"/>
            <a:pathLst>
              <a:path w="12060000" h="6696000">
                <a:moveTo>
                  <a:pt x="0" y="0"/>
                </a:moveTo>
                <a:lnTo>
                  <a:pt x="12060000" y="0"/>
                </a:lnTo>
                <a:lnTo>
                  <a:pt x="12060000" y="6696000"/>
                </a:lnTo>
                <a:lnTo>
                  <a:pt x="0" y="6696000"/>
                </a:lnTo>
                <a:close/>
              </a:path>
            </a:pathLst>
          </a:custGeom>
        </p:spPr>
      </p:pic>
      <p:sp>
        <p:nvSpPr>
          <p:cNvPr id="80" name="圆角矩形 3"/>
          <p:cNvSpPr/>
          <p:nvPr/>
        </p:nvSpPr>
        <p:spPr>
          <a:xfrm>
            <a:off x="1063625" y="1993900"/>
            <a:ext cx="3872865" cy="1422400"/>
          </a:xfrm>
          <a:prstGeom prst="roundRect">
            <a:avLst>
              <a:gd name="adj" fmla="val 7044"/>
            </a:avLst>
          </a:prstGeom>
          <a:noFill/>
          <a:ln w="19050">
            <a:solidFill>
              <a:srgbClr val="1E1E2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81" name="圆角矩形 15"/>
          <p:cNvSpPr/>
          <p:nvPr/>
        </p:nvSpPr>
        <p:spPr>
          <a:xfrm>
            <a:off x="1283057" y="1796459"/>
            <a:ext cx="1672075" cy="391129"/>
          </a:xfrm>
          <a:prstGeom prst="roundRect">
            <a:avLst>
              <a:gd name="adj" fmla="val 21083"/>
            </a:avLst>
          </a:prstGeom>
          <a:solidFill>
            <a:srgbClr val="FCFBF7"/>
          </a:solidFill>
          <a:ln w="19050">
            <a:solidFill>
              <a:srgbClr val="1E1E2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p>
        </p:txBody>
      </p:sp>
      <p:sp>
        <p:nvSpPr>
          <p:cNvPr id="51" name="Freeform 16"/>
          <p:cNvSpPr/>
          <p:nvPr/>
        </p:nvSpPr>
        <p:spPr>
          <a:xfrm>
            <a:off x="1483126" y="2537203"/>
            <a:ext cx="699482" cy="699482"/>
          </a:xfrm>
          <a:custGeom>
            <a:avLst/>
            <a:gdLst/>
            <a:ahLst/>
            <a:cxnLst>
              <a:cxn ang="0">
                <a:pos x="wd2" y="hd2"/>
              </a:cxn>
              <a:cxn ang="5400000">
                <a:pos x="wd2" y="hd2"/>
              </a:cxn>
              <a:cxn ang="10800000">
                <a:pos x="wd2" y="hd2"/>
              </a:cxn>
              <a:cxn ang="16200000">
                <a:pos x="wd2" y="hd2"/>
              </a:cxn>
            </a:cxnLst>
            <a:rect l="0" t="0" r="r" b="b"/>
            <a:pathLst>
              <a:path w="21600" h="21600" extrusionOk="0">
                <a:moveTo>
                  <a:pt x="5123" y="0"/>
                </a:moveTo>
                <a:cubicBezTo>
                  <a:pt x="2215" y="0"/>
                  <a:pt x="0" y="2354"/>
                  <a:pt x="0" y="5123"/>
                </a:cubicBezTo>
                <a:cubicBezTo>
                  <a:pt x="0" y="7892"/>
                  <a:pt x="2215" y="10246"/>
                  <a:pt x="5123" y="10246"/>
                </a:cubicBezTo>
                <a:cubicBezTo>
                  <a:pt x="7892" y="10246"/>
                  <a:pt x="10246" y="7892"/>
                  <a:pt x="10246" y="5123"/>
                </a:cubicBezTo>
                <a:cubicBezTo>
                  <a:pt x="10246" y="2354"/>
                  <a:pt x="7892" y="0"/>
                  <a:pt x="5123" y="0"/>
                </a:cubicBezTo>
                <a:close/>
                <a:moveTo>
                  <a:pt x="9000" y="5123"/>
                </a:moveTo>
                <a:cubicBezTo>
                  <a:pt x="9000" y="5400"/>
                  <a:pt x="8723" y="5677"/>
                  <a:pt x="8446" y="5677"/>
                </a:cubicBezTo>
                <a:cubicBezTo>
                  <a:pt x="5677" y="5677"/>
                  <a:pt x="5677" y="5677"/>
                  <a:pt x="5677" y="5677"/>
                </a:cubicBezTo>
                <a:cubicBezTo>
                  <a:pt x="5677" y="8585"/>
                  <a:pt x="5677" y="8585"/>
                  <a:pt x="5677" y="8585"/>
                </a:cubicBezTo>
                <a:cubicBezTo>
                  <a:pt x="5677" y="8862"/>
                  <a:pt x="5400" y="9138"/>
                  <a:pt x="5123" y="9138"/>
                </a:cubicBezTo>
                <a:cubicBezTo>
                  <a:pt x="4708" y="9138"/>
                  <a:pt x="4431" y="8862"/>
                  <a:pt x="4431" y="8585"/>
                </a:cubicBezTo>
                <a:cubicBezTo>
                  <a:pt x="4431" y="5677"/>
                  <a:pt x="4431" y="5677"/>
                  <a:pt x="4431" y="5677"/>
                </a:cubicBezTo>
                <a:cubicBezTo>
                  <a:pt x="1662" y="5677"/>
                  <a:pt x="1662" y="5677"/>
                  <a:pt x="1662" y="5677"/>
                </a:cubicBezTo>
                <a:cubicBezTo>
                  <a:pt x="1385" y="5677"/>
                  <a:pt x="1108" y="5400"/>
                  <a:pt x="1108" y="5123"/>
                </a:cubicBezTo>
                <a:cubicBezTo>
                  <a:pt x="1108" y="4846"/>
                  <a:pt x="1385" y="4569"/>
                  <a:pt x="1662" y="4569"/>
                </a:cubicBezTo>
                <a:cubicBezTo>
                  <a:pt x="4431" y="4569"/>
                  <a:pt x="4431" y="4569"/>
                  <a:pt x="4431" y="4569"/>
                </a:cubicBezTo>
                <a:cubicBezTo>
                  <a:pt x="4431" y="1662"/>
                  <a:pt x="4431" y="1662"/>
                  <a:pt x="4431" y="1662"/>
                </a:cubicBezTo>
                <a:cubicBezTo>
                  <a:pt x="4431" y="1385"/>
                  <a:pt x="4708" y="1108"/>
                  <a:pt x="5123" y="1108"/>
                </a:cubicBezTo>
                <a:cubicBezTo>
                  <a:pt x="5400" y="1108"/>
                  <a:pt x="5677" y="1385"/>
                  <a:pt x="5677" y="1662"/>
                </a:cubicBezTo>
                <a:cubicBezTo>
                  <a:pt x="5677" y="4569"/>
                  <a:pt x="5677" y="4569"/>
                  <a:pt x="5677" y="4569"/>
                </a:cubicBezTo>
                <a:cubicBezTo>
                  <a:pt x="8446" y="4569"/>
                  <a:pt x="8446" y="4569"/>
                  <a:pt x="8446" y="4569"/>
                </a:cubicBezTo>
                <a:cubicBezTo>
                  <a:pt x="8723" y="4569"/>
                  <a:pt x="9000" y="4846"/>
                  <a:pt x="9000" y="5123"/>
                </a:cubicBezTo>
                <a:close/>
                <a:moveTo>
                  <a:pt x="16477" y="11354"/>
                </a:moveTo>
                <a:cubicBezTo>
                  <a:pt x="13569" y="11354"/>
                  <a:pt x="11354" y="13708"/>
                  <a:pt x="11354" y="16477"/>
                </a:cubicBezTo>
                <a:cubicBezTo>
                  <a:pt x="11354" y="19385"/>
                  <a:pt x="13569" y="21600"/>
                  <a:pt x="16477" y="21600"/>
                </a:cubicBezTo>
                <a:cubicBezTo>
                  <a:pt x="19246" y="21600"/>
                  <a:pt x="21600" y="19385"/>
                  <a:pt x="21600" y="16477"/>
                </a:cubicBezTo>
                <a:cubicBezTo>
                  <a:pt x="21600" y="13708"/>
                  <a:pt x="19246" y="11354"/>
                  <a:pt x="16477" y="11354"/>
                </a:cubicBezTo>
                <a:close/>
                <a:moveTo>
                  <a:pt x="16477" y="12462"/>
                </a:moveTo>
                <a:cubicBezTo>
                  <a:pt x="17031" y="12462"/>
                  <a:pt x="17585" y="13015"/>
                  <a:pt x="17585" y="13708"/>
                </a:cubicBezTo>
                <a:cubicBezTo>
                  <a:pt x="17585" y="14262"/>
                  <a:pt x="17031" y="14815"/>
                  <a:pt x="16477" y="14815"/>
                </a:cubicBezTo>
                <a:cubicBezTo>
                  <a:pt x="15785" y="14815"/>
                  <a:pt x="15369" y="14262"/>
                  <a:pt x="15369" y="13708"/>
                </a:cubicBezTo>
                <a:cubicBezTo>
                  <a:pt x="15369" y="13015"/>
                  <a:pt x="15785" y="12462"/>
                  <a:pt x="16477" y="12462"/>
                </a:cubicBezTo>
                <a:close/>
                <a:moveTo>
                  <a:pt x="16477" y="20492"/>
                </a:moveTo>
                <a:cubicBezTo>
                  <a:pt x="15785" y="20492"/>
                  <a:pt x="15369" y="19938"/>
                  <a:pt x="15369" y="19385"/>
                </a:cubicBezTo>
                <a:cubicBezTo>
                  <a:pt x="15369" y="18692"/>
                  <a:pt x="15785" y="18277"/>
                  <a:pt x="16477" y="18277"/>
                </a:cubicBezTo>
                <a:cubicBezTo>
                  <a:pt x="17031" y="18277"/>
                  <a:pt x="17585" y="18692"/>
                  <a:pt x="17585" y="19385"/>
                </a:cubicBezTo>
                <a:cubicBezTo>
                  <a:pt x="17585" y="19938"/>
                  <a:pt x="17031" y="20492"/>
                  <a:pt x="16477" y="20492"/>
                </a:cubicBezTo>
                <a:close/>
                <a:moveTo>
                  <a:pt x="20492" y="16477"/>
                </a:moveTo>
                <a:cubicBezTo>
                  <a:pt x="20492" y="16892"/>
                  <a:pt x="20215" y="17031"/>
                  <a:pt x="19800" y="17031"/>
                </a:cubicBezTo>
                <a:cubicBezTo>
                  <a:pt x="13015" y="17031"/>
                  <a:pt x="13015" y="17031"/>
                  <a:pt x="13015" y="17031"/>
                </a:cubicBezTo>
                <a:cubicBezTo>
                  <a:pt x="12738" y="17031"/>
                  <a:pt x="12462" y="16892"/>
                  <a:pt x="12462" y="16477"/>
                </a:cubicBezTo>
                <a:cubicBezTo>
                  <a:pt x="12462" y="16200"/>
                  <a:pt x="12738" y="15923"/>
                  <a:pt x="13015" y="15923"/>
                </a:cubicBezTo>
                <a:cubicBezTo>
                  <a:pt x="19800" y="15923"/>
                  <a:pt x="19800" y="15923"/>
                  <a:pt x="19800" y="15923"/>
                </a:cubicBezTo>
                <a:cubicBezTo>
                  <a:pt x="20215" y="15923"/>
                  <a:pt x="20492" y="16200"/>
                  <a:pt x="20492" y="16477"/>
                </a:cubicBezTo>
                <a:close/>
                <a:moveTo>
                  <a:pt x="5123" y="11354"/>
                </a:moveTo>
                <a:cubicBezTo>
                  <a:pt x="2215" y="11354"/>
                  <a:pt x="0" y="13708"/>
                  <a:pt x="0" y="16477"/>
                </a:cubicBezTo>
                <a:cubicBezTo>
                  <a:pt x="0" y="19385"/>
                  <a:pt x="2215" y="21600"/>
                  <a:pt x="5123" y="21600"/>
                </a:cubicBezTo>
                <a:cubicBezTo>
                  <a:pt x="7892" y="21600"/>
                  <a:pt x="10246" y="19385"/>
                  <a:pt x="10246" y="16477"/>
                </a:cubicBezTo>
                <a:cubicBezTo>
                  <a:pt x="10246" y="13708"/>
                  <a:pt x="7892" y="11354"/>
                  <a:pt x="5123" y="11354"/>
                </a:cubicBezTo>
                <a:close/>
                <a:moveTo>
                  <a:pt x="7892" y="18554"/>
                </a:moveTo>
                <a:cubicBezTo>
                  <a:pt x="8169" y="18831"/>
                  <a:pt x="8169" y="19246"/>
                  <a:pt x="7892" y="19385"/>
                </a:cubicBezTo>
                <a:cubicBezTo>
                  <a:pt x="7754" y="19662"/>
                  <a:pt x="7338" y="19662"/>
                  <a:pt x="7062" y="19385"/>
                </a:cubicBezTo>
                <a:cubicBezTo>
                  <a:pt x="5123" y="17308"/>
                  <a:pt x="5123" y="17308"/>
                  <a:pt x="5123" y="17308"/>
                </a:cubicBezTo>
                <a:cubicBezTo>
                  <a:pt x="3046" y="19385"/>
                  <a:pt x="3046" y="19385"/>
                  <a:pt x="3046" y="19385"/>
                </a:cubicBezTo>
                <a:cubicBezTo>
                  <a:pt x="2769" y="19662"/>
                  <a:pt x="2354" y="19662"/>
                  <a:pt x="2215" y="19385"/>
                </a:cubicBezTo>
                <a:cubicBezTo>
                  <a:pt x="1938" y="19246"/>
                  <a:pt x="1938" y="18831"/>
                  <a:pt x="2215" y="18554"/>
                </a:cubicBezTo>
                <a:cubicBezTo>
                  <a:pt x="4292" y="16477"/>
                  <a:pt x="4292" y="16477"/>
                  <a:pt x="4292" y="16477"/>
                </a:cubicBezTo>
                <a:cubicBezTo>
                  <a:pt x="2215" y="14400"/>
                  <a:pt x="2215" y="14400"/>
                  <a:pt x="2215" y="14400"/>
                </a:cubicBezTo>
                <a:cubicBezTo>
                  <a:pt x="1938" y="14262"/>
                  <a:pt x="1938" y="13846"/>
                  <a:pt x="2215" y="13569"/>
                </a:cubicBezTo>
                <a:cubicBezTo>
                  <a:pt x="2354" y="13431"/>
                  <a:pt x="2769" y="13431"/>
                  <a:pt x="3046" y="13569"/>
                </a:cubicBezTo>
                <a:cubicBezTo>
                  <a:pt x="5123" y="15646"/>
                  <a:pt x="5123" y="15646"/>
                  <a:pt x="5123" y="15646"/>
                </a:cubicBezTo>
                <a:cubicBezTo>
                  <a:pt x="7062" y="13569"/>
                  <a:pt x="7062" y="13569"/>
                  <a:pt x="7062" y="13569"/>
                </a:cubicBezTo>
                <a:cubicBezTo>
                  <a:pt x="7338" y="13431"/>
                  <a:pt x="7754" y="13431"/>
                  <a:pt x="7892" y="13569"/>
                </a:cubicBezTo>
                <a:cubicBezTo>
                  <a:pt x="8169" y="13846"/>
                  <a:pt x="8169" y="14262"/>
                  <a:pt x="7892" y="14400"/>
                </a:cubicBezTo>
                <a:cubicBezTo>
                  <a:pt x="5815" y="16477"/>
                  <a:pt x="5815" y="16477"/>
                  <a:pt x="5815" y="16477"/>
                </a:cubicBezTo>
                <a:lnTo>
                  <a:pt x="7892" y="18554"/>
                </a:lnTo>
                <a:close/>
                <a:moveTo>
                  <a:pt x="16477" y="10246"/>
                </a:moveTo>
                <a:cubicBezTo>
                  <a:pt x="19246" y="10246"/>
                  <a:pt x="21600" y="7892"/>
                  <a:pt x="21600" y="5123"/>
                </a:cubicBezTo>
                <a:cubicBezTo>
                  <a:pt x="21600" y="2354"/>
                  <a:pt x="19246" y="0"/>
                  <a:pt x="16477" y="0"/>
                </a:cubicBezTo>
                <a:cubicBezTo>
                  <a:pt x="13569" y="0"/>
                  <a:pt x="11354" y="2354"/>
                  <a:pt x="11354" y="5123"/>
                </a:cubicBezTo>
                <a:cubicBezTo>
                  <a:pt x="11354" y="7892"/>
                  <a:pt x="13569" y="10246"/>
                  <a:pt x="16477" y="10246"/>
                </a:cubicBezTo>
                <a:close/>
                <a:moveTo>
                  <a:pt x="12462" y="5123"/>
                </a:moveTo>
                <a:cubicBezTo>
                  <a:pt x="12462" y="4846"/>
                  <a:pt x="12738" y="4569"/>
                  <a:pt x="13015" y="4569"/>
                </a:cubicBezTo>
                <a:cubicBezTo>
                  <a:pt x="19800" y="4569"/>
                  <a:pt x="19800" y="4569"/>
                  <a:pt x="19800" y="4569"/>
                </a:cubicBezTo>
                <a:cubicBezTo>
                  <a:pt x="20215" y="4569"/>
                  <a:pt x="20492" y="4846"/>
                  <a:pt x="20492" y="5123"/>
                </a:cubicBezTo>
                <a:cubicBezTo>
                  <a:pt x="20492" y="5400"/>
                  <a:pt x="20215" y="5677"/>
                  <a:pt x="19800" y="5677"/>
                </a:cubicBezTo>
                <a:cubicBezTo>
                  <a:pt x="13015" y="5677"/>
                  <a:pt x="13015" y="5677"/>
                  <a:pt x="13015" y="5677"/>
                </a:cubicBezTo>
                <a:cubicBezTo>
                  <a:pt x="12738" y="5677"/>
                  <a:pt x="12462" y="5400"/>
                  <a:pt x="12462" y="5123"/>
                </a:cubicBezTo>
                <a:close/>
              </a:path>
            </a:pathLst>
          </a:custGeom>
          <a:solidFill>
            <a:srgbClr val="1E1E20"/>
          </a:solidFill>
          <a:ln w="12700" cap="flat">
            <a:noFill/>
            <a:miter lim="400000"/>
          </a:ln>
          <a:effectLst/>
        </p:spPr>
        <p:txBody>
          <a:bodyPr wrap="square" lIns="45720" tIns="45720" rIns="45720" bIns="45720" numCol="1" anchor="t">
            <a:noAutofit/>
          </a:bodyPr>
          <a:lstStyle/>
          <a:p>
            <a:endParaRPr sz="800"/>
          </a:p>
        </p:txBody>
      </p:sp>
      <p:sp>
        <p:nvSpPr>
          <p:cNvPr id="52" name="文本框 51"/>
          <p:cNvSpPr txBox="1"/>
          <p:nvPr/>
        </p:nvSpPr>
        <p:spPr>
          <a:xfrm>
            <a:off x="1483126" y="1751618"/>
            <a:ext cx="1212042" cy="400264"/>
          </a:xfrm>
          <a:prstGeom prst="rect">
            <a:avLst/>
          </a:prstGeom>
          <a:noFill/>
        </p:spPr>
        <p:txBody>
          <a:bodyPr wrap="square" rtlCol="0">
            <a:spAutoFit/>
          </a:bodyPr>
          <a:lstStyle>
            <a:defPPr>
              <a:defRPr lang="zh-CN"/>
            </a:defPPr>
            <a:lvl1pPr algn="dist">
              <a:defRPr>
                <a:latin typeface="华文仿宋" panose="02010600040101010101" pitchFamily="2" charset="-122"/>
                <a:ea typeface="华文仿宋" panose="02010600040101010101" pitchFamily="2" charset="-122"/>
              </a:defRPr>
            </a:lvl1pPr>
          </a:lstStyle>
          <a:p>
            <a:pPr>
              <a:lnSpc>
                <a:spcPct val="150000"/>
              </a:lnSpc>
            </a:pPr>
            <a:r>
              <a:rPr lang="en-US" altLang="zh-CN" sz="1400" b="1" dirty="0">
                <a:latin typeface="胡晓波男神体" panose="02010600030101010101" pitchFamily="2" charset="-122"/>
                <a:ea typeface="胡晓波男神体" panose="02010600030101010101" pitchFamily="2" charset="-122"/>
                <a:cs typeface="胡晓波男神体" panose="02010600030101010101" pitchFamily="2" charset="-122"/>
              </a:rPr>
              <a:t>PART 01</a:t>
            </a:r>
            <a:endParaRPr lang="zh-CN" altLang="en-US" sz="1400" b="1" dirty="0">
              <a:latin typeface="胡晓波男神体" panose="02010600030101010101" pitchFamily="2" charset="-122"/>
              <a:ea typeface="胡晓波男神体" panose="02010600030101010101" pitchFamily="2" charset="-122"/>
              <a:cs typeface="胡晓波男神体" panose="02010600030101010101" pitchFamily="2" charset="-122"/>
            </a:endParaRPr>
          </a:p>
        </p:txBody>
      </p:sp>
      <p:grpSp>
        <p:nvGrpSpPr>
          <p:cNvPr id="41" name="组合 40"/>
          <p:cNvGrpSpPr/>
          <p:nvPr/>
        </p:nvGrpSpPr>
        <p:grpSpPr>
          <a:xfrm>
            <a:off x="2329762" y="2402338"/>
            <a:ext cx="3009484" cy="668935"/>
            <a:chOff x="7367646" y="2023825"/>
            <a:chExt cx="3009484" cy="668935"/>
          </a:xfrm>
        </p:grpSpPr>
        <p:sp>
          <p:nvSpPr>
            <p:cNvPr id="42" name="文本框 41"/>
            <p:cNvSpPr txBox="1"/>
            <p:nvPr/>
          </p:nvSpPr>
          <p:spPr>
            <a:xfrm>
              <a:off x="7367646" y="2023825"/>
              <a:ext cx="2870835" cy="368300"/>
            </a:xfrm>
            <a:prstGeom prst="rect">
              <a:avLst/>
            </a:prstGeom>
            <a:noFill/>
          </p:spPr>
          <p:txBody>
            <a:bodyPr wrap="square" rtlCol="0">
              <a:spAutoFit/>
            </a:bodyPr>
            <a:lstStyle>
              <a:defPPr>
                <a:defRPr lang="zh-CN"/>
              </a:defPPr>
              <a:lvl1pPr>
                <a:defRPr>
                  <a:latin typeface="Noto Sans S Chinese Regular" panose="020B0500000000000000" pitchFamily="34" charset="-122"/>
                  <a:ea typeface="Noto Sans S Chinese Regular" panose="020B0500000000000000" pitchFamily="34" charset="-122"/>
                  <a:cs typeface="文泉驿等宽微米黑" panose="020B0606030804020204" pitchFamily="34" charset="-122"/>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zh-CN" dirty="0"/>
                <a:t>使用</a:t>
              </a:r>
              <a:r>
                <a:rPr lang="en-US" altLang="zh-CN" dirty="0"/>
                <a:t>26</a:t>
              </a:r>
              <a:r>
                <a:rPr lang="zh-CN" altLang="en-US" dirty="0"/>
                <a:t>点</a:t>
              </a:r>
              <a:r>
                <a:rPr lang="zh-CN" altLang="zh-CN" dirty="0"/>
                <a:t>小地图来测试</a:t>
              </a:r>
              <a:endParaRPr lang="zh-CN" altLang="zh-CN" dirty="0"/>
            </a:p>
          </p:txBody>
        </p:sp>
        <p:sp>
          <p:nvSpPr>
            <p:cNvPr id="43" name="文本框 42"/>
            <p:cNvSpPr txBox="1"/>
            <p:nvPr/>
          </p:nvSpPr>
          <p:spPr>
            <a:xfrm>
              <a:off x="7380347" y="2324460"/>
              <a:ext cx="2996783" cy="368300"/>
            </a:xfrm>
            <a:prstGeom prst="rect">
              <a:avLst/>
            </a:prstGeom>
            <a:noFill/>
          </p:spPr>
          <p:txBody>
            <a:bodyPr wrap="square" rtlCol="0">
              <a:spAutoFit/>
            </a:bodyPr>
            <a:lstStyle>
              <a:defPPr>
                <a:defRPr lang="zh-CN"/>
              </a:defPPr>
              <a:lvl1pPr>
                <a:lnSpc>
                  <a:spcPct val="150000"/>
                </a:lnSpc>
                <a:defRPr sz="1200">
                  <a:latin typeface="Noto Sans S Chinese Regular" panose="020B0500000000000000" pitchFamily="34" charset="-122"/>
                  <a:ea typeface="Noto Sans S Chinese Regular" panose="020B0500000000000000" pitchFamily="34" charset="-122"/>
                  <a:cs typeface="文泉驿等宽微米黑" panose="020B0606030804020204" pitchFamily="34" charset="-122"/>
                </a:defRPr>
              </a:lvl1pPr>
            </a:lstStyle>
            <a:p>
              <a:r>
                <a:rPr lang="zh-CN" altLang="en-US" dirty="0"/>
                <a:t>测试各个优化阶段对于算法的</a:t>
              </a:r>
              <a:r>
                <a:rPr lang="zh-CN" altLang="en-US" dirty="0"/>
                <a:t>提高</a:t>
              </a:r>
              <a:endParaRPr lang="zh-CN" altLang="en-US" dirty="0"/>
            </a:p>
          </p:txBody>
        </p:sp>
      </p:grpSp>
      <p:sp>
        <p:nvSpPr>
          <p:cNvPr id="3" name="文本框 2"/>
          <p:cNvSpPr txBox="1"/>
          <p:nvPr/>
        </p:nvSpPr>
        <p:spPr>
          <a:xfrm>
            <a:off x="4615543" y="606026"/>
            <a:ext cx="2960914" cy="460375"/>
          </a:xfrm>
          <a:prstGeom prst="rect">
            <a:avLst/>
          </a:prstGeom>
          <a:noFill/>
        </p:spPr>
        <p:txBody>
          <a:bodyPr wrap="square" rtlCol="0">
            <a:spAutoFit/>
          </a:bodyPr>
          <a:lstStyle>
            <a:defPPr>
              <a:defRPr lang="zh-CN"/>
            </a:defPPr>
            <a:lvl1pPr algn="ctr">
              <a:defRPr sz="5400">
                <a:latin typeface="汉仪大宋简" panose="02010600000101010101" pitchFamily="49" charset="-122"/>
                <a:ea typeface="汉仪大宋简" panose="02010600000101010101" pitchFamily="49" charset="-122"/>
              </a:defRPr>
            </a:lvl1pPr>
          </a:lstStyle>
          <a:p>
            <a:r>
              <a:rPr lang="zh-CN" altLang="en-US" sz="2400" dirty="0">
                <a:sym typeface="+mn-ea"/>
              </a:rPr>
              <a:t>研究结论与安排</a:t>
            </a:r>
            <a:endParaRPr lang="zh-CN" altLang="en-US" sz="2400" dirty="0"/>
          </a:p>
        </p:txBody>
      </p:sp>
      <p:pic>
        <p:nvPicPr>
          <p:cNvPr id="2" name="图片 1" descr="测试地图"/>
          <p:cNvPicPr>
            <a:picLocks noChangeAspect="1"/>
          </p:cNvPicPr>
          <p:nvPr/>
        </p:nvPicPr>
        <p:blipFill>
          <a:blip r:embed="rId2"/>
          <a:stretch>
            <a:fillRect/>
          </a:stretch>
        </p:blipFill>
        <p:spPr>
          <a:xfrm>
            <a:off x="5200650" y="1993900"/>
            <a:ext cx="5770245" cy="344487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500">
        <p:push dir="u"/>
      </p:transition>
    </mc:Choice>
    <mc:Fallback>
      <p:transition>
        <p:push dir="u"/>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 name="图片 39"/>
          <p:cNvPicPr>
            <a:picLocks noChangeAspect="1"/>
          </p:cNvPicPr>
          <p:nvPr/>
        </p:nvPicPr>
        <p:blipFill>
          <a:blip r:embed="rId1"/>
          <a:srcRect l="600" t="1475" r="483" b="887"/>
          <a:stretch>
            <a:fillRect/>
          </a:stretch>
        </p:blipFill>
        <p:spPr>
          <a:xfrm>
            <a:off x="0" y="0"/>
            <a:ext cx="12192000" cy="6858000"/>
          </a:xfrm>
          <a:custGeom>
            <a:avLst/>
            <a:gdLst>
              <a:gd name="connsiteX0" fmla="*/ 0 w 12060000"/>
              <a:gd name="connsiteY0" fmla="*/ 0 h 6696000"/>
              <a:gd name="connsiteX1" fmla="*/ 12060000 w 12060000"/>
              <a:gd name="connsiteY1" fmla="*/ 0 h 6696000"/>
              <a:gd name="connsiteX2" fmla="*/ 12060000 w 12060000"/>
              <a:gd name="connsiteY2" fmla="*/ 6696000 h 6696000"/>
              <a:gd name="connsiteX3" fmla="*/ 0 w 12060000"/>
              <a:gd name="connsiteY3" fmla="*/ 6696000 h 6696000"/>
            </a:gdLst>
            <a:ahLst/>
            <a:cxnLst>
              <a:cxn ang="0">
                <a:pos x="connsiteX0" y="connsiteY0"/>
              </a:cxn>
              <a:cxn ang="0">
                <a:pos x="connsiteX1" y="connsiteY1"/>
              </a:cxn>
              <a:cxn ang="0">
                <a:pos x="connsiteX2" y="connsiteY2"/>
              </a:cxn>
              <a:cxn ang="0">
                <a:pos x="connsiteX3" y="connsiteY3"/>
              </a:cxn>
            </a:cxnLst>
            <a:rect l="l" t="t" r="r" b="b"/>
            <a:pathLst>
              <a:path w="12060000" h="6696000">
                <a:moveTo>
                  <a:pt x="0" y="0"/>
                </a:moveTo>
                <a:lnTo>
                  <a:pt x="12060000" y="0"/>
                </a:lnTo>
                <a:lnTo>
                  <a:pt x="12060000" y="6696000"/>
                </a:lnTo>
                <a:lnTo>
                  <a:pt x="0" y="6696000"/>
                </a:lnTo>
                <a:close/>
              </a:path>
            </a:pathLst>
          </a:custGeom>
        </p:spPr>
      </p:pic>
      <p:sp>
        <p:nvSpPr>
          <p:cNvPr id="80" name="圆角矩形 3"/>
          <p:cNvSpPr/>
          <p:nvPr/>
        </p:nvSpPr>
        <p:spPr>
          <a:xfrm>
            <a:off x="1063625" y="1994162"/>
            <a:ext cx="4689475" cy="1672076"/>
          </a:xfrm>
          <a:prstGeom prst="roundRect">
            <a:avLst>
              <a:gd name="adj" fmla="val 7044"/>
            </a:avLst>
          </a:prstGeom>
          <a:noFill/>
          <a:ln w="19050">
            <a:solidFill>
              <a:srgbClr val="1E1E2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81" name="圆角矩形 15"/>
          <p:cNvSpPr/>
          <p:nvPr/>
        </p:nvSpPr>
        <p:spPr>
          <a:xfrm>
            <a:off x="1283057" y="1796459"/>
            <a:ext cx="1672075" cy="391129"/>
          </a:xfrm>
          <a:prstGeom prst="roundRect">
            <a:avLst>
              <a:gd name="adj" fmla="val 21083"/>
            </a:avLst>
          </a:prstGeom>
          <a:solidFill>
            <a:srgbClr val="FCFBF7"/>
          </a:solidFill>
          <a:ln w="19050">
            <a:solidFill>
              <a:srgbClr val="1E1E2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p>
        </p:txBody>
      </p:sp>
      <p:sp>
        <p:nvSpPr>
          <p:cNvPr id="51" name="Freeform 16"/>
          <p:cNvSpPr/>
          <p:nvPr/>
        </p:nvSpPr>
        <p:spPr>
          <a:xfrm>
            <a:off x="1483126" y="2537203"/>
            <a:ext cx="699482" cy="699482"/>
          </a:xfrm>
          <a:custGeom>
            <a:avLst/>
            <a:gdLst/>
            <a:ahLst/>
            <a:cxnLst>
              <a:cxn ang="0">
                <a:pos x="wd2" y="hd2"/>
              </a:cxn>
              <a:cxn ang="5400000">
                <a:pos x="wd2" y="hd2"/>
              </a:cxn>
              <a:cxn ang="10800000">
                <a:pos x="wd2" y="hd2"/>
              </a:cxn>
              <a:cxn ang="16200000">
                <a:pos x="wd2" y="hd2"/>
              </a:cxn>
            </a:cxnLst>
            <a:rect l="0" t="0" r="r" b="b"/>
            <a:pathLst>
              <a:path w="21600" h="21600" extrusionOk="0">
                <a:moveTo>
                  <a:pt x="5123" y="0"/>
                </a:moveTo>
                <a:cubicBezTo>
                  <a:pt x="2215" y="0"/>
                  <a:pt x="0" y="2354"/>
                  <a:pt x="0" y="5123"/>
                </a:cubicBezTo>
                <a:cubicBezTo>
                  <a:pt x="0" y="7892"/>
                  <a:pt x="2215" y="10246"/>
                  <a:pt x="5123" y="10246"/>
                </a:cubicBezTo>
                <a:cubicBezTo>
                  <a:pt x="7892" y="10246"/>
                  <a:pt x="10246" y="7892"/>
                  <a:pt x="10246" y="5123"/>
                </a:cubicBezTo>
                <a:cubicBezTo>
                  <a:pt x="10246" y="2354"/>
                  <a:pt x="7892" y="0"/>
                  <a:pt x="5123" y="0"/>
                </a:cubicBezTo>
                <a:close/>
                <a:moveTo>
                  <a:pt x="9000" y="5123"/>
                </a:moveTo>
                <a:cubicBezTo>
                  <a:pt x="9000" y="5400"/>
                  <a:pt x="8723" y="5677"/>
                  <a:pt x="8446" y="5677"/>
                </a:cubicBezTo>
                <a:cubicBezTo>
                  <a:pt x="5677" y="5677"/>
                  <a:pt x="5677" y="5677"/>
                  <a:pt x="5677" y="5677"/>
                </a:cubicBezTo>
                <a:cubicBezTo>
                  <a:pt x="5677" y="8585"/>
                  <a:pt x="5677" y="8585"/>
                  <a:pt x="5677" y="8585"/>
                </a:cubicBezTo>
                <a:cubicBezTo>
                  <a:pt x="5677" y="8862"/>
                  <a:pt x="5400" y="9138"/>
                  <a:pt x="5123" y="9138"/>
                </a:cubicBezTo>
                <a:cubicBezTo>
                  <a:pt x="4708" y="9138"/>
                  <a:pt x="4431" y="8862"/>
                  <a:pt x="4431" y="8585"/>
                </a:cubicBezTo>
                <a:cubicBezTo>
                  <a:pt x="4431" y="5677"/>
                  <a:pt x="4431" y="5677"/>
                  <a:pt x="4431" y="5677"/>
                </a:cubicBezTo>
                <a:cubicBezTo>
                  <a:pt x="1662" y="5677"/>
                  <a:pt x="1662" y="5677"/>
                  <a:pt x="1662" y="5677"/>
                </a:cubicBezTo>
                <a:cubicBezTo>
                  <a:pt x="1385" y="5677"/>
                  <a:pt x="1108" y="5400"/>
                  <a:pt x="1108" y="5123"/>
                </a:cubicBezTo>
                <a:cubicBezTo>
                  <a:pt x="1108" y="4846"/>
                  <a:pt x="1385" y="4569"/>
                  <a:pt x="1662" y="4569"/>
                </a:cubicBezTo>
                <a:cubicBezTo>
                  <a:pt x="4431" y="4569"/>
                  <a:pt x="4431" y="4569"/>
                  <a:pt x="4431" y="4569"/>
                </a:cubicBezTo>
                <a:cubicBezTo>
                  <a:pt x="4431" y="1662"/>
                  <a:pt x="4431" y="1662"/>
                  <a:pt x="4431" y="1662"/>
                </a:cubicBezTo>
                <a:cubicBezTo>
                  <a:pt x="4431" y="1385"/>
                  <a:pt x="4708" y="1108"/>
                  <a:pt x="5123" y="1108"/>
                </a:cubicBezTo>
                <a:cubicBezTo>
                  <a:pt x="5400" y="1108"/>
                  <a:pt x="5677" y="1385"/>
                  <a:pt x="5677" y="1662"/>
                </a:cubicBezTo>
                <a:cubicBezTo>
                  <a:pt x="5677" y="4569"/>
                  <a:pt x="5677" y="4569"/>
                  <a:pt x="5677" y="4569"/>
                </a:cubicBezTo>
                <a:cubicBezTo>
                  <a:pt x="8446" y="4569"/>
                  <a:pt x="8446" y="4569"/>
                  <a:pt x="8446" y="4569"/>
                </a:cubicBezTo>
                <a:cubicBezTo>
                  <a:pt x="8723" y="4569"/>
                  <a:pt x="9000" y="4846"/>
                  <a:pt x="9000" y="5123"/>
                </a:cubicBezTo>
                <a:close/>
                <a:moveTo>
                  <a:pt x="16477" y="11354"/>
                </a:moveTo>
                <a:cubicBezTo>
                  <a:pt x="13569" y="11354"/>
                  <a:pt x="11354" y="13708"/>
                  <a:pt x="11354" y="16477"/>
                </a:cubicBezTo>
                <a:cubicBezTo>
                  <a:pt x="11354" y="19385"/>
                  <a:pt x="13569" y="21600"/>
                  <a:pt x="16477" y="21600"/>
                </a:cubicBezTo>
                <a:cubicBezTo>
                  <a:pt x="19246" y="21600"/>
                  <a:pt x="21600" y="19385"/>
                  <a:pt x="21600" y="16477"/>
                </a:cubicBezTo>
                <a:cubicBezTo>
                  <a:pt x="21600" y="13708"/>
                  <a:pt x="19246" y="11354"/>
                  <a:pt x="16477" y="11354"/>
                </a:cubicBezTo>
                <a:close/>
                <a:moveTo>
                  <a:pt x="16477" y="12462"/>
                </a:moveTo>
                <a:cubicBezTo>
                  <a:pt x="17031" y="12462"/>
                  <a:pt x="17585" y="13015"/>
                  <a:pt x="17585" y="13708"/>
                </a:cubicBezTo>
                <a:cubicBezTo>
                  <a:pt x="17585" y="14262"/>
                  <a:pt x="17031" y="14815"/>
                  <a:pt x="16477" y="14815"/>
                </a:cubicBezTo>
                <a:cubicBezTo>
                  <a:pt x="15785" y="14815"/>
                  <a:pt x="15369" y="14262"/>
                  <a:pt x="15369" y="13708"/>
                </a:cubicBezTo>
                <a:cubicBezTo>
                  <a:pt x="15369" y="13015"/>
                  <a:pt x="15785" y="12462"/>
                  <a:pt x="16477" y="12462"/>
                </a:cubicBezTo>
                <a:close/>
                <a:moveTo>
                  <a:pt x="16477" y="20492"/>
                </a:moveTo>
                <a:cubicBezTo>
                  <a:pt x="15785" y="20492"/>
                  <a:pt x="15369" y="19938"/>
                  <a:pt x="15369" y="19385"/>
                </a:cubicBezTo>
                <a:cubicBezTo>
                  <a:pt x="15369" y="18692"/>
                  <a:pt x="15785" y="18277"/>
                  <a:pt x="16477" y="18277"/>
                </a:cubicBezTo>
                <a:cubicBezTo>
                  <a:pt x="17031" y="18277"/>
                  <a:pt x="17585" y="18692"/>
                  <a:pt x="17585" y="19385"/>
                </a:cubicBezTo>
                <a:cubicBezTo>
                  <a:pt x="17585" y="19938"/>
                  <a:pt x="17031" y="20492"/>
                  <a:pt x="16477" y="20492"/>
                </a:cubicBezTo>
                <a:close/>
                <a:moveTo>
                  <a:pt x="20492" y="16477"/>
                </a:moveTo>
                <a:cubicBezTo>
                  <a:pt x="20492" y="16892"/>
                  <a:pt x="20215" y="17031"/>
                  <a:pt x="19800" y="17031"/>
                </a:cubicBezTo>
                <a:cubicBezTo>
                  <a:pt x="13015" y="17031"/>
                  <a:pt x="13015" y="17031"/>
                  <a:pt x="13015" y="17031"/>
                </a:cubicBezTo>
                <a:cubicBezTo>
                  <a:pt x="12738" y="17031"/>
                  <a:pt x="12462" y="16892"/>
                  <a:pt x="12462" y="16477"/>
                </a:cubicBezTo>
                <a:cubicBezTo>
                  <a:pt x="12462" y="16200"/>
                  <a:pt x="12738" y="15923"/>
                  <a:pt x="13015" y="15923"/>
                </a:cubicBezTo>
                <a:cubicBezTo>
                  <a:pt x="19800" y="15923"/>
                  <a:pt x="19800" y="15923"/>
                  <a:pt x="19800" y="15923"/>
                </a:cubicBezTo>
                <a:cubicBezTo>
                  <a:pt x="20215" y="15923"/>
                  <a:pt x="20492" y="16200"/>
                  <a:pt x="20492" y="16477"/>
                </a:cubicBezTo>
                <a:close/>
                <a:moveTo>
                  <a:pt x="5123" y="11354"/>
                </a:moveTo>
                <a:cubicBezTo>
                  <a:pt x="2215" y="11354"/>
                  <a:pt x="0" y="13708"/>
                  <a:pt x="0" y="16477"/>
                </a:cubicBezTo>
                <a:cubicBezTo>
                  <a:pt x="0" y="19385"/>
                  <a:pt x="2215" y="21600"/>
                  <a:pt x="5123" y="21600"/>
                </a:cubicBezTo>
                <a:cubicBezTo>
                  <a:pt x="7892" y="21600"/>
                  <a:pt x="10246" y="19385"/>
                  <a:pt x="10246" y="16477"/>
                </a:cubicBezTo>
                <a:cubicBezTo>
                  <a:pt x="10246" y="13708"/>
                  <a:pt x="7892" y="11354"/>
                  <a:pt x="5123" y="11354"/>
                </a:cubicBezTo>
                <a:close/>
                <a:moveTo>
                  <a:pt x="7892" y="18554"/>
                </a:moveTo>
                <a:cubicBezTo>
                  <a:pt x="8169" y="18831"/>
                  <a:pt x="8169" y="19246"/>
                  <a:pt x="7892" y="19385"/>
                </a:cubicBezTo>
                <a:cubicBezTo>
                  <a:pt x="7754" y="19662"/>
                  <a:pt x="7338" y="19662"/>
                  <a:pt x="7062" y="19385"/>
                </a:cubicBezTo>
                <a:cubicBezTo>
                  <a:pt x="5123" y="17308"/>
                  <a:pt x="5123" y="17308"/>
                  <a:pt x="5123" y="17308"/>
                </a:cubicBezTo>
                <a:cubicBezTo>
                  <a:pt x="3046" y="19385"/>
                  <a:pt x="3046" y="19385"/>
                  <a:pt x="3046" y="19385"/>
                </a:cubicBezTo>
                <a:cubicBezTo>
                  <a:pt x="2769" y="19662"/>
                  <a:pt x="2354" y="19662"/>
                  <a:pt x="2215" y="19385"/>
                </a:cubicBezTo>
                <a:cubicBezTo>
                  <a:pt x="1938" y="19246"/>
                  <a:pt x="1938" y="18831"/>
                  <a:pt x="2215" y="18554"/>
                </a:cubicBezTo>
                <a:cubicBezTo>
                  <a:pt x="4292" y="16477"/>
                  <a:pt x="4292" y="16477"/>
                  <a:pt x="4292" y="16477"/>
                </a:cubicBezTo>
                <a:cubicBezTo>
                  <a:pt x="2215" y="14400"/>
                  <a:pt x="2215" y="14400"/>
                  <a:pt x="2215" y="14400"/>
                </a:cubicBezTo>
                <a:cubicBezTo>
                  <a:pt x="1938" y="14262"/>
                  <a:pt x="1938" y="13846"/>
                  <a:pt x="2215" y="13569"/>
                </a:cubicBezTo>
                <a:cubicBezTo>
                  <a:pt x="2354" y="13431"/>
                  <a:pt x="2769" y="13431"/>
                  <a:pt x="3046" y="13569"/>
                </a:cubicBezTo>
                <a:cubicBezTo>
                  <a:pt x="5123" y="15646"/>
                  <a:pt x="5123" y="15646"/>
                  <a:pt x="5123" y="15646"/>
                </a:cubicBezTo>
                <a:cubicBezTo>
                  <a:pt x="7062" y="13569"/>
                  <a:pt x="7062" y="13569"/>
                  <a:pt x="7062" y="13569"/>
                </a:cubicBezTo>
                <a:cubicBezTo>
                  <a:pt x="7338" y="13431"/>
                  <a:pt x="7754" y="13431"/>
                  <a:pt x="7892" y="13569"/>
                </a:cubicBezTo>
                <a:cubicBezTo>
                  <a:pt x="8169" y="13846"/>
                  <a:pt x="8169" y="14262"/>
                  <a:pt x="7892" y="14400"/>
                </a:cubicBezTo>
                <a:cubicBezTo>
                  <a:pt x="5815" y="16477"/>
                  <a:pt x="5815" y="16477"/>
                  <a:pt x="5815" y="16477"/>
                </a:cubicBezTo>
                <a:lnTo>
                  <a:pt x="7892" y="18554"/>
                </a:lnTo>
                <a:close/>
                <a:moveTo>
                  <a:pt x="16477" y="10246"/>
                </a:moveTo>
                <a:cubicBezTo>
                  <a:pt x="19246" y="10246"/>
                  <a:pt x="21600" y="7892"/>
                  <a:pt x="21600" y="5123"/>
                </a:cubicBezTo>
                <a:cubicBezTo>
                  <a:pt x="21600" y="2354"/>
                  <a:pt x="19246" y="0"/>
                  <a:pt x="16477" y="0"/>
                </a:cubicBezTo>
                <a:cubicBezTo>
                  <a:pt x="13569" y="0"/>
                  <a:pt x="11354" y="2354"/>
                  <a:pt x="11354" y="5123"/>
                </a:cubicBezTo>
                <a:cubicBezTo>
                  <a:pt x="11354" y="7892"/>
                  <a:pt x="13569" y="10246"/>
                  <a:pt x="16477" y="10246"/>
                </a:cubicBezTo>
                <a:close/>
                <a:moveTo>
                  <a:pt x="12462" y="5123"/>
                </a:moveTo>
                <a:cubicBezTo>
                  <a:pt x="12462" y="4846"/>
                  <a:pt x="12738" y="4569"/>
                  <a:pt x="13015" y="4569"/>
                </a:cubicBezTo>
                <a:cubicBezTo>
                  <a:pt x="19800" y="4569"/>
                  <a:pt x="19800" y="4569"/>
                  <a:pt x="19800" y="4569"/>
                </a:cubicBezTo>
                <a:cubicBezTo>
                  <a:pt x="20215" y="4569"/>
                  <a:pt x="20492" y="4846"/>
                  <a:pt x="20492" y="5123"/>
                </a:cubicBezTo>
                <a:cubicBezTo>
                  <a:pt x="20492" y="5400"/>
                  <a:pt x="20215" y="5677"/>
                  <a:pt x="19800" y="5677"/>
                </a:cubicBezTo>
                <a:cubicBezTo>
                  <a:pt x="13015" y="5677"/>
                  <a:pt x="13015" y="5677"/>
                  <a:pt x="13015" y="5677"/>
                </a:cubicBezTo>
                <a:cubicBezTo>
                  <a:pt x="12738" y="5677"/>
                  <a:pt x="12462" y="5400"/>
                  <a:pt x="12462" y="5123"/>
                </a:cubicBezTo>
                <a:close/>
              </a:path>
            </a:pathLst>
          </a:custGeom>
          <a:solidFill>
            <a:srgbClr val="1E1E20"/>
          </a:solidFill>
          <a:ln w="12700" cap="flat">
            <a:noFill/>
            <a:miter lim="400000"/>
          </a:ln>
          <a:effectLst/>
        </p:spPr>
        <p:txBody>
          <a:bodyPr wrap="square" lIns="45720" tIns="45720" rIns="45720" bIns="45720" numCol="1" anchor="t">
            <a:noAutofit/>
          </a:bodyPr>
          <a:lstStyle/>
          <a:p>
            <a:endParaRPr sz="800"/>
          </a:p>
        </p:txBody>
      </p:sp>
      <p:sp>
        <p:nvSpPr>
          <p:cNvPr id="52" name="文本框 51"/>
          <p:cNvSpPr txBox="1"/>
          <p:nvPr/>
        </p:nvSpPr>
        <p:spPr>
          <a:xfrm>
            <a:off x="1483126" y="1751618"/>
            <a:ext cx="1212042" cy="400264"/>
          </a:xfrm>
          <a:prstGeom prst="rect">
            <a:avLst/>
          </a:prstGeom>
          <a:noFill/>
        </p:spPr>
        <p:txBody>
          <a:bodyPr wrap="square" rtlCol="0">
            <a:spAutoFit/>
          </a:bodyPr>
          <a:lstStyle>
            <a:defPPr>
              <a:defRPr lang="zh-CN"/>
            </a:defPPr>
            <a:lvl1pPr algn="dist">
              <a:defRPr>
                <a:latin typeface="华文仿宋" panose="02010600040101010101" pitchFamily="2" charset="-122"/>
                <a:ea typeface="华文仿宋" panose="02010600040101010101" pitchFamily="2" charset="-122"/>
              </a:defRPr>
            </a:lvl1pPr>
          </a:lstStyle>
          <a:p>
            <a:pPr>
              <a:lnSpc>
                <a:spcPct val="150000"/>
              </a:lnSpc>
            </a:pPr>
            <a:r>
              <a:rPr lang="en-US" altLang="zh-CN" sz="1400" b="1" dirty="0">
                <a:latin typeface="胡晓波男神体" panose="02010600030101010101" pitchFamily="2" charset="-122"/>
                <a:ea typeface="胡晓波男神体" panose="02010600030101010101" pitchFamily="2" charset="-122"/>
                <a:cs typeface="胡晓波男神体" panose="02010600030101010101" pitchFamily="2" charset="-122"/>
              </a:rPr>
              <a:t>PART 01</a:t>
            </a:r>
            <a:endParaRPr lang="zh-CN" altLang="en-US" sz="1400" b="1" dirty="0">
              <a:latin typeface="胡晓波男神体" panose="02010600030101010101" pitchFamily="2" charset="-122"/>
              <a:ea typeface="胡晓波男神体" panose="02010600030101010101" pitchFamily="2" charset="-122"/>
              <a:cs typeface="胡晓波男神体" panose="02010600030101010101" pitchFamily="2" charset="-122"/>
            </a:endParaRPr>
          </a:p>
        </p:txBody>
      </p:sp>
      <p:sp>
        <p:nvSpPr>
          <p:cNvPr id="78" name="圆角矩形 32"/>
          <p:cNvSpPr/>
          <p:nvPr/>
        </p:nvSpPr>
        <p:spPr>
          <a:xfrm>
            <a:off x="1063625" y="4172531"/>
            <a:ext cx="4689475" cy="1672076"/>
          </a:xfrm>
          <a:prstGeom prst="roundRect">
            <a:avLst>
              <a:gd name="adj" fmla="val 7044"/>
            </a:avLst>
          </a:prstGeom>
          <a:noFill/>
          <a:ln w="19050">
            <a:solidFill>
              <a:srgbClr val="1E1E2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p>
        </p:txBody>
      </p:sp>
      <p:sp>
        <p:nvSpPr>
          <p:cNvPr id="79" name="圆角矩形 33"/>
          <p:cNvSpPr/>
          <p:nvPr/>
        </p:nvSpPr>
        <p:spPr>
          <a:xfrm>
            <a:off x="1283057" y="3974828"/>
            <a:ext cx="1672075" cy="391129"/>
          </a:xfrm>
          <a:prstGeom prst="roundRect">
            <a:avLst>
              <a:gd name="adj" fmla="val 21083"/>
            </a:avLst>
          </a:prstGeom>
          <a:solidFill>
            <a:srgbClr val="FCFBF7"/>
          </a:solidFill>
          <a:ln w="19050">
            <a:solidFill>
              <a:srgbClr val="1E1E2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54" name="文本框 53"/>
          <p:cNvSpPr txBox="1"/>
          <p:nvPr/>
        </p:nvSpPr>
        <p:spPr>
          <a:xfrm>
            <a:off x="1483126" y="3929987"/>
            <a:ext cx="1212042" cy="400264"/>
          </a:xfrm>
          <a:prstGeom prst="rect">
            <a:avLst/>
          </a:prstGeom>
          <a:noFill/>
        </p:spPr>
        <p:txBody>
          <a:bodyPr wrap="square" rtlCol="0">
            <a:spAutoFit/>
          </a:bodyPr>
          <a:lstStyle>
            <a:defPPr>
              <a:defRPr lang="zh-CN"/>
            </a:defPPr>
            <a:lvl1pPr algn="dist">
              <a:defRPr>
                <a:latin typeface="华文仿宋" panose="02010600040101010101" pitchFamily="2" charset="-122"/>
                <a:ea typeface="华文仿宋" panose="02010600040101010101" pitchFamily="2" charset="-122"/>
              </a:defRPr>
            </a:lvl1pPr>
          </a:lstStyle>
          <a:p>
            <a:pPr>
              <a:lnSpc>
                <a:spcPct val="150000"/>
              </a:lnSpc>
            </a:pPr>
            <a:r>
              <a:rPr lang="en-US" altLang="zh-CN" sz="1400" b="1" dirty="0">
                <a:latin typeface="胡晓波男神体" panose="02010600030101010101" pitchFamily="2" charset="-122"/>
                <a:ea typeface="胡晓波男神体" panose="02010600030101010101" pitchFamily="2" charset="-122"/>
                <a:cs typeface="胡晓波男神体" panose="02010600030101010101" pitchFamily="2" charset="-122"/>
              </a:rPr>
              <a:t>PART 03</a:t>
            </a:r>
            <a:endParaRPr lang="zh-CN" altLang="en-US" sz="1400" b="1" dirty="0">
              <a:latin typeface="胡晓波男神体" panose="02010600030101010101" pitchFamily="2" charset="-122"/>
              <a:ea typeface="胡晓波男神体" panose="02010600030101010101" pitchFamily="2" charset="-122"/>
              <a:cs typeface="胡晓波男神体" panose="02010600030101010101" pitchFamily="2" charset="-122"/>
            </a:endParaRPr>
          </a:p>
        </p:txBody>
      </p:sp>
      <p:sp>
        <p:nvSpPr>
          <p:cNvPr id="60" name="Freeform 24"/>
          <p:cNvSpPr/>
          <p:nvPr/>
        </p:nvSpPr>
        <p:spPr>
          <a:xfrm>
            <a:off x="1521003" y="4803585"/>
            <a:ext cx="632530" cy="652400"/>
          </a:xfrm>
          <a:custGeom>
            <a:avLst/>
            <a:gdLst/>
            <a:ahLst/>
            <a:cxnLst>
              <a:cxn ang="0">
                <a:pos x="wd2" y="hd2"/>
              </a:cxn>
              <a:cxn ang="5400000">
                <a:pos x="wd2" y="hd2"/>
              </a:cxn>
              <a:cxn ang="10800000">
                <a:pos x="wd2" y="hd2"/>
              </a:cxn>
              <a:cxn ang="16200000">
                <a:pos x="wd2" y="hd2"/>
              </a:cxn>
            </a:cxnLst>
            <a:rect l="0" t="0" r="r" b="b"/>
            <a:pathLst>
              <a:path w="21600" h="21600" extrusionOk="0">
                <a:moveTo>
                  <a:pt x="18450" y="10728"/>
                </a:moveTo>
                <a:cubicBezTo>
                  <a:pt x="13500" y="10728"/>
                  <a:pt x="13500" y="10728"/>
                  <a:pt x="13500" y="10728"/>
                </a:cubicBezTo>
                <a:cubicBezTo>
                  <a:pt x="13500" y="12032"/>
                  <a:pt x="13500" y="12032"/>
                  <a:pt x="13500" y="12032"/>
                </a:cubicBezTo>
                <a:cubicBezTo>
                  <a:pt x="18450" y="12032"/>
                  <a:pt x="18450" y="12032"/>
                  <a:pt x="18450" y="12032"/>
                </a:cubicBezTo>
                <a:lnTo>
                  <a:pt x="18450" y="10728"/>
                </a:lnTo>
                <a:close/>
                <a:moveTo>
                  <a:pt x="19800" y="0"/>
                </a:moveTo>
                <a:cubicBezTo>
                  <a:pt x="1800" y="0"/>
                  <a:pt x="1800" y="0"/>
                  <a:pt x="1800" y="0"/>
                </a:cubicBezTo>
                <a:cubicBezTo>
                  <a:pt x="750" y="0"/>
                  <a:pt x="0" y="870"/>
                  <a:pt x="0" y="1885"/>
                </a:cubicBezTo>
                <a:cubicBezTo>
                  <a:pt x="0" y="12612"/>
                  <a:pt x="0" y="12612"/>
                  <a:pt x="0" y="12612"/>
                </a:cubicBezTo>
                <a:cubicBezTo>
                  <a:pt x="0" y="13627"/>
                  <a:pt x="750" y="14352"/>
                  <a:pt x="1800" y="14352"/>
                </a:cubicBezTo>
                <a:cubicBezTo>
                  <a:pt x="19800" y="14352"/>
                  <a:pt x="19800" y="14352"/>
                  <a:pt x="19800" y="14352"/>
                </a:cubicBezTo>
                <a:cubicBezTo>
                  <a:pt x="20700" y="14352"/>
                  <a:pt x="21600" y="13627"/>
                  <a:pt x="21600" y="12612"/>
                </a:cubicBezTo>
                <a:cubicBezTo>
                  <a:pt x="21600" y="1885"/>
                  <a:pt x="21600" y="1885"/>
                  <a:pt x="21600" y="1885"/>
                </a:cubicBezTo>
                <a:cubicBezTo>
                  <a:pt x="21600" y="870"/>
                  <a:pt x="20700" y="0"/>
                  <a:pt x="19800" y="0"/>
                </a:cubicBezTo>
                <a:close/>
                <a:moveTo>
                  <a:pt x="20400" y="13192"/>
                </a:moveTo>
                <a:cubicBezTo>
                  <a:pt x="1200" y="13192"/>
                  <a:pt x="1200" y="13192"/>
                  <a:pt x="1200" y="13192"/>
                </a:cubicBezTo>
                <a:cubicBezTo>
                  <a:pt x="1200" y="1305"/>
                  <a:pt x="1200" y="1305"/>
                  <a:pt x="1200" y="1305"/>
                </a:cubicBezTo>
                <a:cubicBezTo>
                  <a:pt x="20400" y="1305"/>
                  <a:pt x="20400" y="1305"/>
                  <a:pt x="20400" y="1305"/>
                </a:cubicBezTo>
                <a:lnTo>
                  <a:pt x="20400" y="13192"/>
                </a:lnTo>
                <a:close/>
                <a:moveTo>
                  <a:pt x="14700" y="15511"/>
                </a:moveTo>
                <a:cubicBezTo>
                  <a:pt x="12300" y="15511"/>
                  <a:pt x="12300" y="15511"/>
                  <a:pt x="12300" y="15511"/>
                </a:cubicBezTo>
                <a:cubicBezTo>
                  <a:pt x="13350" y="17976"/>
                  <a:pt x="13350" y="17976"/>
                  <a:pt x="13350" y="17976"/>
                </a:cubicBezTo>
                <a:cubicBezTo>
                  <a:pt x="8850" y="17976"/>
                  <a:pt x="8850" y="17976"/>
                  <a:pt x="8850" y="17976"/>
                </a:cubicBezTo>
                <a:cubicBezTo>
                  <a:pt x="9900" y="15511"/>
                  <a:pt x="9900" y="15511"/>
                  <a:pt x="9900" y="15511"/>
                </a:cubicBezTo>
                <a:cubicBezTo>
                  <a:pt x="7500" y="15511"/>
                  <a:pt x="7500" y="15511"/>
                  <a:pt x="7500" y="15511"/>
                </a:cubicBezTo>
                <a:cubicBezTo>
                  <a:pt x="5250" y="20440"/>
                  <a:pt x="5250" y="20440"/>
                  <a:pt x="5250" y="20440"/>
                </a:cubicBezTo>
                <a:cubicBezTo>
                  <a:pt x="4950" y="21020"/>
                  <a:pt x="5250" y="21600"/>
                  <a:pt x="6000" y="21600"/>
                </a:cubicBezTo>
                <a:cubicBezTo>
                  <a:pt x="6600" y="21600"/>
                  <a:pt x="7500" y="21020"/>
                  <a:pt x="7650" y="20440"/>
                </a:cubicBezTo>
                <a:cubicBezTo>
                  <a:pt x="8250" y="19136"/>
                  <a:pt x="8250" y="19136"/>
                  <a:pt x="8250" y="19136"/>
                </a:cubicBezTo>
                <a:cubicBezTo>
                  <a:pt x="13950" y="19136"/>
                  <a:pt x="13950" y="19136"/>
                  <a:pt x="13950" y="19136"/>
                </a:cubicBezTo>
                <a:cubicBezTo>
                  <a:pt x="14550" y="20440"/>
                  <a:pt x="14550" y="20440"/>
                  <a:pt x="14550" y="20440"/>
                </a:cubicBezTo>
                <a:cubicBezTo>
                  <a:pt x="14700" y="21020"/>
                  <a:pt x="15600" y="21600"/>
                  <a:pt x="16200" y="21600"/>
                </a:cubicBezTo>
                <a:cubicBezTo>
                  <a:pt x="16950" y="21600"/>
                  <a:pt x="17250" y="21020"/>
                  <a:pt x="16950" y="20440"/>
                </a:cubicBezTo>
                <a:lnTo>
                  <a:pt x="14700" y="15511"/>
                </a:lnTo>
                <a:close/>
              </a:path>
            </a:pathLst>
          </a:custGeom>
          <a:solidFill>
            <a:srgbClr val="1E1E20"/>
          </a:solidFill>
          <a:ln w="12700" cap="flat">
            <a:noFill/>
            <a:miter lim="400000"/>
          </a:ln>
          <a:effectLst/>
        </p:spPr>
        <p:txBody>
          <a:bodyPr wrap="square" lIns="45720" tIns="45720" rIns="45720" bIns="45720" numCol="1" anchor="t">
            <a:noAutofit/>
          </a:bodyPr>
          <a:lstStyle/>
          <a:p>
            <a:endParaRPr sz="800"/>
          </a:p>
        </p:txBody>
      </p:sp>
      <p:sp>
        <p:nvSpPr>
          <p:cNvPr id="76" name="圆角矩形 40"/>
          <p:cNvSpPr/>
          <p:nvPr/>
        </p:nvSpPr>
        <p:spPr>
          <a:xfrm>
            <a:off x="6435725" y="1994162"/>
            <a:ext cx="4689475" cy="1672076"/>
          </a:xfrm>
          <a:prstGeom prst="roundRect">
            <a:avLst>
              <a:gd name="adj" fmla="val 7044"/>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p>
        </p:txBody>
      </p:sp>
      <p:sp>
        <p:nvSpPr>
          <p:cNvPr id="77" name="圆角矩形 41"/>
          <p:cNvSpPr/>
          <p:nvPr/>
        </p:nvSpPr>
        <p:spPr>
          <a:xfrm>
            <a:off x="6655157" y="1796459"/>
            <a:ext cx="1672075" cy="391129"/>
          </a:xfrm>
          <a:prstGeom prst="roundRect">
            <a:avLst>
              <a:gd name="adj" fmla="val 21083"/>
            </a:avLst>
          </a:prstGeom>
          <a:solidFill>
            <a:srgbClr val="FCFBF7"/>
          </a:solidFill>
          <a:ln w="19050">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56" name="文本框 55"/>
          <p:cNvSpPr txBox="1"/>
          <p:nvPr/>
        </p:nvSpPr>
        <p:spPr>
          <a:xfrm>
            <a:off x="6855226" y="1751618"/>
            <a:ext cx="1212042" cy="400264"/>
          </a:xfrm>
          <a:prstGeom prst="rect">
            <a:avLst/>
          </a:prstGeom>
          <a:noFill/>
        </p:spPr>
        <p:txBody>
          <a:bodyPr wrap="square" rtlCol="0">
            <a:spAutoFit/>
          </a:bodyPr>
          <a:lstStyle>
            <a:defPPr>
              <a:defRPr lang="zh-CN"/>
            </a:defPPr>
            <a:lvl1pPr algn="dist">
              <a:defRPr>
                <a:latin typeface="华文仿宋" panose="02010600040101010101" pitchFamily="2" charset="-122"/>
                <a:ea typeface="华文仿宋" panose="02010600040101010101" pitchFamily="2" charset="-122"/>
              </a:defRPr>
            </a:lvl1pPr>
          </a:lstStyle>
          <a:p>
            <a:pPr>
              <a:lnSpc>
                <a:spcPct val="150000"/>
              </a:lnSpc>
            </a:pPr>
            <a:r>
              <a:rPr lang="en-US" altLang="zh-CN" sz="1400" b="1" dirty="0">
                <a:latin typeface="胡晓波男神体" panose="02010600030101010101" pitchFamily="2" charset="-122"/>
                <a:ea typeface="胡晓波男神体" panose="02010600030101010101" pitchFamily="2" charset="-122"/>
                <a:cs typeface="胡晓波男神体" panose="02010600030101010101" pitchFamily="2" charset="-122"/>
              </a:rPr>
              <a:t>PART 02</a:t>
            </a:r>
            <a:endParaRPr lang="zh-CN" altLang="en-US" sz="1400" b="1" dirty="0">
              <a:latin typeface="胡晓波男神体" panose="02010600030101010101" pitchFamily="2" charset="-122"/>
              <a:ea typeface="胡晓波男神体" panose="02010600030101010101" pitchFamily="2" charset="-122"/>
              <a:cs typeface="胡晓波男神体" panose="02010600030101010101" pitchFamily="2" charset="-122"/>
            </a:endParaRPr>
          </a:p>
        </p:txBody>
      </p:sp>
      <p:sp>
        <p:nvSpPr>
          <p:cNvPr id="58" name="Freeform 11"/>
          <p:cNvSpPr/>
          <p:nvPr/>
        </p:nvSpPr>
        <p:spPr>
          <a:xfrm>
            <a:off x="6801536" y="2581664"/>
            <a:ext cx="714568" cy="655021"/>
          </a:xfrm>
          <a:custGeom>
            <a:avLst/>
            <a:gdLst/>
            <a:ahLst/>
            <a:cxnLst>
              <a:cxn ang="0">
                <a:pos x="wd2" y="hd2"/>
              </a:cxn>
              <a:cxn ang="5400000">
                <a:pos x="wd2" y="hd2"/>
              </a:cxn>
              <a:cxn ang="10800000">
                <a:pos x="wd2" y="hd2"/>
              </a:cxn>
              <a:cxn ang="16200000">
                <a:pos x="wd2" y="hd2"/>
              </a:cxn>
            </a:cxnLst>
            <a:rect l="0" t="0" r="r" b="b"/>
            <a:pathLst>
              <a:path w="21600" h="21600" extrusionOk="0">
                <a:moveTo>
                  <a:pt x="7727" y="16031"/>
                </a:moveTo>
                <a:cubicBezTo>
                  <a:pt x="7376" y="16031"/>
                  <a:pt x="7200" y="15863"/>
                  <a:pt x="7024" y="15694"/>
                </a:cubicBezTo>
                <a:cubicBezTo>
                  <a:pt x="6849" y="15525"/>
                  <a:pt x="6498" y="15019"/>
                  <a:pt x="6498" y="14681"/>
                </a:cubicBezTo>
                <a:cubicBezTo>
                  <a:pt x="4215" y="14681"/>
                  <a:pt x="4215" y="14681"/>
                  <a:pt x="4215" y="14681"/>
                </a:cubicBezTo>
                <a:cubicBezTo>
                  <a:pt x="4215" y="15356"/>
                  <a:pt x="4741" y="16031"/>
                  <a:pt x="4917" y="16369"/>
                </a:cubicBezTo>
                <a:cubicBezTo>
                  <a:pt x="5268" y="16706"/>
                  <a:pt x="5620" y="16875"/>
                  <a:pt x="5971" y="17044"/>
                </a:cubicBezTo>
                <a:cubicBezTo>
                  <a:pt x="6498" y="17213"/>
                  <a:pt x="7024" y="17381"/>
                  <a:pt x="7727" y="17381"/>
                </a:cubicBezTo>
                <a:cubicBezTo>
                  <a:pt x="8429" y="17381"/>
                  <a:pt x="9132" y="17213"/>
                  <a:pt x="9483" y="17044"/>
                </a:cubicBezTo>
                <a:cubicBezTo>
                  <a:pt x="10010" y="16706"/>
                  <a:pt x="10361" y="16538"/>
                  <a:pt x="10537" y="16031"/>
                </a:cubicBezTo>
                <a:cubicBezTo>
                  <a:pt x="10888" y="15525"/>
                  <a:pt x="10888" y="15188"/>
                  <a:pt x="10888" y="14681"/>
                </a:cubicBezTo>
                <a:cubicBezTo>
                  <a:pt x="10888" y="14344"/>
                  <a:pt x="10888" y="14006"/>
                  <a:pt x="10712" y="13669"/>
                </a:cubicBezTo>
                <a:cubicBezTo>
                  <a:pt x="10537" y="13500"/>
                  <a:pt x="10361" y="13163"/>
                  <a:pt x="10185" y="12994"/>
                </a:cubicBezTo>
                <a:cubicBezTo>
                  <a:pt x="10010" y="12994"/>
                  <a:pt x="9659" y="12825"/>
                  <a:pt x="9307" y="12825"/>
                </a:cubicBezTo>
                <a:cubicBezTo>
                  <a:pt x="9834" y="12656"/>
                  <a:pt x="10010" y="12319"/>
                  <a:pt x="10185" y="11981"/>
                </a:cubicBezTo>
                <a:cubicBezTo>
                  <a:pt x="10361" y="11813"/>
                  <a:pt x="10537" y="11475"/>
                  <a:pt x="10537" y="11138"/>
                </a:cubicBezTo>
                <a:cubicBezTo>
                  <a:pt x="10537" y="10463"/>
                  <a:pt x="10361" y="9956"/>
                  <a:pt x="9834" y="9619"/>
                </a:cubicBezTo>
                <a:cubicBezTo>
                  <a:pt x="9307" y="9281"/>
                  <a:pt x="8605" y="9113"/>
                  <a:pt x="7551" y="9113"/>
                </a:cubicBezTo>
                <a:cubicBezTo>
                  <a:pt x="6673" y="9113"/>
                  <a:pt x="5971" y="9281"/>
                  <a:pt x="5444" y="9619"/>
                </a:cubicBezTo>
                <a:cubicBezTo>
                  <a:pt x="4917" y="9956"/>
                  <a:pt x="4390" y="10463"/>
                  <a:pt x="4215" y="11138"/>
                </a:cubicBezTo>
                <a:cubicBezTo>
                  <a:pt x="6498" y="11138"/>
                  <a:pt x="6498" y="11138"/>
                  <a:pt x="6498" y="11138"/>
                </a:cubicBezTo>
                <a:cubicBezTo>
                  <a:pt x="6498" y="10800"/>
                  <a:pt x="7200" y="10463"/>
                  <a:pt x="7551" y="10463"/>
                </a:cubicBezTo>
                <a:cubicBezTo>
                  <a:pt x="7727" y="10463"/>
                  <a:pt x="7902" y="10463"/>
                  <a:pt x="8078" y="10631"/>
                </a:cubicBezTo>
                <a:cubicBezTo>
                  <a:pt x="8254" y="10800"/>
                  <a:pt x="8429" y="10969"/>
                  <a:pt x="8429" y="11306"/>
                </a:cubicBezTo>
                <a:cubicBezTo>
                  <a:pt x="8429" y="11475"/>
                  <a:pt x="8254" y="11644"/>
                  <a:pt x="8078" y="11981"/>
                </a:cubicBezTo>
                <a:cubicBezTo>
                  <a:pt x="7551" y="12319"/>
                  <a:pt x="7200" y="12319"/>
                  <a:pt x="7200" y="12319"/>
                </a:cubicBezTo>
                <a:cubicBezTo>
                  <a:pt x="7200" y="13669"/>
                  <a:pt x="7200" y="13669"/>
                  <a:pt x="7200" y="13669"/>
                </a:cubicBezTo>
                <a:cubicBezTo>
                  <a:pt x="7551" y="13669"/>
                  <a:pt x="7551" y="13669"/>
                  <a:pt x="7551" y="13669"/>
                </a:cubicBezTo>
                <a:cubicBezTo>
                  <a:pt x="7902" y="13669"/>
                  <a:pt x="8254" y="13669"/>
                  <a:pt x="8429" y="14006"/>
                </a:cubicBezTo>
                <a:cubicBezTo>
                  <a:pt x="8605" y="14175"/>
                  <a:pt x="8780" y="14344"/>
                  <a:pt x="8780" y="14850"/>
                </a:cubicBezTo>
                <a:cubicBezTo>
                  <a:pt x="8780" y="15188"/>
                  <a:pt x="8605" y="15525"/>
                  <a:pt x="8429" y="15694"/>
                </a:cubicBezTo>
                <a:cubicBezTo>
                  <a:pt x="8254" y="15863"/>
                  <a:pt x="7902" y="16031"/>
                  <a:pt x="7727" y="16031"/>
                </a:cubicBezTo>
                <a:close/>
                <a:moveTo>
                  <a:pt x="14400" y="17381"/>
                </a:moveTo>
                <a:cubicBezTo>
                  <a:pt x="16507" y="17381"/>
                  <a:pt x="16507" y="17381"/>
                  <a:pt x="16507" y="17381"/>
                </a:cubicBezTo>
                <a:cubicBezTo>
                  <a:pt x="16507" y="9113"/>
                  <a:pt x="16507" y="9113"/>
                  <a:pt x="16507" y="9113"/>
                </a:cubicBezTo>
                <a:cubicBezTo>
                  <a:pt x="14751" y="9113"/>
                  <a:pt x="14751" y="9113"/>
                  <a:pt x="14751" y="9113"/>
                </a:cubicBezTo>
                <a:cubicBezTo>
                  <a:pt x="14224" y="10125"/>
                  <a:pt x="13698" y="10800"/>
                  <a:pt x="12293" y="11138"/>
                </a:cubicBezTo>
                <a:cubicBezTo>
                  <a:pt x="12293" y="12994"/>
                  <a:pt x="12293" y="12994"/>
                  <a:pt x="12293" y="12994"/>
                </a:cubicBezTo>
                <a:cubicBezTo>
                  <a:pt x="13171" y="12825"/>
                  <a:pt x="13698" y="12488"/>
                  <a:pt x="14400" y="11813"/>
                </a:cubicBezTo>
                <a:lnTo>
                  <a:pt x="14400" y="17381"/>
                </a:lnTo>
                <a:close/>
                <a:moveTo>
                  <a:pt x="20898" y="1350"/>
                </a:moveTo>
                <a:cubicBezTo>
                  <a:pt x="19493" y="1350"/>
                  <a:pt x="19493" y="1350"/>
                  <a:pt x="19493" y="1350"/>
                </a:cubicBezTo>
                <a:cubicBezTo>
                  <a:pt x="19493" y="3713"/>
                  <a:pt x="19493" y="3713"/>
                  <a:pt x="19493" y="3713"/>
                </a:cubicBezTo>
                <a:cubicBezTo>
                  <a:pt x="19844" y="3881"/>
                  <a:pt x="20195" y="4219"/>
                  <a:pt x="20195" y="4556"/>
                </a:cubicBezTo>
                <a:cubicBezTo>
                  <a:pt x="20195" y="5063"/>
                  <a:pt x="19317" y="5569"/>
                  <a:pt x="18439" y="5569"/>
                </a:cubicBezTo>
                <a:cubicBezTo>
                  <a:pt x="17385" y="5569"/>
                  <a:pt x="16507" y="5063"/>
                  <a:pt x="16507" y="4556"/>
                </a:cubicBezTo>
                <a:cubicBezTo>
                  <a:pt x="16507" y="4388"/>
                  <a:pt x="16683" y="4219"/>
                  <a:pt x="16683" y="4219"/>
                </a:cubicBezTo>
                <a:cubicBezTo>
                  <a:pt x="18790" y="4219"/>
                  <a:pt x="18790" y="4219"/>
                  <a:pt x="18790" y="4219"/>
                </a:cubicBezTo>
                <a:cubicBezTo>
                  <a:pt x="18790" y="0"/>
                  <a:pt x="18790" y="0"/>
                  <a:pt x="18790" y="0"/>
                </a:cubicBezTo>
                <a:cubicBezTo>
                  <a:pt x="16507" y="0"/>
                  <a:pt x="16507" y="0"/>
                  <a:pt x="16507" y="0"/>
                </a:cubicBezTo>
                <a:cubicBezTo>
                  <a:pt x="16507" y="1350"/>
                  <a:pt x="16507" y="1350"/>
                  <a:pt x="16507" y="1350"/>
                </a:cubicBezTo>
                <a:cubicBezTo>
                  <a:pt x="14400" y="1350"/>
                  <a:pt x="14400" y="1350"/>
                  <a:pt x="14400" y="1350"/>
                </a:cubicBezTo>
                <a:cubicBezTo>
                  <a:pt x="14400" y="3713"/>
                  <a:pt x="14400" y="3713"/>
                  <a:pt x="14400" y="3713"/>
                </a:cubicBezTo>
                <a:cubicBezTo>
                  <a:pt x="14751" y="3881"/>
                  <a:pt x="15102" y="4219"/>
                  <a:pt x="15102" y="4556"/>
                </a:cubicBezTo>
                <a:cubicBezTo>
                  <a:pt x="15102" y="5063"/>
                  <a:pt x="14400" y="5569"/>
                  <a:pt x="13346" y="5569"/>
                </a:cubicBezTo>
                <a:cubicBezTo>
                  <a:pt x="12293" y="5569"/>
                  <a:pt x="11590" y="5063"/>
                  <a:pt x="11590" y="4556"/>
                </a:cubicBezTo>
                <a:cubicBezTo>
                  <a:pt x="11590" y="4388"/>
                  <a:pt x="11590" y="4219"/>
                  <a:pt x="11590" y="4219"/>
                </a:cubicBezTo>
                <a:cubicBezTo>
                  <a:pt x="13698" y="4219"/>
                  <a:pt x="13698" y="4219"/>
                  <a:pt x="13698" y="4219"/>
                </a:cubicBezTo>
                <a:cubicBezTo>
                  <a:pt x="13698" y="0"/>
                  <a:pt x="13698" y="0"/>
                  <a:pt x="13698" y="0"/>
                </a:cubicBezTo>
                <a:cubicBezTo>
                  <a:pt x="11590" y="0"/>
                  <a:pt x="11590" y="0"/>
                  <a:pt x="11590" y="0"/>
                </a:cubicBezTo>
                <a:cubicBezTo>
                  <a:pt x="11590" y="1350"/>
                  <a:pt x="11590" y="1350"/>
                  <a:pt x="11590" y="1350"/>
                </a:cubicBezTo>
                <a:cubicBezTo>
                  <a:pt x="9307" y="1350"/>
                  <a:pt x="9307" y="1350"/>
                  <a:pt x="9307" y="1350"/>
                </a:cubicBezTo>
                <a:cubicBezTo>
                  <a:pt x="9307" y="3713"/>
                  <a:pt x="9307" y="3713"/>
                  <a:pt x="9307" y="3713"/>
                </a:cubicBezTo>
                <a:cubicBezTo>
                  <a:pt x="9834" y="3881"/>
                  <a:pt x="10010" y="4219"/>
                  <a:pt x="10010" y="4556"/>
                </a:cubicBezTo>
                <a:cubicBezTo>
                  <a:pt x="10010" y="5063"/>
                  <a:pt x="9307" y="5569"/>
                  <a:pt x="8254" y="5569"/>
                </a:cubicBezTo>
                <a:cubicBezTo>
                  <a:pt x="7200" y="5569"/>
                  <a:pt x="6498" y="5063"/>
                  <a:pt x="6498" y="4556"/>
                </a:cubicBezTo>
                <a:cubicBezTo>
                  <a:pt x="6498" y="4388"/>
                  <a:pt x="6498" y="4219"/>
                  <a:pt x="6498" y="4219"/>
                </a:cubicBezTo>
                <a:cubicBezTo>
                  <a:pt x="8605" y="4219"/>
                  <a:pt x="8605" y="4219"/>
                  <a:pt x="8605" y="4219"/>
                </a:cubicBezTo>
                <a:cubicBezTo>
                  <a:pt x="8605" y="0"/>
                  <a:pt x="8605" y="0"/>
                  <a:pt x="8605" y="0"/>
                </a:cubicBezTo>
                <a:cubicBezTo>
                  <a:pt x="6498" y="0"/>
                  <a:pt x="6498" y="0"/>
                  <a:pt x="6498" y="0"/>
                </a:cubicBezTo>
                <a:cubicBezTo>
                  <a:pt x="6498" y="1350"/>
                  <a:pt x="6498" y="1350"/>
                  <a:pt x="6498" y="1350"/>
                </a:cubicBezTo>
                <a:cubicBezTo>
                  <a:pt x="4215" y="1350"/>
                  <a:pt x="4215" y="1350"/>
                  <a:pt x="4215" y="1350"/>
                </a:cubicBezTo>
                <a:cubicBezTo>
                  <a:pt x="4215" y="3713"/>
                  <a:pt x="4215" y="3713"/>
                  <a:pt x="4215" y="3713"/>
                </a:cubicBezTo>
                <a:cubicBezTo>
                  <a:pt x="4741" y="3881"/>
                  <a:pt x="5093" y="4219"/>
                  <a:pt x="5093" y="4556"/>
                </a:cubicBezTo>
                <a:cubicBezTo>
                  <a:pt x="5093" y="5063"/>
                  <a:pt x="4215" y="5569"/>
                  <a:pt x="3161" y="5569"/>
                </a:cubicBezTo>
                <a:cubicBezTo>
                  <a:pt x="2283" y="5569"/>
                  <a:pt x="1405" y="5063"/>
                  <a:pt x="1405" y="4556"/>
                </a:cubicBezTo>
                <a:cubicBezTo>
                  <a:pt x="1405" y="4388"/>
                  <a:pt x="1405" y="4219"/>
                  <a:pt x="1580" y="4219"/>
                </a:cubicBezTo>
                <a:cubicBezTo>
                  <a:pt x="3512" y="4219"/>
                  <a:pt x="3512" y="4219"/>
                  <a:pt x="3512" y="4219"/>
                </a:cubicBezTo>
                <a:cubicBezTo>
                  <a:pt x="3512" y="0"/>
                  <a:pt x="3512" y="0"/>
                  <a:pt x="3512" y="0"/>
                </a:cubicBezTo>
                <a:cubicBezTo>
                  <a:pt x="1405" y="0"/>
                  <a:pt x="1405" y="0"/>
                  <a:pt x="1405" y="0"/>
                </a:cubicBezTo>
                <a:cubicBezTo>
                  <a:pt x="1405" y="1350"/>
                  <a:pt x="1405" y="1350"/>
                  <a:pt x="1405" y="1350"/>
                </a:cubicBezTo>
                <a:cubicBezTo>
                  <a:pt x="702" y="1350"/>
                  <a:pt x="702" y="1350"/>
                  <a:pt x="702" y="1350"/>
                </a:cubicBezTo>
                <a:cubicBezTo>
                  <a:pt x="351" y="1350"/>
                  <a:pt x="0" y="1687"/>
                  <a:pt x="0" y="2025"/>
                </a:cubicBezTo>
                <a:cubicBezTo>
                  <a:pt x="0" y="20925"/>
                  <a:pt x="0" y="20925"/>
                  <a:pt x="0" y="20925"/>
                </a:cubicBezTo>
                <a:cubicBezTo>
                  <a:pt x="0" y="21263"/>
                  <a:pt x="351" y="21600"/>
                  <a:pt x="702" y="21600"/>
                </a:cubicBezTo>
                <a:cubicBezTo>
                  <a:pt x="20898" y="21600"/>
                  <a:pt x="20898" y="21600"/>
                  <a:pt x="20898" y="21600"/>
                </a:cubicBezTo>
                <a:cubicBezTo>
                  <a:pt x="21249" y="21600"/>
                  <a:pt x="21600" y="21263"/>
                  <a:pt x="21600" y="20925"/>
                </a:cubicBezTo>
                <a:cubicBezTo>
                  <a:pt x="21600" y="2025"/>
                  <a:pt x="21600" y="2025"/>
                  <a:pt x="21600" y="2025"/>
                </a:cubicBezTo>
                <a:cubicBezTo>
                  <a:pt x="21600" y="1687"/>
                  <a:pt x="21249" y="1350"/>
                  <a:pt x="20898" y="1350"/>
                </a:cubicBezTo>
                <a:close/>
                <a:moveTo>
                  <a:pt x="20195" y="20081"/>
                </a:moveTo>
                <a:cubicBezTo>
                  <a:pt x="1405" y="20081"/>
                  <a:pt x="1405" y="20081"/>
                  <a:pt x="1405" y="20081"/>
                </a:cubicBezTo>
                <a:cubicBezTo>
                  <a:pt x="1405" y="6244"/>
                  <a:pt x="1405" y="6244"/>
                  <a:pt x="1405" y="6244"/>
                </a:cubicBezTo>
                <a:cubicBezTo>
                  <a:pt x="20195" y="6244"/>
                  <a:pt x="20195" y="6244"/>
                  <a:pt x="20195" y="6244"/>
                </a:cubicBezTo>
                <a:lnTo>
                  <a:pt x="20195" y="20081"/>
                </a:lnTo>
                <a:close/>
              </a:path>
            </a:pathLst>
          </a:custGeom>
          <a:solidFill>
            <a:srgbClr val="1E1E20"/>
          </a:solidFill>
          <a:ln w="12700" cap="flat">
            <a:noFill/>
            <a:miter lim="400000"/>
          </a:ln>
          <a:effectLst/>
        </p:spPr>
        <p:txBody>
          <a:bodyPr wrap="square" lIns="45720" tIns="45720" rIns="45720" bIns="45720" numCol="1" anchor="t">
            <a:noAutofit/>
          </a:bodyPr>
          <a:lstStyle/>
          <a:p>
            <a:endParaRPr sz="800"/>
          </a:p>
        </p:txBody>
      </p:sp>
      <p:grpSp>
        <p:nvGrpSpPr>
          <p:cNvPr id="41" name="组合 40"/>
          <p:cNvGrpSpPr/>
          <p:nvPr/>
        </p:nvGrpSpPr>
        <p:grpSpPr>
          <a:xfrm>
            <a:off x="2463112" y="2420753"/>
            <a:ext cx="3009484" cy="945795"/>
            <a:chOff x="7367646" y="2023825"/>
            <a:chExt cx="3009484" cy="945795"/>
          </a:xfrm>
        </p:grpSpPr>
        <p:sp>
          <p:nvSpPr>
            <p:cNvPr id="42" name="文本框 41"/>
            <p:cNvSpPr txBox="1"/>
            <p:nvPr/>
          </p:nvSpPr>
          <p:spPr>
            <a:xfrm>
              <a:off x="7367646" y="2023825"/>
              <a:ext cx="2870835" cy="368300"/>
            </a:xfrm>
            <a:prstGeom prst="rect">
              <a:avLst/>
            </a:prstGeom>
            <a:noFill/>
          </p:spPr>
          <p:txBody>
            <a:bodyPr wrap="square" rtlCol="0">
              <a:spAutoFit/>
            </a:bodyPr>
            <a:lstStyle>
              <a:defPPr>
                <a:defRPr lang="zh-CN"/>
              </a:defPPr>
              <a:lvl1pPr>
                <a:defRPr>
                  <a:latin typeface="Noto Sans S Chinese Regular" panose="020B0500000000000000" pitchFamily="34" charset="-122"/>
                  <a:ea typeface="Noto Sans S Chinese Regular" panose="020B0500000000000000" pitchFamily="34" charset="-122"/>
                  <a:cs typeface="文泉驿等宽微米黑" panose="020B0606030804020204" pitchFamily="34" charset="-122"/>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zh-CN" dirty="0"/>
                <a:t>使用</a:t>
              </a:r>
              <a:r>
                <a:rPr lang="en-US" altLang="zh-CN" dirty="0"/>
                <a:t>26</a:t>
              </a:r>
              <a:r>
                <a:rPr lang="zh-CN" altLang="en-US" dirty="0"/>
                <a:t>点</a:t>
              </a:r>
              <a:r>
                <a:rPr lang="zh-CN" altLang="zh-CN" dirty="0"/>
                <a:t>小地图测试</a:t>
              </a:r>
              <a:endParaRPr lang="zh-CN" altLang="zh-CN" dirty="0"/>
            </a:p>
          </p:txBody>
        </p:sp>
        <p:sp>
          <p:nvSpPr>
            <p:cNvPr id="43" name="文本框 42"/>
            <p:cNvSpPr txBox="1"/>
            <p:nvPr/>
          </p:nvSpPr>
          <p:spPr>
            <a:xfrm>
              <a:off x="7380347" y="2324460"/>
              <a:ext cx="2996783" cy="645160"/>
            </a:xfrm>
            <a:prstGeom prst="rect">
              <a:avLst/>
            </a:prstGeom>
            <a:noFill/>
          </p:spPr>
          <p:txBody>
            <a:bodyPr wrap="square" rtlCol="0">
              <a:spAutoFit/>
            </a:bodyPr>
            <a:lstStyle>
              <a:defPPr>
                <a:defRPr lang="zh-CN"/>
              </a:defPPr>
              <a:lvl1pPr>
                <a:lnSpc>
                  <a:spcPct val="150000"/>
                </a:lnSpc>
                <a:defRPr sz="1200">
                  <a:latin typeface="Noto Sans S Chinese Regular" panose="020B0500000000000000" pitchFamily="34" charset="-122"/>
                  <a:ea typeface="Noto Sans S Chinese Regular" panose="020B0500000000000000" pitchFamily="34" charset="-122"/>
                  <a:cs typeface="文泉驿等宽微米黑" panose="020B0606030804020204" pitchFamily="34" charset="-122"/>
                </a:defRPr>
              </a:lvl1pPr>
            </a:lstStyle>
            <a:p>
              <a:r>
                <a:rPr lang="zh-CN" altLang="en-US" dirty="0"/>
                <a:t>测试各个优化在小范围地图上的稳定性，和路径规划的效率</a:t>
              </a:r>
              <a:r>
                <a:rPr lang="zh-CN" altLang="en-US" dirty="0"/>
                <a:t>变化</a:t>
              </a:r>
              <a:endParaRPr lang="zh-CN" altLang="en-US" dirty="0"/>
            </a:p>
          </p:txBody>
        </p:sp>
      </p:grpSp>
      <p:grpSp>
        <p:nvGrpSpPr>
          <p:cNvPr id="45" name="组合 44"/>
          <p:cNvGrpSpPr/>
          <p:nvPr/>
        </p:nvGrpSpPr>
        <p:grpSpPr>
          <a:xfrm>
            <a:off x="7815910" y="2420753"/>
            <a:ext cx="3172460" cy="945795"/>
            <a:chOff x="7367646" y="2023825"/>
            <a:chExt cx="3172460" cy="945795"/>
          </a:xfrm>
        </p:grpSpPr>
        <p:sp>
          <p:nvSpPr>
            <p:cNvPr id="46" name="文本框 45"/>
            <p:cNvSpPr txBox="1"/>
            <p:nvPr/>
          </p:nvSpPr>
          <p:spPr>
            <a:xfrm>
              <a:off x="7367646" y="2023825"/>
              <a:ext cx="3172460" cy="368300"/>
            </a:xfrm>
            <a:prstGeom prst="rect">
              <a:avLst/>
            </a:prstGeom>
            <a:noFill/>
          </p:spPr>
          <p:txBody>
            <a:bodyPr wrap="square" rtlCol="0">
              <a:spAutoFit/>
            </a:bodyPr>
            <a:lstStyle>
              <a:defPPr>
                <a:defRPr lang="zh-CN"/>
              </a:defPPr>
              <a:lvl1pPr>
                <a:defRPr>
                  <a:latin typeface="Noto Sans S Chinese Regular" panose="020B0500000000000000" pitchFamily="34" charset="-122"/>
                  <a:ea typeface="Noto Sans S Chinese Regular" panose="020B0500000000000000" pitchFamily="34" charset="-122"/>
                  <a:cs typeface="文泉驿等宽微米黑" panose="020B0606030804020204" pitchFamily="34" charset="-122"/>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dirty="0"/>
                <a:t>使用</a:t>
              </a:r>
              <a:r>
                <a:rPr lang="en-US" altLang="zh-CN" dirty="0"/>
                <a:t>50</a:t>
              </a:r>
              <a:r>
                <a:rPr lang="zh-CN" altLang="en-US" dirty="0"/>
                <a:t>点大地图</a:t>
              </a:r>
              <a:r>
                <a:rPr lang="zh-CN" altLang="en-US" dirty="0"/>
                <a:t>测试</a:t>
              </a:r>
              <a:endParaRPr lang="zh-CN" altLang="en-US" dirty="0"/>
            </a:p>
          </p:txBody>
        </p:sp>
        <p:sp>
          <p:nvSpPr>
            <p:cNvPr id="47" name="文本框 46"/>
            <p:cNvSpPr txBox="1"/>
            <p:nvPr/>
          </p:nvSpPr>
          <p:spPr>
            <a:xfrm>
              <a:off x="7380347" y="2324460"/>
              <a:ext cx="2996783" cy="645160"/>
            </a:xfrm>
            <a:prstGeom prst="rect">
              <a:avLst/>
            </a:prstGeom>
            <a:noFill/>
          </p:spPr>
          <p:txBody>
            <a:bodyPr wrap="square" rtlCol="0">
              <a:spAutoFit/>
            </a:bodyPr>
            <a:lstStyle>
              <a:defPPr>
                <a:defRPr lang="zh-CN"/>
              </a:defPPr>
              <a:lvl1pPr>
                <a:lnSpc>
                  <a:spcPct val="150000"/>
                </a:lnSpc>
                <a:defRPr sz="1200">
                  <a:latin typeface="Noto Sans S Chinese Regular" panose="020B0500000000000000" pitchFamily="34" charset="-122"/>
                  <a:ea typeface="Noto Sans S Chinese Regular" panose="020B0500000000000000" pitchFamily="34" charset="-122"/>
                  <a:cs typeface="文泉驿等宽微米黑" panose="020B0606030804020204" pitchFamily="34" charset="-122"/>
                </a:defRPr>
              </a:lvl1pPr>
            </a:lstStyle>
            <a:p>
              <a:r>
                <a:rPr lang="zh-CN" altLang="en-US" dirty="0"/>
                <a:t>测试各个优化在大范围地图上的稳定性，和路径规划的效率</a:t>
              </a:r>
              <a:r>
                <a:rPr lang="zh-CN" altLang="en-US" dirty="0"/>
                <a:t>变化</a:t>
              </a:r>
              <a:endParaRPr lang="zh-CN" altLang="en-US" dirty="0"/>
            </a:p>
          </p:txBody>
        </p:sp>
      </p:grpSp>
      <p:grpSp>
        <p:nvGrpSpPr>
          <p:cNvPr id="48" name="组合 47"/>
          <p:cNvGrpSpPr/>
          <p:nvPr/>
        </p:nvGrpSpPr>
        <p:grpSpPr>
          <a:xfrm>
            <a:off x="2463112" y="4600906"/>
            <a:ext cx="3120390" cy="945795"/>
            <a:chOff x="7367646" y="2023825"/>
            <a:chExt cx="3120390" cy="945795"/>
          </a:xfrm>
        </p:grpSpPr>
        <p:sp>
          <p:nvSpPr>
            <p:cNvPr id="49" name="文本框 48"/>
            <p:cNvSpPr txBox="1"/>
            <p:nvPr/>
          </p:nvSpPr>
          <p:spPr>
            <a:xfrm>
              <a:off x="7367646" y="2023825"/>
              <a:ext cx="3120390" cy="368300"/>
            </a:xfrm>
            <a:prstGeom prst="rect">
              <a:avLst/>
            </a:prstGeom>
            <a:noFill/>
          </p:spPr>
          <p:txBody>
            <a:bodyPr wrap="square" rtlCol="0">
              <a:spAutoFit/>
            </a:bodyPr>
            <a:lstStyle>
              <a:defPPr>
                <a:defRPr lang="zh-CN"/>
              </a:defPPr>
              <a:lvl1pPr>
                <a:defRPr>
                  <a:latin typeface="Noto Sans S Chinese Regular" panose="020B0500000000000000" pitchFamily="34" charset="-122"/>
                  <a:ea typeface="Noto Sans S Chinese Regular" panose="020B0500000000000000" pitchFamily="34" charset="-122"/>
                  <a:cs typeface="文泉驿等宽微米黑" panose="020B0606030804020204" pitchFamily="34" charset="-122"/>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dirty="0"/>
                <a:t>重复次数提升测试</a:t>
              </a:r>
              <a:endParaRPr lang="zh-CN" altLang="en-US" dirty="0"/>
            </a:p>
          </p:txBody>
        </p:sp>
        <p:sp>
          <p:nvSpPr>
            <p:cNvPr id="85" name="文本框 84"/>
            <p:cNvSpPr txBox="1"/>
            <p:nvPr/>
          </p:nvSpPr>
          <p:spPr>
            <a:xfrm>
              <a:off x="7380347" y="2324460"/>
              <a:ext cx="2996783" cy="645160"/>
            </a:xfrm>
            <a:prstGeom prst="rect">
              <a:avLst/>
            </a:prstGeom>
            <a:noFill/>
          </p:spPr>
          <p:txBody>
            <a:bodyPr wrap="square" rtlCol="0">
              <a:spAutoFit/>
            </a:bodyPr>
            <a:lstStyle>
              <a:defPPr>
                <a:defRPr lang="zh-CN"/>
              </a:defPPr>
              <a:lvl1pPr>
                <a:lnSpc>
                  <a:spcPct val="150000"/>
                </a:lnSpc>
                <a:defRPr sz="1200">
                  <a:latin typeface="Noto Sans S Chinese Regular" panose="020B0500000000000000" pitchFamily="34" charset="-122"/>
                  <a:ea typeface="Noto Sans S Chinese Regular" panose="020B0500000000000000" pitchFamily="34" charset="-122"/>
                  <a:cs typeface="文泉驿等宽微米黑" panose="020B0606030804020204" pitchFamily="34" charset="-122"/>
                </a:defRPr>
              </a:lvl1pPr>
            </a:lstStyle>
            <a:p>
              <a:r>
                <a:rPr lang="zh-CN" altLang="en-US" dirty="0"/>
                <a:t>随着重复次数的提升，路径规划结果和时间的</a:t>
              </a:r>
              <a:r>
                <a:rPr lang="zh-CN" altLang="en-US" dirty="0"/>
                <a:t>变化</a:t>
              </a:r>
              <a:endParaRPr lang="zh-CN" altLang="en-US" dirty="0"/>
            </a:p>
          </p:txBody>
        </p:sp>
      </p:grpSp>
      <p:sp>
        <p:nvSpPr>
          <p:cNvPr id="3" name="文本框 2"/>
          <p:cNvSpPr txBox="1"/>
          <p:nvPr/>
        </p:nvSpPr>
        <p:spPr>
          <a:xfrm>
            <a:off x="4615543" y="606026"/>
            <a:ext cx="2960914" cy="460375"/>
          </a:xfrm>
          <a:prstGeom prst="rect">
            <a:avLst/>
          </a:prstGeom>
          <a:noFill/>
        </p:spPr>
        <p:txBody>
          <a:bodyPr wrap="square" rtlCol="0">
            <a:spAutoFit/>
          </a:bodyPr>
          <a:lstStyle>
            <a:defPPr>
              <a:defRPr lang="zh-CN"/>
            </a:defPPr>
            <a:lvl1pPr algn="ctr">
              <a:defRPr sz="5400">
                <a:latin typeface="汉仪大宋简" panose="02010600000101010101" pitchFamily="49" charset="-122"/>
                <a:ea typeface="汉仪大宋简" panose="02010600000101010101" pitchFamily="49" charset="-122"/>
              </a:defRPr>
            </a:lvl1pPr>
          </a:lstStyle>
          <a:p>
            <a:r>
              <a:rPr lang="zh-CN" altLang="en-US" sz="2400" dirty="0">
                <a:sym typeface="+mn-ea"/>
              </a:rPr>
              <a:t>研究结论与安排</a:t>
            </a:r>
            <a:endParaRPr lang="zh-CN" altLang="en-US" sz="2400" dirty="0"/>
          </a:p>
        </p:txBody>
      </p:sp>
    </p:spTree>
  </p:cSld>
  <p:clrMapOvr>
    <a:masterClrMapping/>
  </p:clrMapOvr>
  <mc:AlternateContent xmlns:mc="http://schemas.openxmlformats.org/markup-compatibility/2006">
    <mc:Choice xmlns:p14="http://schemas.microsoft.com/office/powerpoint/2010/main" Requires="p14">
      <p:transition p14:dur="500">
        <p:push dir="u"/>
      </p:transition>
    </mc:Choice>
    <mc:Fallback>
      <p:transition>
        <p:push dir="u"/>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6" name="组合 55"/>
          <p:cNvGrpSpPr/>
          <p:nvPr/>
        </p:nvGrpSpPr>
        <p:grpSpPr>
          <a:xfrm>
            <a:off x="0" y="0"/>
            <a:ext cx="12192000" cy="6858000"/>
            <a:chOff x="0" y="0"/>
            <a:chExt cx="12192000" cy="6858000"/>
          </a:xfrm>
        </p:grpSpPr>
        <p:pic>
          <p:nvPicPr>
            <p:cNvPr id="57" name="图片 56" descr="图片包含 形状&#10;&#10;描述已自动生成"/>
            <p:cNvPicPr>
              <a:picLocks noChangeAspect="1"/>
            </p:cNvPicPr>
            <p:nvPr/>
          </p:nvPicPr>
          <p:blipFill>
            <a:blip r:embed="rId1">
              <a:extLst>
                <a:ext uri="{28A0092B-C50C-407E-A947-70E740481C1C}">
                  <a14:useLocalDpi xmlns:a14="http://schemas.microsoft.com/office/drawing/2010/main" val="0"/>
                </a:ext>
              </a:extLst>
            </a:blip>
            <a:srcRect l="1641" t="2291" b="2559"/>
            <a:stretch>
              <a:fillRect/>
            </a:stretch>
          </p:blipFill>
          <p:spPr>
            <a:xfrm>
              <a:off x="0" y="0"/>
              <a:ext cx="9893301" cy="6858000"/>
            </a:xfrm>
            <a:custGeom>
              <a:avLst/>
              <a:gdLst>
                <a:gd name="connsiteX0" fmla="*/ 0 w 9893301"/>
                <a:gd name="connsiteY0" fmla="*/ 0 h 6858000"/>
                <a:gd name="connsiteX1" fmla="*/ 9893301 w 9893301"/>
                <a:gd name="connsiteY1" fmla="*/ 0 h 6858000"/>
                <a:gd name="connsiteX2" fmla="*/ 9893301 w 9893301"/>
                <a:gd name="connsiteY2" fmla="*/ 6858000 h 6858000"/>
                <a:gd name="connsiteX3" fmla="*/ 0 w 989330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9893301" h="6858000">
                  <a:moveTo>
                    <a:pt x="0" y="0"/>
                  </a:moveTo>
                  <a:lnTo>
                    <a:pt x="9893301" y="0"/>
                  </a:lnTo>
                  <a:lnTo>
                    <a:pt x="9893301" y="6858000"/>
                  </a:lnTo>
                  <a:lnTo>
                    <a:pt x="0" y="6858000"/>
                  </a:lnTo>
                  <a:close/>
                </a:path>
              </a:pathLst>
            </a:custGeom>
          </p:spPr>
        </p:pic>
        <p:pic>
          <p:nvPicPr>
            <p:cNvPr id="58" name="图片 57" descr="图片包含 形状&#10;&#10;描述已自动生成"/>
            <p:cNvPicPr>
              <a:picLocks noChangeAspect="1"/>
            </p:cNvPicPr>
            <p:nvPr/>
          </p:nvPicPr>
          <p:blipFill>
            <a:blip r:embed="rId1">
              <a:extLst>
                <a:ext uri="{28A0092B-C50C-407E-A947-70E740481C1C}">
                  <a14:useLocalDpi xmlns:a14="http://schemas.microsoft.com/office/drawing/2010/main" val="0"/>
                </a:ext>
              </a:extLst>
            </a:blip>
            <a:srcRect l="40278" t="2291" r="1768" b="2559"/>
            <a:stretch>
              <a:fillRect/>
            </a:stretch>
          </p:blipFill>
          <p:spPr>
            <a:xfrm>
              <a:off x="6362700" y="0"/>
              <a:ext cx="5829300" cy="6858000"/>
            </a:xfrm>
            <a:custGeom>
              <a:avLst/>
              <a:gdLst>
                <a:gd name="connsiteX0" fmla="*/ 0 w 5829300"/>
                <a:gd name="connsiteY0" fmla="*/ 0 h 6858000"/>
                <a:gd name="connsiteX1" fmla="*/ 5829300 w 5829300"/>
                <a:gd name="connsiteY1" fmla="*/ 0 h 6858000"/>
                <a:gd name="connsiteX2" fmla="*/ 5829300 w 5829300"/>
                <a:gd name="connsiteY2" fmla="*/ 6858000 h 6858000"/>
                <a:gd name="connsiteX3" fmla="*/ 0 w 58293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829300" h="6858000">
                  <a:moveTo>
                    <a:pt x="0" y="0"/>
                  </a:moveTo>
                  <a:lnTo>
                    <a:pt x="5829300" y="0"/>
                  </a:lnTo>
                  <a:lnTo>
                    <a:pt x="5829300" y="6858000"/>
                  </a:lnTo>
                  <a:lnTo>
                    <a:pt x="0" y="6858000"/>
                  </a:lnTo>
                  <a:close/>
                </a:path>
              </a:pathLst>
            </a:custGeom>
          </p:spPr>
        </p:pic>
      </p:grpSp>
      <p:sp>
        <p:nvSpPr>
          <p:cNvPr id="21" name="文本框 20"/>
          <p:cNvSpPr txBox="1"/>
          <p:nvPr/>
        </p:nvSpPr>
        <p:spPr>
          <a:xfrm>
            <a:off x="875665" y="1725930"/>
            <a:ext cx="10440670" cy="1383665"/>
          </a:xfrm>
          <a:prstGeom prst="rect">
            <a:avLst/>
          </a:prstGeom>
          <a:noFill/>
        </p:spPr>
        <p:txBody>
          <a:bodyPr wrap="square" rtlCol="0">
            <a:spAutoFit/>
          </a:bodyPr>
          <a:lstStyle>
            <a:defPPr>
              <a:defRPr lang="zh-CN"/>
            </a:defPPr>
            <a:lvl1pPr algn="ctr">
              <a:lnSpc>
                <a:spcPts val="1800"/>
              </a:lnSpc>
              <a:defRPr sz="1100">
                <a:latin typeface="Noto Sans S Chinese Regular" panose="020B0500000000000000" pitchFamily="34" charset="-122"/>
                <a:ea typeface="Noto Sans S Chinese Regular" panose="020B0500000000000000" pitchFamily="34" charset="-122"/>
                <a:cs typeface="文泉驿等宽微米黑" panose="020B0606030804020204" pitchFamily="34" charset="-122"/>
              </a:defRPr>
            </a:lvl1pPr>
          </a:lstStyle>
          <a:p>
            <a:pPr algn="l">
              <a:lnSpc>
                <a:spcPct val="150000"/>
              </a:lnSpc>
            </a:pPr>
            <a:r>
              <a:rPr lang="zh-CN" altLang="en-US" sz="1400" dirty="0"/>
              <a:t>以 matlab 为工具，使用基础的 matlab 语句做出了基于蒙特卡洛算法的路径规划，在基础的路径规划上，以优化为主要目标对此功能进行改进。从各个方面减少它的时间复杂度。再从搜索范围上减少它的问题规模。从而大大提高了它的运行速率。</a:t>
            </a:r>
            <a:endParaRPr lang="zh-CN" altLang="en-US" sz="1400" dirty="0"/>
          </a:p>
          <a:p>
            <a:pPr>
              <a:lnSpc>
                <a:spcPct val="150000"/>
              </a:lnSpc>
            </a:pPr>
            <a:endParaRPr lang="zh-CN" altLang="en-US" sz="1400" dirty="0"/>
          </a:p>
          <a:p>
            <a:pPr>
              <a:lnSpc>
                <a:spcPct val="150000"/>
              </a:lnSpc>
            </a:pPr>
            <a:endParaRPr lang="zh-CN" altLang="en-US" sz="1400" dirty="0"/>
          </a:p>
        </p:txBody>
      </p:sp>
      <p:sp>
        <p:nvSpPr>
          <p:cNvPr id="3" name="文本框 2"/>
          <p:cNvSpPr txBox="1"/>
          <p:nvPr/>
        </p:nvSpPr>
        <p:spPr>
          <a:xfrm>
            <a:off x="4615543" y="606026"/>
            <a:ext cx="2960914" cy="460375"/>
          </a:xfrm>
          <a:prstGeom prst="rect">
            <a:avLst/>
          </a:prstGeom>
          <a:noFill/>
        </p:spPr>
        <p:txBody>
          <a:bodyPr wrap="square" rtlCol="0">
            <a:spAutoFit/>
          </a:bodyPr>
          <a:lstStyle>
            <a:defPPr>
              <a:defRPr lang="zh-CN"/>
            </a:defPPr>
            <a:lvl1pPr algn="ctr">
              <a:defRPr sz="5400">
                <a:latin typeface="汉仪大宋简" panose="02010600000101010101" pitchFamily="49" charset="-122"/>
                <a:ea typeface="汉仪大宋简" panose="02010600000101010101" pitchFamily="49" charset="-122"/>
              </a:defRPr>
            </a:lvl1pPr>
          </a:lstStyle>
          <a:p>
            <a:r>
              <a:rPr lang="zh-CN" altLang="en-US" sz="2400" dirty="0">
                <a:sym typeface="+mn-ea"/>
              </a:rPr>
              <a:t>研究结论与</a:t>
            </a:r>
            <a:r>
              <a:rPr lang="zh-CN" altLang="en-US" sz="2400" dirty="0">
                <a:sym typeface="+mn-ea"/>
              </a:rPr>
              <a:t>展望</a:t>
            </a:r>
            <a:endParaRPr lang="zh-CN" altLang="en-US" sz="2400" dirty="0">
              <a:sym typeface="+mn-ea"/>
            </a:endParaRPr>
          </a:p>
        </p:txBody>
      </p:sp>
      <p:sp>
        <p:nvSpPr>
          <p:cNvPr id="2" name="文本框 1"/>
          <p:cNvSpPr txBox="1"/>
          <p:nvPr/>
        </p:nvSpPr>
        <p:spPr>
          <a:xfrm>
            <a:off x="875665" y="2611120"/>
            <a:ext cx="10440670" cy="1060450"/>
          </a:xfrm>
          <a:prstGeom prst="rect">
            <a:avLst/>
          </a:prstGeom>
          <a:noFill/>
        </p:spPr>
        <p:txBody>
          <a:bodyPr wrap="square" rtlCol="0">
            <a:spAutoFit/>
          </a:bodyPr>
          <a:lstStyle>
            <a:defPPr>
              <a:defRPr lang="zh-CN"/>
            </a:defPPr>
            <a:lvl1pPr algn="ctr">
              <a:lnSpc>
                <a:spcPts val="1800"/>
              </a:lnSpc>
              <a:defRPr sz="1100">
                <a:latin typeface="Noto Sans S Chinese Regular" panose="020B0500000000000000" pitchFamily="34" charset="-122"/>
                <a:ea typeface="Noto Sans S Chinese Regular" panose="020B0500000000000000" pitchFamily="34" charset="-122"/>
                <a:cs typeface="文泉驿等宽微米黑" panose="020B0606030804020204" pitchFamily="34" charset="-122"/>
              </a:defRPr>
            </a:lvl1pPr>
          </a:lstStyle>
          <a:p>
            <a:pPr algn="l">
              <a:lnSpc>
                <a:spcPct val="150000"/>
              </a:lnSpc>
            </a:pPr>
            <a:r>
              <a:rPr lang="zh-CN" altLang="en-US" sz="1400" dirty="0"/>
              <a:t>在测试中也可从中分析到哪一部分优化对于什么样的困难有了多高的提升。从而调整它的细节来改进。而本路径规划还有许许多多的方面可以尝试。比如动态路径中的更多的目的地的比较优化。从路径预存储方面提高多次路径规划的速度。从中运用更多的</a:t>
            </a:r>
            <a:endParaRPr lang="zh-CN" altLang="en-US" sz="1400" dirty="0"/>
          </a:p>
          <a:p>
            <a:pPr algn="l">
              <a:lnSpc>
                <a:spcPct val="150000"/>
              </a:lnSpc>
            </a:pPr>
            <a:r>
              <a:rPr lang="zh-CN" altLang="en-US" sz="1400" dirty="0"/>
              <a:t>数据结构的知识来加强它的效率</a:t>
            </a:r>
            <a:endParaRPr lang="zh-CN" altLang="en-US" sz="1400" dirty="0"/>
          </a:p>
        </p:txBody>
      </p:sp>
    </p:spTree>
  </p:cSld>
  <p:clrMapOvr>
    <a:masterClrMapping/>
  </p:clrMapOvr>
  <mc:AlternateContent xmlns:mc="http://schemas.openxmlformats.org/markup-compatibility/2006">
    <mc:Choice xmlns:p14="http://schemas.microsoft.com/office/powerpoint/2010/main" Requires="p14">
      <p:transition p14:dur="500">
        <p:push dir="u"/>
      </p:transition>
    </mc:Choice>
    <mc:Fallback>
      <p:transition>
        <p:push dir="u"/>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0" y="0"/>
            <a:ext cx="12192000" cy="6858000"/>
            <a:chOff x="0" y="0"/>
            <a:chExt cx="12192000" cy="6858000"/>
          </a:xfrm>
        </p:grpSpPr>
        <p:pic>
          <p:nvPicPr>
            <p:cNvPr id="9" name="图片 8" descr="图片包含 形状&#10;&#10;描述已自动生成"/>
            <p:cNvPicPr>
              <a:picLocks noChangeAspect="1"/>
            </p:cNvPicPr>
            <p:nvPr/>
          </p:nvPicPr>
          <p:blipFill>
            <a:blip r:embed="rId1">
              <a:extLst>
                <a:ext uri="{28A0092B-C50C-407E-A947-70E740481C1C}">
                  <a14:useLocalDpi xmlns:a14="http://schemas.microsoft.com/office/drawing/2010/main" val="0"/>
                </a:ext>
              </a:extLst>
            </a:blip>
            <a:srcRect l="1641" t="2291" b="2559"/>
            <a:stretch>
              <a:fillRect/>
            </a:stretch>
          </p:blipFill>
          <p:spPr>
            <a:xfrm>
              <a:off x="0" y="0"/>
              <a:ext cx="9893301" cy="6858000"/>
            </a:xfrm>
            <a:custGeom>
              <a:avLst/>
              <a:gdLst>
                <a:gd name="connsiteX0" fmla="*/ 0 w 9893301"/>
                <a:gd name="connsiteY0" fmla="*/ 0 h 6858000"/>
                <a:gd name="connsiteX1" fmla="*/ 9893301 w 9893301"/>
                <a:gd name="connsiteY1" fmla="*/ 0 h 6858000"/>
                <a:gd name="connsiteX2" fmla="*/ 9893301 w 9893301"/>
                <a:gd name="connsiteY2" fmla="*/ 6858000 h 6858000"/>
                <a:gd name="connsiteX3" fmla="*/ 0 w 989330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9893301" h="6858000">
                  <a:moveTo>
                    <a:pt x="0" y="0"/>
                  </a:moveTo>
                  <a:lnTo>
                    <a:pt x="9893301" y="0"/>
                  </a:lnTo>
                  <a:lnTo>
                    <a:pt x="9893301" y="6858000"/>
                  </a:lnTo>
                  <a:lnTo>
                    <a:pt x="0" y="6858000"/>
                  </a:lnTo>
                  <a:close/>
                </a:path>
              </a:pathLst>
            </a:custGeom>
          </p:spPr>
        </p:pic>
        <p:pic>
          <p:nvPicPr>
            <p:cNvPr id="16" name="图片 15" descr="图片包含 形状&#10;&#10;描述已自动生成"/>
            <p:cNvPicPr>
              <a:picLocks noChangeAspect="1"/>
            </p:cNvPicPr>
            <p:nvPr/>
          </p:nvPicPr>
          <p:blipFill>
            <a:blip r:embed="rId1">
              <a:extLst>
                <a:ext uri="{28A0092B-C50C-407E-A947-70E740481C1C}">
                  <a14:useLocalDpi xmlns:a14="http://schemas.microsoft.com/office/drawing/2010/main" val="0"/>
                </a:ext>
              </a:extLst>
            </a:blip>
            <a:srcRect l="40278" t="2291" r="1768" b="2559"/>
            <a:stretch>
              <a:fillRect/>
            </a:stretch>
          </p:blipFill>
          <p:spPr>
            <a:xfrm>
              <a:off x="6362700" y="0"/>
              <a:ext cx="5829300" cy="6858000"/>
            </a:xfrm>
            <a:custGeom>
              <a:avLst/>
              <a:gdLst>
                <a:gd name="connsiteX0" fmla="*/ 0 w 5829300"/>
                <a:gd name="connsiteY0" fmla="*/ 0 h 6858000"/>
                <a:gd name="connsiteX1" fmla="*/ 5829300 w 5829300"/>
                <a:gd name="connsiteY1" fmla="*/ 0 h 6858000"/>
                <a:gd name="connsiteX2" fmla="*/ 5829300 w 5829300"/>
                <a:gd name="connsiteY2" fmla="*/ 6858000 h 6858000"/>
                <a:gd name="connsiteX3" fmla="*/ 0 w 58293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829300" h="6858000">
                  <a:moveTo>
                    <a:pt x="0" y="0"/>
                  </a:moveTo>
                  <a:lnTo>
                    <a:pt x="5829300" y="0"/>
                  </a:lnTo>
                  <a:lnTo>
                    <a:pt x="5829300" y="6858000"/>
                  </a:lnTo>
                  <a:lnTo>
                    <a:pt x="0" y="6858000"/>
                  </a:lnTo>
                  <a:close/>
                </a:path>
              </a:pathLst>
            </a:custGeom>
          </p:spPr>
        </p:pic>
      </p:grpSp>
      <p:sp>
        <p:nvSpPr>
          <p:cNvPr id="10" name="文本框 9"/>
          <p:cNvSpPr txBox="1"/>
          <p:nvPr/>
        </p:nvSpPr>
        <p:spPr>
          <a:xfrm>
            <a:off x="5285269" y="1222891"/>
            <a:ext cx="1621462" cy="769441"/>
          </a:xfrm>
          <a:prstGeom prst="rect">
            <a:avLst/>
          </a:prstGeom>
          <a:noFill/>
        </p:spPr>
        <p:txBody>
          <a:bodyPr wrap="square" rtlCol="0">
            <a:spAutoFit/>
          </a:bodyPr>
          <a:lstStyle>
            <a:defPPr>
              <a:defRPr lang="zh-CN"/>
            </a:defPPr>
            <a:lvl1pPr algn="dist">
              <a:defRPr sz="4800">
                <a:latin typeface="汉仪大宋简" panose="02010600000101010101" pitchFamily="49" charset="-122"/>
                <a:ea typeface="汉仪大宋简" panose="02010600000101010101" pitchFamily="49" charset="-122"/>
              </a:defRPr>
            </a:lvl1pPr>
          </a:lstStyle>
          <a:p>
            <a:r>
              <a:rPr lang="zh-CN" altLang="en-US" dirty="0"/>
              <a:t>致谢</a:t>
            </a:r>
            <a:endParaRPr lang="zh-CN" altLang="en-US" dirty="0"/>
          </a:p>
        </p:txBody>
      </p:sp>
      <p:sp>
        <p:nvSpPr>
          <p:cNvPr id="11" name="矩形 10"/>
          <p:cNvSpPr/>
          <p:nvPr/>
        </p:nvSpPr>
        <p:spPr>
          <a:xfrm>
            <a:off x="1608858" y="2137539"/>
            <a:ext cx="8991120" cy="3538220"/>
          </a:xfrm>
          <a:prstGeom prst="rect">
            <a:avLst/>
          </a:prstGeom>
        </p:spPr>
        <p:txBody>
          <a:bodyPr wrap="square">
            <a:spAutoFit/>
          </a:bodyPr>
          <a:lstStyle/>
          <a:p>
            <a:pPr>
              <a:lnSpc>
                <a:spcPct val="200000"/>
              </a:lnSpc>
            </a:pPr>
            <a:r>
              <a:rPr lang="zh-CN" altLang="en-US" sz="1600" dirty="0">
                <a:solidFill>
                  <a:srgbClr val="36484F"/>
                </a:solidFill>
                <a:latin typeface="Noto Sans S Chinese DemiLight" panose="020B0400000000000000" pitchFamily="34" charset="-122"/>
                <a:ea typeface="Noto Sans S Chinese DemiLight" panose="020B0400000000000000" pitchFamily="34" charset="-122"/>
              </a:rPr>
              <a:t>       四年的读书生活在这个季节即将划上一个句号，而于我的人生却只是一个逗号，我将面对又一次征程的开始。四年的求学生涯在师长、亲友的大力支持下，走得辛苦却也收获满囊，在论文即将付梓之际，思绪万千，心情久久不能平静。 </a:t>
            </a:r>
            <a:endParaRPr lang="en-US" altLang="zh-CN" sz="1600" dirty="0">
              <a:solidFill>
                <a:srgbClr val="36484F"/>
              </a:solidFill>
              <a:latin typeface="Noto Sans S Chinese DemiLight" panose="020B0400000000000000" pitchFamily="34" charset="-122"/>
              <a:ea typeface="Noto Sans S Chinese DemiLight" panose="020B0400000000000000" pitchFamily="34" charset="-122"/>
            </a:endParaRPr>
          </a:p>
          <a:p>
            <a:pPr>
              <a:lnSpc>
                <a:spcPct val="200000"/>
              </a:lnSpc>
            </a:pPr>
            <a:r>
              <a:rPr lang="zh-CN" altLang="en-US" sz="1600" dirty="0">
                <a:solidFill>
                  <a:srgbClr val="36484F"/>
                </a:solidFill>
                <a:latin typeface="Noto Sans S Chinese DemiLight" panose="020B0400000000000000" pitchFamily="34" charset="-122"/>
                <a:ea typeface="Noto Sans S Chinese DemiLight" panose="020B0400000000000000" pitchFamily="34" charset="-122"/>
              </a:rPr>
              <a:t>     同时也感谢学院为我提供良好的做毕业设计的环境，再一次感谢所有在毕业设计中曾经帮助过我的良师益友和同学，以及在设计中被我引用或参考的论著的作者。</a:t>
            </a:r>
            <a:endParaRPr lang="zh-CN" altLang="en-US" sz="1600" dirty="0">
              <a:solidFill>
                <a:srgbClr val="36484F"/>
              </a:solidFill>
              <a:latin typeface="Noto Sans S Chinese DemiLight" panose="020B0400000000000000" pitchFamily="34" charset="-122"/>
              <a:ea typeface="Noto Sans S Chinese DemiLight" panose="020B0400000000000000" pitchFamily="34" charset="-122"/>
            </a:endParaRPr>
          </a:p>
          <a:p>
            <a:pPr>
              <a:lnSpc>
                <a:spcPct val="200000"/>
              </a:lnSpc>
            </a:pPr>
            <a:r>
              <a:rPr lang="en-US" altLang="zh-CN" sz="1600" dirty="0">
                <a:solidFill>
                  <a:srgbClr val="36484F"/>
                </a:solidFill>
                <a:latin typeface="Noto Sans S Chinese DemiLight" panose="020B0400000000000000" pitchFamily="34" charset="-122"/>
                <a:ea typeface="Noto Sans S Chinese DemiLight" panose="020B0400000000000000" pitchFamily="34" charset="-122"/>
              </a:rPr>
              <a:t>     </a:t>
            </a:r>
            <a:r>
              <a:rPr lang="zh-CN" altLang="en-US" sz="1600" dirty="0">
                <a:solidFill>
                  <a:srgbClr val="36484F"/>
                </a:solidFill>
                <a:latin typeface="Noto Sans S Chinese DemiLight" panose="020B0400000000000000" pitchFamily="34" charset="-122"/>
                <a:ea typeface="Noto Sans S Chinese DemiLight" panose="020B0400000000000000" pitchFamily="34" charset="-122"/>
              </a:rPr>
              <a:t>最后，我要感谢百忙之中帮我评审和参加答辩的各位老师，给我能够审视这 4 年来学习成果的机会。</a:t>
            </a:r>
            <a:endParaRPr lang="zh-CN" altLang="en-US" sz="1600" dirty="0">
              <a:solidFill>
                <a:srgbClr val="36484F"/>
              </a:solidFill>
              <a:latin typeface="Noto Sans S Chinese DemiLight" panose="020B0400000000000000" pitchFamily="34" charset="-122"/>
              <a:ea typeface="Noto Sans S Chinese DemiLight" panose="020B0400000000000000"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500">
        <p:push dir="u"/>
      </p:transition>
    </mc:Choice>
    <mc:Fallback>
      <p:transition>
        <p:push dir="u"/>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0" y="0"/>
            <a:ext cx="12192000" cy="6858000"/>
            <a:chOff x="0" y="0"/>
            <a:chExt cx="12192000" cy="6858000"/>
          </a:xfrm>
        </p:grpSpPr>
        <p:pic>
          <p:nvPicPr>
            <p:cNvPr id="9" name="图片 8" descr="图片包含 形状&#10;&#10;描述已自动生成"/>
            <p:cNvPicPr>
              <a:picLocks noChangeAspect="1"/>
            </p:cNvPicPr>
            <p:nvPr/>
          </p:nvPicPr>
          <p:blipFill>
            <a:blip r:embed="rId1">
              <a:extLst>
                <a:ext uri="{28A0092B-C50C-407E-A947-70E740481C1C}">
                  <a14:useLocalDpi xmlns:a14="http://schemas.microsoft.com/office/drawing/2010/main" val="0"/>
                </a:ext>
              </a:extLst>
            </a:blip>
            <a:srcRect l="1641" t="2291" b="2559"/>
            <a:stretch>
              <a:fillRect/>
            </a:stretch>
          </p:blipFill>
          <p:spPr>
            <a:xfrm>
              <a:off x="0" y="0"/>
              <a:ext cx="9893301" cy="6858000"/>
            </a:xfrm>
            <a:custGeom>
              <a:avLst/>
              <a:gdLst>
                <a:gd name="connsiteX0" fmla="*/ 0 w 9893301"/>
                <a:gd name="connsiteY0" fmla="*/ 0 h 6858000"/>
                <a:gd name="connsiteX1" fmla="*/ 9893301 w 9893301"/>
                <a:gd name="connsiteY1" fmla="*/ 0 h 6858000"/>
                <a:gd name="connsiteX2" fmla="*/ 9893301 w 9893301"/>
                <a:gd name="connsiteY2" fmla="*/ 6858000 h 6858000"/>
                <a:gd name="connsiteX3" fmla="*/ 0 w 989330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9893301" h="6858000">
                  <a:moveTo>
                    <a:pt x="0" y="0"/>
                  </a:moveTo>
                  <a:lnTo>
                    <a:pt x="9893301" y="0"/>
                  </a:lnTo>
                  <a:lnTo>
                    <a:pt x="9893301" y="6858000"/>
                  </a:lnTo>
                  <a:lnTo>
                    <a:pt x="0" y="6858000"/>
                  </a:lnTo>
                  <a:close/>
                </a:path>
              </a:pathLst>
            </a:custGeom>
          </p:spPr>
        </p:pic>
        <p:pic>
          <p:nvPicPr>
            <p:cNvPr id="16" name="图片 15" descr="图片包含 形状&#10;&#10;描述已自动生成"/>
            <p:cNvPicPr>
              <a:picLocks noChangeAspect="1"/>
            </p:cNvPicPr>
            <p:nvPr/>
          </p:nvPicPr>
          <p:blipFill>
            <a:blip r:embed="rId1">
              <a:extLst>
                <a:ext uri="{28A0092B-C50C-407E-A947-70E740481C1C}">
                  <a14:useLocalDpi xmlns:a14="http://schemas.microsoft.com/office/drawing/2010/main" val="0"/>
                </a:ext>
              </a:extLst>
            </a:blip>
            <a:srcRect l="40278" t="2291" r="1768" b="2559"/>
            <a:stretch>
              <a:fillRect/>
            </a:stretch>
          </p:blipFill>
          <p:spPr>
            <a:xfrm>
              <a:off x="6362700" y="0"/>
              <a:ext cx="5829300" cy="6858000"/>
            </a:xfrm>
            <a:custGeom>
              <a:avLst/>
              <a:gdLst>
                <a:gd name="connsiteX0" fmla="*/ 0 w 5829300"/>
                <a:gd name="connsiteY0" fmla="*/ 0 h 6858000"/>
                <a:gd name="connsiteX1" fmla="*/ 5829300 w 5829300"/>
                <a:gd name="connsiteY1" fmla="*/ 0 h 6858000"/>
                <a:gd name="connsiteX2" fmla="*/ 5829300 w 5829300"/>
                <a:gd name="connsiteY2" fmla="*/ 6858000 h 6858000"/>
                <a:gd name="connsiteX3" fmla="*/ 0 w 58293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829300" h="6858000">
                  <a:moveTo>
                    <a:pt x="0" y="0"/>
                  </a:moveTo>
                  <a:lnTo>
                    <a:pt x="5829300" y="0"/>
                  </a:lnTo>
                  <a:lnTo>
                    <a:pt x="5829300" y="6858000"/>
                  </a:lnTo>
                  <a:lnTo>
                    <a:pt x="0" y="6858000"/>
                  </a:lnTo>
                  <a:close/>
                </a:path>
              </a:pathLst>
            </a:custGeom>
          </p:spPr>
        </p:pic>
      </p:grpSp>
      <p:sp>
        <p:nvSpPr>
          <p:cNvPr id="19" name="文本框 18"/>
          <p:cNvSpPr txBox="1"/>
          <p:nvPr/>
        </p:nvSpPr>
        <p:spPr>
          <a:xfrm>
            <a:off x="1689100" y="2916535"/>
            <a:ext cx="8813800" cy="923330"/>
          </a:xfrm>
          <a:prstGeom prst="rect">
            <a:avLst/>
          </a:prstGeom>
          <a:noFill/>
        </p:spPr>
        <p:txBody>
          <a:bodyPr wrap="square" rtlCol="0">
            <a:spAutoFit/>
          </a:bodyPr>
          <a:lstStyle/>
          <a:p>
            <a:pPr algn="ctr"/>
            <a:r>
              <a:rPr lang="zh-CN" altLang="en-US" sz="5200" dirty="0">
                <a:latin typeface="汉仪大宋简" panose="02010600000101010101" pitchFamily="49" charset="-122"/>
                <a:ea typeface="汉仪大宋简" panose="02010600000101010101" pitchFamily="49" charset="-122"/>
              </a:rPr>
              <a:t>感谢各位老师 期待您的指正</a:t>
            </a:r>
            <a:endParaRPr lang="zh-CN" altLang="en-US" sz="5200" dirty="0">
              <a:latin typeface="汉仪大宋简" panose="02010600000101010101" pitchFamily="49" charset="-122"/>
              <a:ea typeface="汉仪大宋简" panose="02010600000101010101" pitchFamily="49" charset="-122"/>
            </a:endParaRPr>
          </a:p>
        </p:txBody>
      </p:sp>
      <p:sp>
        <p:nvSpPr>
          <p:cNvPr id="21" name="文本框 20"/>
          <p:cNvSpPr txBox="1"/>
          <p:nvPr/>
        </p:nvSpPr>
        <p:spPr>
          <a:xfrm>
            <a:off x="3056939" y="3970687"/>
            <a:ext cx="6096000" cy="369332"/>
          </a:xfrm>
          <a:prstGeom prst="rect">
            <a:avLst/>
          </a:prstGeom>
          <a:noFill/>
        </p:spPr>
        <p:txBody>
          <a:bodyPr wrap="square">
            <a:spAutoFit/>
          </a:bodyPr>
          <a:lstStyle/>
          <a:p>
            <a:pPr algn="dist"/>
            <a:r>
              <a:rPr lang="en-US" altLang="zh-CN" dirty="0">
                <a:latin typeface="Kozuka Gothic Pr6N R" panose="020B0400000000000000" pitchFamily="34" charset="-128"/>
                <a:ea typeface="Kozuka Gothic Pr6N R" panose="020B0400000000000000" pitchFamily="34" charset="-128"/>
              </a:rPr>
              <a:t>Thank you and look forward to your correction</a:t>
            </a:r>
            <a:endParaRPr lang="zh-CN" altLang="en-US" dirty="0">
              <a:latin typeface="Kozuka Gothic Pr6N R" panose="020B0400000000000000" pitchFamily="34" charset="-128"/>
              <a:ea typeface="Kozuka Gothic Pr6N R" panose="020B0400000000000000" pitchFamily="34" charset="-128"/>
            </a:endParaRPr>
          </a:p>
        </p:txBody>
      </p:sp>
      <p:sp>
        <p:nvSpPr>
          <p:cNvPr id="22" name="Freeform 5"/>
          <p:cNvSpPr/>
          <p:nvPr/>
        </p:nvSpPr>
        <p:spPr>
          <a:xfrm>
            <a:off x="5302113" y="1567006"/>
            <a:ext cx="1587774" cy="923330"/>
          </a:xfrm>
          <a:custGeom>
            <a:avLst/>
            <a:gdLst/>
            <a:ahLst/>
            <a:cxnLst>
              <a:cxn ang="0">
                <a:pos x="wd2" y="hd2"/>
              </a:cxn>
              <a:cxn ang="5400000">
                <a:pos x="wd2" y="hd2"/>
              </a:cxn>
              <a:cxn ang="10800000">
                <a:pos x="wd2" y="hd2"/>
              </a:cxn>
              <a:cxn ang="16200000">
                <a:pos x="wd2" y="hd2"/>
              </a:cxn>
            </a:cxnLst>
            <a:rect l="0" t="0" r="r" b="b"/>
            <a:pathLst>
              <a:path w="21600" h="21600" extrusionOk="0">
                <a:moveTo>
                  <a:pt x="20978" y="16267"/>
                </a:moveTo>
                <a:cubicBezTo>
                  <a:pt x="20978" y="15467"/>
                  <a:pt x="20823" y="14933"/>
                  <a:pt x="20357" y="14933"/>
                </a:cubicBezTo>
                <a:cubicBezTo>
                  <a:pt x="20357" y="7200"/>
                  <a:pt x="20357" y="7200"/>
                  <a:pt x="20357" y="7200"/>
                </a:cubicBezTo>
                <a:cubicBezTo>
                  <a:pt x="21600" y="6400"/>
                  <a:pt x="21600" y="6400"/>
                  <a:pt x="21600" y="6400"/>
                </a:cubicBezTo>
                <a:cubicBezTo>
                  <a:pt x="10878" y="0"/>
                  <a:pt x="10878" y="0"/>
                  <a:pt x="10878" y="0"/>
                </a:cubicBezTo>
                <a:cubicBezTo>
                  <a:pt x="0" y="6400"/>
                  <a:pt x="0" y="6400"/>
                  <a:pt x="0" y="6400"/>
                </a:cubicBezTo>
                <a:cubicBezTo>
                  <a:pt x="10878" y="12800"/>
                  <a:pt x="10878" y="12800"/>
                  <a:pt x="10878" y="12800"/>
                </a:cubicBezTo>
                <a:cubicBezTo>
                  <a:pt x="19735" y="7467"/>
                  <a:pt x="19735" y="7467"/>
                  <a:pt x="19735" y="7467"/>
                </a:cubicBezTo>
                <a:cubicBezTo>
                  <a:pt x="19735" y="14933"/>
                  <a:pt x="19735" y="14933"/>
                  <a:pt x="19735" y="14933"/>
                </a:cubicBezTo>
                <a:cubicBezTo>
                  <a:pt x="19424" y="14933"/>
                  <a:pt x="19114" y="15467"/>
                  <a:pt x="19114" y="16267"/>
                </a:cubicBezTo>
                <a:cubicBezTo>
                  <a:pt x="19114" y="16800"/>
                  <a:pt x="19424" y="17067"/>
                  <a:pt x="19580" y="17067"/>
                </a:cubicBezTo>
                <a:cubicBezTo>
                  <a:pt x="19114" y="21600"/>
                  <a:pt x="19114" y="21600"/>
                  <a:pt x="19114" y="21600"/>
                </a:cubicBezTo>
                <a:cubicBezTo>
                  <a:pt x="20978" y="21600"/>
                  <a:pt x="20978" y="21600"/>
                  <a:pt x="20978" y="21600"/>
                </a:cubicBezTo>
                <a:cubicBezTo>
                  <a:pt x="20512" y="17067"/>
                  <a:pt x="20512" y="17067"/>
                  <a:pt x="20512" y="17067"/>
                </a:cubicBezTo>
                <a:cubicBezTo>
                  <a:pt x="20823" y="17067"/>
                  <a:pt x="20978" y="16800"/>
                  <a:pt x="20978" y="16267"/>
                </a:cubicBezTo>
                <a:close/>
                <a:moveTo>
                  <a:pt x="4351" y="11200"/>
                </a:moveTo>
                <a:cubicBezTo>
                  <a:pt x="4351" y="18400"/>
                  <a:pt x="4351" y="18400"/>
                  <a:pt x="4351" y="18400"/>
                </a:cubicBezTo>
                <a:cubicBezTo>
                  <a:pt x="4351" y="20267"/>
                  <a:pt x="7304" y="21600"/>
                  <a:pt x="10878" y="21600"/>
                </a:cubicBezTo>
                <a:cubicBezTo>
                  <a:pt x="14296" y="21600"/>
                  <a:pt x="17249" y="20267"/>
                  <a:pt x="17249" y="18400"/>
                </a:cubicBezTo>
                <a:cubicBezTo>
                  <a:pt x="17249" y="11200"/>
                  <a:pt x="17249" y="11200"/>
                  <a:pt x="17249" y="11200"/>
                </a:cubicBezTo>
                <a:cubicBezTo>
                  <a:pt x="10878" y="14933"/>
                  <a:pt x="10878" y="14933"/>
                  <a:pt x="10878" y="14933"/>
                </a:cubicBezTo>
                <a:lnTo>
                  <a:pt x="4351" y="11200"/>
                </a:lnTo>
                <a:close/>
              </a:path>
            </a:pathLst>
          </a:custGeom>
          <a:solidFill>
            <a:srgbClr val="1E1E20"/>
          </a:solidFill>
          <a:ln w="12700" cap="flat">
            <a:noFill/>
            <a:miter lim="400000"/>
          </a:ln>
          <a:effectLst/>
        </p:spPr>
        <p:txBody>
          <a:bodyPr wrap="square" lIns="91439" tIns="91439" rIns="91439" bIns="91439" numCol="1" anchor="t">
            <a:noAutofit/>
          </a:bodyPr>
          <a:lstStyle/>
          <a:p/>
        </p:txBody>
      </p:sp>
      <p:grpSp>
        <p:nvGrpSpPr>
          <p:cNvPr id="2" name="组合 1"/>
          <p:cNvGrpSpPr/>
          <p:nvPr/>
        </p:nvGrpSpPr>
        <p:grpSpPr>
          <a:xfrm>
            <a:off x="3623595" y="4744134"/>
            <a:ext cx="5220579" cy="368300"/>
            <a:chOff x="3536510" y="4744134"/>
            <a:chExt cx="5220579" cy="368300"/>
          </a:xfrm>
        </p:grpSpPr>
        <p:sp>
          <p:nvSpPr>
            <p:cNvPr id="25" name="文本框 24"/>
            <p:cNvSpPr txBox="1"/>
            <p:nvPr/>
          </p:nvSpPr>
          <p:spPr>
            <a:xfrm>
              <a:off x="3536510" y="4744134"/>
              <a:ext cx="5220579" cy="368300"/>
            </a:xfrm>
            <a:prstGeom prst="rect">
              <a:avLst/>
            </a:prstGeom>
            <a:noFill/>
          </p:spPr>
          <p:txBody>
            <a:bodyPr wrap="square" rtlCol="0">
              <a:spAutoFit/>
            </a:bodyPr>
            <a:lstStyle/>
            <a:p>
              <a:pPr algn="ctr"/>
              <a:r>
                <a:rPr lang="zh-CN" altLang="en-US" dirty="0">
                  <a:latin typeface="汉仪大宋简" panose="02010600000101010101" pitchFamily="49" charset="-122"/>
                  <a:ea typeface="汉仪大宋简" panose="02010600000101010101" pitchFamily="49" charset="-122"/>
                </a:rPr>
                <a:t>学生姓名：宋星润</a:t>
              </a:r>
              <a:r>
                <a:rPr lang="en-US" altLang="zh-CN" dirty="0">
                  <a:latin typeface="汉仪大宋简" panose="02010600000101010101" pitchFamily="49" charset="-122"/>
                  <a:ea typeface="汉仪大宋简" panose="02010600000101010101" pitchFamily="49" charset="-122"/>
                </a:rPr>
                <a:t>         </a:t>
              </a:r>
              <a:r>
                <a:rPr lang="zh-CN" altLang="en-US" dirty="0">
                  <a:latin typeface="汉仪大宋简" panose="02010600000101010101" pitchFamily="49" charset="-122"/>
                  <a:ea typeface="汉仪大宋简" panose="02010600000101010101" pitchFamily="49" charset="-122"/>
                </a:rPr>
                <a:t>指导老师：赵梓权</a:t>
              </a:r>
              <a:endParaRPr lang="zh-CN" altLang="en-US" dirty="0">
                <a:latin typeface="汉仪大宋简" panose="02010600000101010101" pitchFamily="49" charset="-122"/>
                <a:ea typeface="汉仪大宋简" panose="02010600000101010101" pitchFamily="49" charset="-122"/>
              </a:endParaRPr>
            </a:p>
          </p:txBody>
        </p:sp>
        <p:sp>
          <p:nvSpPr>
            <p:cNvPr id="11" name="Freeform 174"/>
            <p:cNvSpPr/>
            <p:nvPr/>
          </p:nvSpPr>
          <p:spPr>
            <a:xfrm>
              <a:off x="3640727" y="4821238"/>
              <a:ext cx="238924" cy="230995"/>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cubicBezTo>
                    <a:pt x="21600" y="19406"/>
                    <a:pt x="21600" y="19406"/>
                    <a:pt x="21600" y="19406"/>
                  </a:cubicBezTo>
                  <a:cubicBezTo>
                    <a:pt x="21600" y="18225"/>
                    <a:pt x="20925" y="17381"/>
                    <a:pt x="19913" y="17044"/>
                  </a:cubicBezTo>
                  <a:cubicBezTo>
                    <a:pt x="19913" y="17044"/>
                    <a:pt x="19913" y="17044"/>
                    <a:pt x="19913" y="17044"/>
                  </a:cubicBezTo>
                  <a:cubicBezTo>
                    <a:pt x="19744" y="16875"/>
                    <a:pt x="14681" y="15694"/>
                    <a:pt x="14006" y="14175"/>
                  </a:cubicBezTo>
                  <a:cubicBezTo>
                    <a:pt x="13669" y="13500"/>
                    <a:pt x="14006" y="12656"/>
                    <a:pt x="14344" y="12150"/>
                  </a:cubicBezTo>
                  <a:cubicBezTo>
                    <a:pt x="14513" y="11981"/>
                    <a:pt x="14681" y="11644"/>
                    <a:pt x="14850" y="11475"/>
                  </a:cubicBezTo>
                  <a:cubicBezTo>
                    <a:pt x="14850" y="11475"/>
                    <a:pt x="14850" y="11475"/>
                    <a:pt x="14850" y="11475"/>
                  </a:cubicBezTo>
                  <a:cubicBezTo>
                    <a:pt x="14850" y="11475"/>
                    <a:pt x="14850" y="11475"/>
                    <a:pt x="14850" y="11475"/>
                  </a:cubicBezTo>
                  <a:cubicBezTo>
                    <a:pt x="15694" y="10125"/>
                    <a:pt x="16369" y="8269"/>
                    <a:pt x="16369" y="6075"/>
                  </a:cubicBezTo>
                  <a:cubicBezTo>
                    <a:pt x="16538" y="2700"/>
                    <a:pt x="13838" y="0"/>
                    <a:pt x="10800" y="0"/>
                  </a:cubicBezTo>
                  <a:cubicBezTo>
                    <a:pt x="10800" y="0"/>
                    <a:pt x="10800" y="0"/>
                    <a:pt x="10800" y="0"/>
                  </a:cubicBezTo>
                  <a:cubicBezTo>
                    <a:pt x="10800" y="0"/>
                    <a:pt x="10800" y="0"/>
                    <a:pt x="10800" y="0"/>
                  </a:cubicBezTo>
                  <a:cubicBezTo>
                    <a:pt x="10800" y="0"/>
                    <a:pt x="10800" y="0"/>
                    <a:pt x="10800" y="0"/>
                  </a:cubicBezTo>
                  <a:cubicBezTo>
                    <a:pt x="10800" y="0"/>
                    <a:pt x="10800" y="0"/>
                    <a:pt x="10800" y="0"/>
                  </a:cubicBezTo>
                  <a:cubicBezTo>
                    <a:pt x="7762" y="0"/>
                    <a:pt x="5062" y="2700"/>
                    <a:pt x="5231" y="6075"/>
                  </a:cubicBezTo>
                  <a:cubicBezTo>
                    <a:pt x="5231" y="8269"/>
                    <a:pt x="5906" y="10125"/>
                    <a:pt x="6750" y="11475"/>
                  </a:cubicBezTo>
                  <a:cubicBezTo>
                    <a:pt x="6750" y="11475"/>
                    <a:pt x="6750" y="11475"/>
                    <a:pt x="6750" y="11475"/>
                  </a:cubicBezTo>
                  <a:cubicBezTo>
                    <a:pt x="6750" y="11475"/>
                    <a:pt x="6750" y="11475"/>
                    <a:pt x="6750" y="11475"/>
                  </a:cubicBezTo>
                  <a:cubicBezTo>
                    <a:pt x="6919" y="11644"/>
                    <a:pt x="7087" y="11981"/>
                    <a:pt x="7256" y="12150"/>
                  </a:cubicBezTo>
                  <a:cubicBezTo>
                    <a:pt x="7594" y="12656"/>
                    <a:pt x="7931" y="13500"/>
                    <a:pt x="7594" y="14175"/>
                  </a:cubicBezTo>
                  <a:cubicBezTo>
                    <a:pt x="6919" y="15694"/>
                    <a:pt x="1856" y="16875"/>
                    <a:pt x="1687" y="17044"/>
                  </a:cubicBezTo>
                  <a:cubicBezTo>
                    <a:pt x="1687" y="17044"/>
                    <a:pt x="1687" y="17044"/>
                    <a:pt x="1687" y="17044"/>
                  </a:cubicBezTo>
                  <a:cubicBezTo>
                    <a:pt x="675" y="17381"/>
                    <a:pt x="0" y="18225"/>
                    <a:pt x="0" y="19406"/>
                  </a:cubicBezTo>
                  <a:cubicBezTo>
                    <a:pt x="0" y="21600"/>
                    <a:pt x="0" y="21600"/>
                    <a:pt x="0" y="21600"/>
                  </a:cubicBezTo>
                  <a:lnTo>
                    <a:pt x="21600" y="21600"/>
                  </a:lnTo>
                  <a:close/>
                </a:path>
              </a:pathLst>
            </a:custGeom>
            <a:solidFill>
              <a:srgbClr val="1E1E20"/>
            </a:solidFill>
            <a:ln w="12700" cap="flat">
              <a:noFill/>
              <a:miter lim="400000"/>
            </a:ln>
            <a:effectLst/>
          </p:spPr>
          <p:txBody>
            <a:bodyPr wrap="square" lIns="91439" tIns="91439" rIns="91439" bIns="91439" numCol="1" anchor="t">
              <a:noAutofit/>
            </a:bodyPr>
            <a:lstStyle/>
            <a:p/>
          </p:txBody>
        </p:sp>
        <p:sp>
          <p:nvSpPr>
            <p:cNvPr id="12" name="Freeform 174"/>
            <p:cNvSpPr/>
            <p:nvPr/>
          </p:nvSpPr>
          <p:spPr>
            <a:xfrm>
              <a:off x="6300201" y="4804973"/>
              <a:ext cx="238924" cy="230995"/>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cubicBezTo>
                    <a:pt x="21600" y="19406"/>
                    <a:pt x="21600" y="19406"/>
                    <a:pt x="21600" y="19406"/>
                  </a:cubicBezTo>
                  <a:cubicBezTo>
                    <a:pt x="21600" y="18225"/>
                    <a:pt x="20925" y="17381"/>
                    <a:pt x="19913" y="17044"/>
                  </a:cubicBezTo>
                  <a:cubicBezTo>
                    <a:pt x="19913" y="17044"/>
                    <a:pt x="19913" y="17044"/>
                    <a:pt x="19913" y="17044"/>
                  </a:cubicBezTo>
                  <a:cubicBezTo>
                    <a:pt x="19744" y="16875"/>
                    <a:pt x="14681" y="15694"/>
                    <a:pt x="14006" y="14175"/>
                  </a:cubicBezTo>
                  <a:cubicBezTo>
                    <a:pt x="13669" y="13500"/>
                    <a:pt x="14006" y="12656"/>
                    <a:pt x="14344" y="12150"/>
                  </a:cubicBezTo>
                  <a:cubicBezTo>
                    <a:pt x="14513" y="11981"/>
                    <a:pt x="14681" y="11644"/>
                    <a:pt x="14850" y="11475"/>
                  </a:cubicBezTo>
                  <a:cubicBezTo>
                    <a:pt x="14850" y="11475"/>
                    <a:pt x="14850" y="11475"/>
                    <a:pt x="14850" y="11475"/>
                  </a:cubicBezTo>
                  <a:cubicBezTo>
                    <a:pt x="14850" y="11475"/>
                    <a:pt x="14850" y="11475"/>
                    <a:pt x="14850" y="11475"/>
                  </a:cubicBezTo>
                  <a:cubicBezTo>
                    <a:pt x="15694" y="10125"/>
                    <a:pt x="16369" y="8269"/>
                    <a:pt x="16369" y="6075"/>
                  </a:cubicBezTo>
                  <a:cubicBezTo>
                    <a:pt x="16538" y="2700"/>
                    <a:pt x="13838" y="0"/>
                    <a:pt x="10800" y="0"/>
                  </a:cubicBezTo>
                  <a:cubicBezTo>
                    <a:pt x="10800" y="0"/>
                    <a:pt x="10800" y="0"/>
                    <a:pt x="10800" y="0"/>
                  </a:cubicBezTo>
                  <a:cubicBezTo>
                    <a:pt x="10800" y="0"/>
                    <a:pt x="10800" y="0"/>
                    <a:pt x="10800" y="0"/>
                  </a:cubicBezTo>
                  <a:cubicBezTo>
                    <a:pt x="10800" y="0"/>
                    <a:pt x="10800" y="0"/>
                    <a:pt x="10800" y="0"/>
                  </a:cubicBezTo>
                  <a:cubicBezTo>
                    <a:pt x="10800" y="0"/>
                    <a:pt x="10800" y="0"/>
                    <a:pt x="10800" y="0"/>
                  </a:cubicBezTo>
                  <a:cubicBezTo>
                    <a:pt x="7762" y="0"/>
                    <a:pt x="5062" y="2700"/>
                    <a:pt x="5231" y="6075"/>
                  </a:cubicBezTo>
                  <a:cubicBezTo>
                    <a:pt x="5231" y="8269"/>
                    <a:pt x="5906" y="10125"/>
                    <a:pt x="6750" y="11475"/>
                  </a:cubicBezTo>
                  <a:cubicBezTo>
                    <a:pt x="6750" y="11475"/>
                    <a:pt x="6750" y="11475"/>
                    <a:pt x="6750" y="11475"/>
                  </a:cubicBezTo>
                  <a:cubicBezTo>
                    <a:pt x="6750" y="11475"/>
                    <a:pt x="6750" y="11475"/>
                    <a:pt x="6750" y="11475"/>
                  </a:cubicBezTo>
                  <a:cubicBezTo>
                    <a:pt x="6919" y="11644"/>
                    <a:pt x="7087" y="11981"/>
                    <a:pt x="7256" y="12150"/>
                  </a:cubicBezTo>
                  <a:cubicBezTo>
                    <a:pt x="7594" y="12656"/>
                    <a:pt x="7931" y="13500"/>
                    <a:pt x="7594" y="14175"/>
                  </a:cubicBezTo>
                  <a:cubicBezTo>
                    <a:pt x="6919" y="15694"/>
                    <a:pt x="1856" y="16875"/>
                    <a:pt x="1687" y="17044"/>
                  </a:cubicBezTo>
                  <a:cubicBezTo>
                    <a:pt x="1687" y="17044"/>
                    <a:pt x="1687" y="17044"/>
                    <a:pt x="1687" y="17044"/>
                  </a:cubicBezTo>
                  <a:cubicBezTo>
                    <a:pt x="675" y="17381"/>
                    <a:pt x="0" y="18225"/>
                    <a:pt x="0" y="19406"/>
                  </a:cubicBezTo>
                  <a:cubicBezTo>
                    <a:pt x="0" y="21600"/>
                    <a:pt x="0" y="21600"/>
                    <a:pt x="0" y="21600"/>
                  </a:cubicBezTo>
                  <a:lnTo>
                    <a:pt x="21600" y="21600"/>
                  </a:lnTo>
                  <a:close/>
                </a:path>
              </a:pathLst>
            </a:custGeom>
            <a:solidFill>
              <a:srgbClr val="1E1E20"/>
            </a:solidFill>
            <a:ln w="12700" cap="flat">
              <a:noFill/>
              <a:miter lim="400000"/>
            </a:ln>
            <a:effectLst/>
          </p:spPr>
          <p:txBody>
            <a:bodyPr wrap="square" lIns="91439" tIns="91439" rIns="91439" bIns="91439" numCol="1" anchor="t">
              <a:noAutofit/>
            </a:bodyPr>
            <a:lstStyle/>
            <a:p/>
          </p:txBody>
        </p:sp>
      </p:grpSp>
    </p:spTree>
  </p:cSld>
  <p:clrMapOvr>
    <a:masterClrMapping/>
  </p:clrMapOvr>
  <mc:AlternateContent xmlns:mc="http://schemas.openxmlformats.org/markup-compatibility/2006">
    <mc:Choice xmlns:p14="http://schemas.microsoft.com/office/powerpoint/2010/main" Requires="p14">
      <p:transition p14:dur="500">
        <p:push dir="u"/>
      </p:transition>
    </mc:Choice>
    <mc:Fallback>
      <p:transition>
        <p:push dir="u"/>
      </p:transition>
    </mc:Fallback>
  </mc:AlternateContent>
</p:sld>
</file>

<file path=ppt/tags/tag1.xml><?xml version="1.0" encoding="utf-8"?>
<p:tagLst xmlns:p="http://schemas.openxmlformats.org/presentationml/2006/main">
  <p:tag name="COMMONDATA" val="eyJjb3VudCI6NCwiaGRpZCI6ImZjMzUzZjBhNGM3MTZmYjg0ZTAyMmJkMmUzZTRlZmI1IiwidXNlckNvdW50Ijo0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2529</Words>
  <Application>WPS 演示</Application>
  <PresentationFormat>宽屏</PresentationFormat>
  <Paragraphs>235</Paragraphs>
  <Slides>25</Slides>
  <Notes>12</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25</vt:i4>
      </vt:variant>
    </vt:vector>
  </HeadingPairs>
  <TitlesOfParts>
    <vt:vector size="42" baseType="lpstr">
      <vt:lpstr>Arial</vt:lpstr>
      <vt:lpstr>宋体</vt:lpstr>
      <vt:lpstr>Wingdings</vt:lpstr>
      <vt:lpstr>汉仪大宋简</vt:lpstr>
      <vt:lpstr>Kozuka Gothic Pr6N R</vt:lpstr>
      <vt:lpstr>Yu Gothic UI Semilight</vt:lpstr>
      <vt:lpstr>Noto Sans S Chinese DemiLight</vt:lpstr>
      <vt:lpstr>Calibri</vt:lpstr>
      <vt:lpstr>Noto Sans S Chinese Regular</vt:lpstr>
      <vt:lpstr>文泉驿等宽微米黑</vt:lpstr>
      <vt:lpstr>华文仿宋</vt:lpstr>
      <vt:lpstr>等线</vt:lpstr>
      <vt:lpstr>微软雅黑</vt:lpstr>
      <vt:lpstr>Arial Unicode MS</vt:lpstr>
      <vt:lpstr>等线 Light</vt:lpstr>
      <vt:lpstr>胡晓波男神体</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aa</cp:lastModifiedBy>
  <cp:revision>37</cp:revision>
  <dcterms:created xsi:type="dcterms:W3CDTF">2021-03-11T13:57:00Z</dcterms:created>
  <dcterms:modified xsi:type="dcterms:W3CDTF">2022-05-07T14:37:12Z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SaveFontToCloudKey">
    <vt:lpwstr>606372208_embed</vt:lpwstr>
  </property>
  <property fmtid="{D5CDD505-2E9C-101B-9397-08002B2CF9AE}" pid="3" name="KSOProductBuildVer">
    <vt:lpwstr>2052-11.1.0.11636</vt:lpwstr>
  </property>
  <property fmtid="{D5CDD505-2E9C-101B-9397-08002B2CF9AE}" pid="4" name="KSOTemplateUUID">
    <vt:lpwstr>v1.0_mb_ViKi7XJVesGR0zhVcf90YQ==</vt:lpwstr>
  </property>
  <property fmtid="{D5CDD505-2E9C-101B-9397-08002B2CF9AE}" pid="5" name="ICV">
    <vt:lpwstr>4C6D3C56147D4301A44748D56FB025D4</vt:lpwstr>
  </property>
</Properties>
</file>